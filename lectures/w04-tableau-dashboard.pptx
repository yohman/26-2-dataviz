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7.xml" ContentType="application/vnd.openxmlformats-officedocument.drawingml.chart+xml"/>
  <Override PartName="/ppt/slides/charts/chart8.xml" ContentType="application/vnd.openxmlformats-officedocument.drawingml.chart+xml"/>
  <Override PartName="/ppt/notesSlides/notesSlide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ff65a1d8c7946ad" /><Relationship Type="http://schemas.openxmlformats.org/officeDocument/2006/relationships/extended-properties" Target="/docProps/app.xml" Id="Rf324cab949014981" /><Relationship Type="http://schemas.openxmlformats.org/officeDocument/2006/relationships/officeDocument" Target="/ppt/presentation.xml" Id="R233b316bba244d61" /></Relationships>
</file>

<file path=ppt/presentation.xml><?xml version="1.0" encoding="utf-8"?>
<p:presentation xmlns:p="http://schemas.openxmlformats.org/presentationml/2006/main">
  <p:sldMasterIdLst>
    <p:sldMasterId xmlns:r="http://schemas.openxmlformats.org/officeDocument/2006/relationships" id="2147483648" r:id="R6e3b32ca123645cd"/>
  </p:sldMasterIdLst>
  <p:notesMasterIdLst>
    <p:notesMasterId xmlns:r="http://schemas.openxmlformats.org/officeDocument/2006/relationships" r:id="R2a11d20dd7744291"/>
  </p:notesMasterIdLst>
  <p:sldIdLst>
    <p:sldId xmlns:r="http://schemas.openxmlformats.org/officeDocument/2006/relationships" id="256" r:id="R7049a6baae104e65"/>
    <p:sldId xmlns:r="http://schemas.openxmlformats.org/officeDocument/2006/relationships" id="257" r:id="Rad52fc1a432d40a7"/>
    <p:sldId xmlns:r="http://schemas.openxmlformats.org/officeDocument/2006/relationships" id="258" r:id="R1b9dabf18dca41d7"/>
    <p:sldId xmlns:r="http://schemas.openxmlformats.org/officeDocument/2006/relationships" id="259" r:id="R96785741bf8a488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267e33c0ebb4213" /><Relationship Type="http://schemas.openxmlformats.org/officeDocument/2006/relationships/slideMaster" Target="/ppt/slideMasters/slideMaster1.xml" Id="R6e3b32ca123645cd" /><Relationship Type="http://schemas.openxmlformats.org/officeDocument/2006/relationships/notesMaster" Target="/ppt/notesMasters/notesMaster1.xml" Id="R2a11d20dd7744291" /><Relationship Type="http://schemas.openxmlformats.org/officeDocument/2006/relationships/presProps" Target="/ppt/presProps.xml" Id="R7ae2f16b8486488a" /><Relationship Type="http://schemas.openxmlformats.org/officeDocument/2006/relationships/tableStyles" Target="/ppt/tableStyles.xml" Id="R1c7bc96cb1e14cff" /><Relationship Type="http://schemas.openxmlformats.org/officeDocument/2006/relationships/slide" Target="/ppt/slides/slide1.xml" Id="R7049a6baae104e65" /><Relationship Type="http://schemas.openxmlformats.org/officeDocument/2006/relationships/slide" Target="/ppt/slides/slide2.xml" Id="Rad52fc1a432d40a7" /><Relationship Type="http://schemas.openxmlformats.org/officeDocument/2006/relationships/slide" Target="/ppt/slides/slide3.xml" Id="R1b9dabf18dca41d7" /><Relationship Type="http://schemas.openxmlformats.org/officeDocument/2006/relationships/slide" Target="/ppt/slides/slide4.xml" Id="R96785741bf8a488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8a20db75a83468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66268f9815e45a9" /><Relationship Type="http://schemas.openxmlformats.org/officeDocument/2006/relationships/notesMaster" Target="/ppt/notesMasters/notesMaster1.xml" Id="R75a6c1c84c744f3e" /></Relationships>
</file>

<file path=ppt/notesSlides/_rels/notesSlide2.xml.rels>&#65279;<?xml version="1.0" encoding="utf-8"?><Relationships xmlns="http://schemas.openxmlformats.org/package/2006/relationships"><Relationship Type="http://schemas.openxmlformats.org/officeDocument/2006/relationships/slide" Target="/ppt/slides/slide2.xml" Id="Rb147b2a575da45d5" /><Relationship Type="http://schemas.openxmlformats.org/officeDocument/2006/relationships/notesMaster" Target="/ppt/notesMasters/notesMaster1.xml" Id="R319dafa628c64188" /></Relationships>
</file>

<file path=ppt/notesSlides/_rels/notesSlide3.xml.rels>&#65279;<?xml version="1.0" encoding="utf-8"?><Relationships xmlns="http://schemas.openxmlformats.org/package/2006/relationships"><Relationship Type="http://schemas.openxmlformats.org/officeDocument/2006/relationships/slide" Target="/ppt/slides/slide3.xml" Id="R65396dba40ee41b7" /><Relationship Type="http://schemas.openxmlformats.org/officeDocument/2006/relationships/notesMaster" Target="/ppt/notesMasters/notesMaster1.xml" Id="R6cbfe612e042463f" /></Relationships>
</file>

<file path=ppt/notesSlides/_rels/notesSlide4.xml.rels>&#65279;<?xml version="1.0" encoding="utf-8"?><Relationships xmlns="http://schemas.openxmlformats.org/package/2006/relationships"><Relationship Type="http://schemas.openxmlformats.org/officeDocument/2006/relationships/slide" Target="/ppt/slides/slide4.xml" Id="R6fbd85756aef4e2c" /><Relationship Type="http://schemas.openxmlformats.org/officeDocument/2006/relationships/notesMaster" Target="/ppt/notesMasters/notesMaster1.xml" Id="Rd62b8ef18cb1455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dashboard example combines three worksheets from the same hans.csv data source. World is a 2020 snapshot. Life History and GDP History retain 1960-2020. Japan is selected in this illustrated state. Teach selecting India next, then resetting. This is a dashboard design example, not a screenshot of Tableau or a currently interactive slide.</a:t>
            </a:r>
          </a:p>
          <a:p xmlns:a="http://schemas.openxmlformats.org/drawingml/2006/main">
            <a:r>
              <a:t/>
            </a:r>
          </a:p>
          <a:p xmlns:a="http://schemas.openxmlformats.org/drawingml/2006/main">
            <a:r>
              <a:t>Sources: local teaching dataset data/gapminder/hans.csv. Snapshot examples use 2020, histories 1960-2020. The file includes future projections through 2100; do not present these examples as current data. GDP is the field name; its currency/per-capita definition is not established by the supplied CSV. Do not relabel as total GDP or per-capita dollars without verifying metadata. Some Population and region values are missing, so these examples use equal-sized circles and retain unknown regions. Filter out nonpositive GDP and Life Expectancy for the world sheet. Native scatter example uses a linear GDP axis; optionally switch the axis to logarithmic in Tableau.</a:t>
            </a:r>
          </a:p>
          <a:p xmlns:a="http://schemas.openxmlformats.org/drawingml/2006/main">
            <a:r>
              <a:t>https://help.tableau.com/current/pro/desktop/en-us/dashboards_create.htm</a:t>
            </a:r>
          </a:p>
          <a:p xmlns:a="http://schemas.openxmlformats.org/drawingml/2006/main">
            <a:r>
              <a:t>https://help.tableau.com/current/pro/desktop/en-us/filtering_global.htm</a:t>
            </a:r>
          </a:p>
          <a:p xmlns:a="http://schemas.openxmlformats.org/drawingml/2006/main">
            <a:r>
              <a:t>https://help.tableau.com/current/pro/desktop/en-us/actions_filter.htm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Rename worksheets World, Life History and GDP History. World: AVG(GDP) Columns, AVG(Life Expectancy) Rows, Country Detail, region Color, Circle marks, Year discrete filter 2020. Do not put Year on Pages for this dashboard exercise. Use equal circle sizes because Population has missing values. Life History: Year continuous number (convert numeric Year to Dimension first if needed), AVG(Life Expectancy), Country Color, Line marks; restrict years 1960-2020. GDP History: duplicate Life History and replace Life Expectancy with AVG(GDP). Country Color keeps countries separate before the action selects one. The small history previews show Japan after the final dashboard action. Never SUM life expectancy or GDP across years.</a:t>
            </a:r>
          </a:p>
          <a:p xmlns:a="http://schemas.openxmlformats.org/drawingml/2006/main">
            <a:r>
              <a:t/>
            </a:r>
          </a:p>
          <a:p xmlns:a="http://schemas.openxmlformats.org/drawingml/2006/main">
            <a:r>
              <a:t>Sources: local teaching dataset data/gapminder/hans.csv. Snapshot examples use 2020, histories 1960-2020. The file includes future projections through 2100; do not present these examples as current data. GDP is the field name; its currency/per-capita definition is not established by the supplied CSV. Do not relabel as total GDP or per-capita dollars without verifying metadata. Some Population and region values are missing, so these examples use equal-sized circles and retain unknown regions. Filter out nonpositive GDP and Life Expectancy for the world sheet. Native scatter example uses a linear GDP axis; optionally switch the axis to logarithmic in Tableau.</a:t>
            </a:r>
          </a:p>
          <a:p xmlns:a="http://schemas.openxmlformats.org/drawingml/2006/main">
            <a:r>
              <a:t>https://help.tableau.com/current/pro/desktop/en-us/dashboards_create.htm</a:t>
            </a:r>
          </a:p>
          <a:p xmlns:a="http://schemas.openxmlformats.org/drawingml/2006/main">
            <a:r>
              <a:t>https://help.tableau.com/current/pro/desktop/en-us/filtering_global.htm</a:t>
            </a:r>
          </a:p>
          <a:p xmlns:a="http://schemas.openxmlformats.org/drawingml/2006/main">
            <a:r>
              <a:t>https://help.tableau.com/current/pro/desktop/en-us/actions_filter.htm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Dashboard &gt; New Dashboard. Set a fixed size of 1200 by 800 as a beginner-friendly desktop example, not a universal requirement. Use Tiled layout. Add a Horizontal layout container. Place World on the left and a Vertical container on the right. Add Life History and GDP History to the Vertical container. Give World about two thirds of the width. Fit each sheet to its available area and adjust padding; avoid shrinking labels to fit. Add a shared title and one region legend. Optional: show World Year filter as a single-value control, and apply it only to World using Apply to Worksheets &gt; Selected Worksheets. Do not apply the World Year selection to histories. Keep historical range filters local to the history sheets.</a:t>
            </a:r>
          </a:p>
          <a:p xmlns:a="http://schemas.openxmlformats.org/drawingml/2006/main">
            <a:r>
              <a:t/>
            </a:r>
          </a:p>
          <a:p xmlns:a="http://schemas.openxmlformats.org/drawingml/2006/main">
            <a:r>
              <a:t>Sources: local teaching dataset data/gapminder/hans.csv. Snapshot examples use 2020, histories 1960-2020. The file includes future projections through 2100; do not present these examples as current data. GDP is the field name; its currency/per-capita definition is not established by the supplied CSV. Do not relabel as total GDP or per-capita dollars without verifying metadata. Some Population and region values are missing, so these examples use equal-sized circles and retain unknown regions. Filter out nonpositive GDP and Life Expectancy for the world sheet. Native scatter example uses a linear GDP axis; optionally switch the axis to logarithmic in Tableau.</a:t>
            </a:r>
          </a:p>
          <a:p xmlns:a="http://schemas.openxmlformats.org/drawingml/2006/main">
            <a:r>
              <a:t>https://help.tableau.com/current/pro/desktop/en-us/dashboards_create.htm</a:t>
            </a:r>
          </a:p>
          <a:p xmlns:a="http://schemas.openxmlformats.org/drawingml/2006/main">
            <a:r>
              <a:t>https://help.tableau.com/current/pro/desktop/en-us/filtering_global.htm</a:t>
            </a:r>
          </a:p>
          <a:p xmlns:a="http://schemas.openxmlformats.org/drawingml/2006/main">
            <a:r>
              <a:t>https://help.tableau.com/current/pro/desktop/en-us/actions_filter.htm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Create a Filter action. Source sheet World. Run action on Select; optionally Single-select only. Target sheets Life History and GDP History. Choose Selected Fields, then map Country to Country using the same data source. Do not use All Fields: it can pass Year=2020 and region along with Country and destroy the time series. Clearing selection: Show all values. If a generated Use as Filter action already exists, edit or remove it rather than leaving a conflicting second action. In this example the top right chart shows Japan and bottom right India, as two successive selection outcomes; the action updates both histories in the actual dashboard. Test Japan, India, then click empty space to clear. Finally publish the dashboard on Tableau Public and check the shared view in a signed-out browser. UI labels may vary by version/language.</a:t>
            </a:r>
          </a:p>
          <a:p xmlns:a="http://schemas.openxmlformats.org/drawingml/2006/main">
            <a:r>
              <a:t/>
            </a:r>
          </a:p>
          <a:p xmlns:a="http://schemas.openxmlformats.org/drawingml/2006/main">
            <a:r>
              <a:t>Sources: local teaching dataset data/gapminder/hans.csv. Snapshot examples use 2020, histories 1960-2020. The file includes future projections through 2100; do not present these examples as current data. GDP is the field name; its currency/per-capita definition is not established by the supplied CSV. Do not relabel as total GDP or per-capita dollars without verifying metadata. Some Population and region values are missing, so these examples use equal-sized circles and retain unknown regions. Filter out nonpositive GDP and Life Expectancy for the world sheet. Native scatter example uses a linear GDP axis; optionally switch the axis to logarithmic in Tableau.</a:t>
            </a:r>
          </a:p>
          <a:p xmlns:a="http://schemas.openxmlformats.org/drawingml/2006/main">
            <a:r>
              <a:t>https://help.tableau.com/current/pro/desktop/en-us/dashboards_create.htm</a:t>
            </a:r>
          </a:p>
          <a:p xmlns:a="http://schemas.openxmlformats.org/drawingml/2006/main">
            <a:r>
              <a:t>https://help.tableau.com/current/pro/desktop/en-us/filtering_global.htm</a:t>
            </a:r>
          </a:p>
          <a:p xmlns:a="http://schemas.openxmlformats.org/drawingml/2006/main">
            <a:r>
              <a:t>https://help.tableau.com/current/pro/desktop/en-us/actions_filter.htm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17353459c9149d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af00054f6a14db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5eae3da680148e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a6f2862d7dc4a4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7e396ec0e29488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90d41969f8d46f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F5F5AC-764A-4392-BECA-101AE7B3FBC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1E64E59-5C0A-47DE-BC6C-CDFEBDA2749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44B5AC7-0EEB-4D6F-AAAF-935B273D338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0EC3C54-5CCE-4F01-A88E-498DA5CA970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4D73584-A452-4DC1-8BFF-4F43E2C69FB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039708C-E1D2-4477-829F-FCE97D19C1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6EA208E-8722-4ECA-B65A-101A2935BC3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157A5E0-B74E-4453-8D6A-AAA7155041E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9CCB261-B295-47B2-828D-19AA18CC6B8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AF86459-D788-4A59-8A0A-7CC3A708A47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0469fa69ce74d80" /><Relationship Type="http://schemas.openxmlformats.org/officeDocument/2006/relationships/slideLayout" Target="/ppt/slideLayouts/slideLayout1.xml" Id="R05a5e81b0f1c4e54" /><Relationship Type="http://schemas.openxmlformats.org/officeDocument/2006/relationships/slideLayout" Target="/ppt/slideLayouts/slideLayout2.xml" Id="Rf4c0cc9282cc4730" /><Relationship Type="http://schemas.openxmlformats.org/officeDocument/2006/relationships/slideLayout" Target="/ppt/slideLayouts/slideLayout3.xml" Id="R1327359c55e84e30" /><Relationship Type="http://schemas.openxmlformats.org/officeDocument/2006/relationships/slideLayout" Target="/ppt/slideLayouts/slideLayout4.xml" Id="R325f4c5ea32d43b9" /><Relationship Type="http://schemas.openxmlformats.org/officeDocument/2006/relationships/slideLayout" Target="/ppt/slideLayouts/slideLayout5.xml" Id="Rb887e83b1d1f447d" /><Relationship Type="http://schemas.openxmlformats.org/officeDocument/2006/relationships/slideLayout" Target="/ppt/slideLayouts/slideLayout6.xml" Id="Re10b7ce6fd3744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5a5e81b0f1c4e54"/>
    <p:sldLayoutId xmlns:r="http://schemas.openxmlformats.org/officeDocument/2006/relationships" id="2147483650" r:id="Rf4c0cc9282cc4730"/>
    <p:sldLayoutId xmlns:r="http://schemas.openxmlformats.org/officeDocument/2006/relationships" id="2147483651" r:id="R1327359c55e84e30"/>
    <p:sldLayoutId xmlns:r="http://schemas.openxmlformats.org/officeDocument/2006/relationships" id="2147483652" r:id="R325f4c5ea32d43b9"/>
    <p:sldLayoutId xmlns:r="http://schemas.openxmlformats.org/officeDocument/2006/relationships" id="2147483653" r:id="Rb887e83b1d1f447d"/>
    <p:sldLayoutId xmlns:r="http://schemas.openxmlformats.org/officeDocument/2006/relationships" id="2147483654" r:id="Re10b7ce6fd3744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2b314d44f7f4da3" /><Relationship Type="http://schemas.openxmlformats.org/officeDocument/2006/relationships/chart" Target="/ppt/slides/charts/chart1.xml" Id="Rb85d58441dd441fa" /><Relationship Type="http://schemas.openxmlformats.org/officeDocument/2006/relationships/chart" Target="/ppt/slides/charts/chart2.xml" Id="R66a44d169bd9437b" /><Relationship Type="http://schemas.openxmlformats.org/officeDocument/2006/relationships/chart" Target="/ppt/slides/charts/chart3.xml" Id="R98e8792e94fc4cc5" /><Relationship Type="http://schemas.openxmlformats.org/officeDocument/2006/relationships/notesSlide" Target="/ppt/notesSlides/notesSlide1.xml" Id="Rbeaa89e54294482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19276360dbd478b" /><Relationship Type="http://schemas.openxmlformats.org/officeDocument/2006/relationships/chart" Target="/ppt/slides/charts/chart4.xml" Id="R7b4a44303dbe4ad0" /><Relationship Type="http://schemas.openxmlformats.org/officeDocument/2006/relationships/chart" Target="/ppt/slides/charts/chart5.xml" Id="R038ec14d4b0c4a25" /><Relationship Type="http://schemas.openxmlformats.org/officeDocument/2006/relationships/chart" Target="/ppt/slides/charts/chart6.xml" Id="R720b1dd974be432a" /><Relationship Type="http://schemas.openxmlformats.org/officeDocument/2006/relationships/notesSlide" Target="/ppt/notesSlides/notesSlide2.xml" Id="R18b13920fc904d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698676143a14300" /><Relationship Type="http://schemas.openxmlformats.org/officeDocument/2006/relationships/notesSlide" Target="/ppt/notesSlides/notesSlide3.xml" Id="R595c7143e2d04d5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56ad1dcc04046b1" /><Relationship Type="http://schemas.openxmlformats.org/officeDocument/2006/relationships/chart" Target="/ppt/slides/charts/chart7.xml" Id="R6c5a540893d74c2b" /><Relationship Type="http://schemas.openxmlformats.org/officeDocument/2006/relationships/chart" Target="/ppt/slides/charts/chart8.xml" Id="Rb21e99281b9349b9" /><Relationship Type="http://schemas.openxmlformats.org/officeDocument/2006/relationships/notesSlide" Target="/ppt/notesSlides/notesSlide4.xml" Id="Ra2b35a91070b435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chart1.xml><?xml version="1.0" encoding="utf-8"?>
<c:chartSpace xmlns:c="http://schemas.openxmlformats.org/drawingml/2006/chart" xmlns:r="http://schemas.openxmlformats.org/officeDocument/2006/relationships">
  <c:lang val="en-US"/>
  <c:chart>
    <c:plotArea>
      <c:scatterChart>
        <c:scatterStyle val="marker"/>
        <c:varyColors val="0"/>
        <c:ser>
          <c:idx val="0"/>
          <c:order val="0"/>
          <c:tx>
            <c:v>Africa</c:v>
          </c:tx>
          <c:spPr>
            <a:ln xmlns:a="http://schemas.openxmlformats.org/drawingml/2006/main" w="0">
              <a:noFill/>
            </a:ln>
          </c:spPr>
          <c:marker>
            <c:symbol val="circle"/>
            <c:size val="7"/>
            <c:spPr>
              <a:solidFill xmlns:a="http://schemas.openxmlformats.org/drawingml/2006/main">
                <a:srgbClr val="94A480"/>
              </a:solidFill>
            </c:spPr>
          </c:marker>
          <c:xVal>
            <c:numRef>
              <c:f>'Chart Data'!$A$2:$A$53</c:f>
              <c:numCache>
                <c:formatCode>General</c:formatCode>
                <c:ptCount val="52"/>
                <c:pt idx="0">
                  <c:v>10800</c:v>
                </c:pt>
                <c:pt idx="1">
                  <c:v>6030</c:v>
                </c:pt>
                <c:pt idx="2">
                  <c:v>3190</c:v>
                </c:pt>
                <c:pt idx="3">
                  <c:v>13500</c:v>
                </c:pt>
                <c:pt idx="4">
                  <c:v>2090</c:v>
                </c:pt>
                <c:pt idx="5">
                  <c:v>711</c:v>
                </c:pt>
                <c:pt idx="6">
                  <c:v>3680</c:v>
                </c:pt>
                <c:pt idx="7">
                  <c:v>847</c:v>
                </c:pt>
                <c:pt idx="8">
                  <c:v>1490</c:v>
                </c:pt>
                <c:pt idx="9">
                  <c:v>3220</c:v>
                </c:pt>
                <c:pt idx="10">
                  <c:v>1040</c:v>
                </c:pt>
                <c:pt idx="11">
                  <c:v>5090</c:v>
                </c:pt>
                <c:pt idx="12">
                  <c:v>4770</c:v>
                </c:pt>
                <c:pt idx="13">
                  <c:v>12000</c:v>
                </c:pt>
                <c:pt idx="14">
                  <c:v>14900</c:v>
                </c:pt>
                <c:pt idx="15">
                  <c:v>1820</c:v>
                </c:pt>
                <c:pt idx="16">
                  <c:v>8080</c:v>
                </c:pt>
                <c:pt idx="17">
                  <c:v>2250</c:v>
                </c:pt>
                <c:pt idx="18">
                  <c:v>13900</c:v>
                </c:pt>
                <c:pt idx="19">
                  <c:v>2020</c:v>
                </c:pt>
                <c:pt idx="20">
                  <c:v>5280</c:v>
                </c:pt>
                <c:pt idx="21">
                  <c:v>2600</c:v>
                </c:pt>
                <c:pt idx="22">
                  <c:v>1760</c:v>
                </c:pt>
                <c:pt idx="23">
                  <c:v>4500</c:v>
                </c:pt>
                <c:pt idx="24">
                  <c:v>2280</c:v>
                </c:pt>
                <c:pt idx="25">
                  <c:v>1380</c:v>
                </c:pt>
                <c:pt idx="26">
                  <c:v>15600</c:v>
                </c:pt>
                <c:pt idx="27">
                  <c:v>1440</c:v>
                </c:pt>
                <c:pt idx="28">
                  <c:v>1490</c:v>
                </c:pt>
                <c:pt idx="29">
                  <c:v>2120</c:v>
                </c:pt>
                <c:pt idx="30">
                  <c:v>5400</c:v>
                </c:pt>
                <c:pt idx="31">
                  <c:v>20200</c:v>
                </c:pt>
                <c:pt idx="32">
                  <c:v>7540</c:v>
                </c:pt>
                <c:pt idx="33">
                  <c:v>1230</c:v>
                </c:pt>
                <c:pt idx="34">
                  <c:v>9030</c:v>
                </c:pt>
                <c:pt idx="35">
                  <c:v>1210</c:v>
                </c:pt>
                <c:pt idx="36">
                  <c:v>4870</c:v>
                </c:pt>
                <c:pt idx="37">
                  <c:v>2070</c:v>
                </c:pt>
                <c:pt idx="38">
                  <c:v>4060</c:v>
                </c:pt>
                <c:pt idx="39">
                  <c:v>3380</c:v>
                </c:pt>
                <c:pt idx="40">
                  <c:v>27700</c:v>
                </c:pt>
                <c:pt idx="41">
                  <c:v>1590</c:v>
                </c:pt>
                <c:pt idx="42">
                  <c:v>1140</c:v>
                </c:pt>
                <c:pt idx="43">
                  <c:v>12800</c:v>
                </c:pt>
                <c:pt idx="44">
                  <c:v>387</c:v>
                </c:pt>
                <c:pt idx="45">
                  <c:v>3870</c:v>
                </c:pt>
                <c:pt idx="46">
                  <c:v>2550</c:v>
                </c:pt>
                <c:pt idx="47">
                  <c:v>2060</c:v>
                </c:pt>
                <c:pt idx="48">
                  <c:v>10000</c:v>
                </c:pt>
                <c:pt idx="49">
                  <c:v>2240</c:v>
                </c:pt>
                <c:pt idx="50">
                  <c:v>3130</c:v>
                </c:pt>
                <c:pt idx="51">
                  <c:v>1990</c:v>
                </c:pt>
              </c:numCache>
            </c:numRef>
          </c:xVal>
          <c:yVal>
            <c:numRef>
              <c:f>'Chart Data'!$B$2:$B$53</c:f>
              <c:numCache>
                <c:formatCode>General</c:formatCode>
                <c:ptCount val="52"/>
                <c:pt idx="0">
                  <c:v>74</c:v>
                </c:pt>
                <c:pt idx="1">
                  <c:v>64</c:v>
                </c:pt>
                <c:pt idx="2">
                  <c:v>64</c:v>
                </c:pt>
                <c:pt idx="3">
                  <c:v>62</c:v>
                </c:pt>
                <c:pt idx="4">
                  <c:v>61</c:v>
                </c:pt>
                <c:pt idx="5">
                  <c:v>63</c:v>
                </c:pt>
                <c:pt idx="6">
                  <c:v>62</c:v>
                </c:pt>
                <c:pt idx="7">
                  <c:v>52</c:v>
                </c:pt>
                <c:pt idx="8">
                  <c:v>59</c:v>
                </c:pt>
                <c:pt idx="9">
                  <c:v>68</c:v>
                </c:pt>
                <c:pt idx="10">
                  <c:v>64</c:v>
                </c:pt>
                <c:pt idx="11">
                  <c:v>63</c:v>
                </c:pt>
                <c:pt idx="12">
                  <c:v>66</c:v>
                </c:pt>
                <c:pt idx="13">
                  <c:v>70</c:v>
                </c:pt>
                <c:pt idx="14">
                  <c:v>65</c:v>
                </c:pt>
                <c:pt idx="15">
                  <c:v>63</c:v>
                </c:pt>
                <c:pt idx="16">
                  <c:v>57</c:v>
                </c:pt>
                <c:pt idx="17">
                  <c:v>68</c:v>
                </c:pt>
                <c:pt idx="18">
                  <c:v>67</c:v>
                </c:pt>
                <c:pt idx="19">
                  <c:v>65</c:v>
                </c:pt>
                <c:pt idx="20">
                  <c:v>65</c:v>
                </c:pt>
                <c:pt idx="21">
                  <c:v>60</c:v>
                </c:pt>
                <c:pt idx="22">
                  <c:v>60</c:v>
                </c:pt>
                <c:pt idx="23">
                  <c:v>66</c:v>
                </c:pt>
                <c:pt idx="24">
                  <c:v>52</c:v>
                </c:pt>
                <c:pt idx="25">
                  <c:v>65</c:v>
                </c:pt>
                <c:pt idx="26">
                  <c:v>75</c:v>
                </c:pt>
                <c:pt idx="27">
                  <c:v>64</c:v>
                </c:pt>
                <c:pt idx="28">
                  <c:v>64</c:v>
                </c:pt>
                <c:pt idx="29">
                  <c:v>60</c:v>
                </c:pt>
                <c:pt idx="30">
                  <c:v>69</c:v>
                </c:pt>
                <c:pt idx="31">
                  <c:v>74</c:v>
                </c:pt>
                <c:pt idx="32">
                  <c:v>73</c:v>
                </c:pt>
                <c:pt idx="33">
                  <c:v>58</c:v>
                </c:pt>
                <c:pt idx="34">
                  <c:v>65</c:v>
                </c:pt>
                <c:pt idx="35">
                  <c:v>61</c:v>
                </c:pt>
                <c:pt idx="36">
                  <c:v>64</c:v>
                </c:pt>
                <c:pt idx="37">
                  <c:v>69</c:v>
                </c:pt>
                <c:pt idx="38">
                  <c:v>70</c:v>
                </c:pt>
                <c:pt idx="39">
                  <c:v>68</c:v>
                </c:pt>
                <c:pt idx="40">
                  <c:v>72</c:v>
                </c:pt>
                <c:pt idx="41">
                  <c:v>61</c:v>
                </c:pt>
                <c:pt idx="42">
                  <c:v>57</c:v>
                </c:pt>
                <c:pt idx="43">
                  <c:v>64</c:v>
                </c:pt>
                <c:pt idx="44">
                  <c:v>63</c:v>
                </c:pt>
                <c:pt idx="45">
                  <c:v>70</c:v>
                </c:pt>
                <c:pt idx="46">
                  <c:v>66</c:v>
                </c:pt>
                <c:pt idx="47">
                  <c:v>65</c:v>
                </c:pt>
                <c:pt idx="48">
                  <c:v>77</c:v>
                </c:pt>
                <c:pt idx="49">
                  <c:v>66</c:v>
                </c:pt>
                <c:pt idx="50">
                  <c:v>62</c:v>
                </c:pt>
                <c:pt idx="51">
                  <c:v>60</c:v>
                </c:pt>
              </c:numCache>
            </c:numRef>
          </c:yVal>
        </c:ser>
        <c:ser>
          <c:idx val="1"/>
          <c:order val="1"/>
          <c:tx>
            <c:v>Americas</c:v>
          </c:tx>
          <c:spPr>
            <a:ln xmlns:a="http://schemas.openxmlformats.org/drawingml/2006/main" w="0">
              <a:noFill/>
            </a:ln>
          </c:spPr>
          <c:marker>
            <c:symbol val="circle"/>
            <c:size val="7"/>
            <c:spPr>
              <a:solidFill xmlns:a="http://schemas.openxmlformats.org/drawingml/2006/main">
                <a:srgbClr val="B59A72"/>
              </a:solidFill>
            </c:spPr>
          </c:marker>
          <c:xVal>
            <c:numRef>
              <c:f>'Chart Data'!$C$2:$C$33</c:f>
              <c:numCache>
                <c:formatCode>General</c:formatCode>
                <c:ptCount val="32"/>
                <c:pt idx="0">
                  <c:v>18500</c:v>
                </c:pt>
                <c:pt idx="1">
                  <c:v>19600</c:v>
                </c:pt>
                <c:pt idx="2">
                  <c:v>26100</c:v>
                </c:pt>
                <c:pt idx="3">
                  <c:v>13900</c:v>
                </c:pt>
                <c:pt idx="4">
                  <c:v>7530</c:v>
                </c:pt>
                <c:pt idx="5">
                  <c:v>14100</c:v>
                </c:pt>
                <c:pt idx="6">
                  <c:v>46100</c:v>
                </c:pt>
                <c:pt idx="7">
                  <c:v>23100</c:v>
                </c:pt>
                <c:pt idx="8">
                  <c:v>13400</c:v>
                </c:pt>
                <c:pt idx="9">
                  <c:v>19700</c:v>
                </c:pt>
                <c:pt idx="10">
                  <c:v>8430</c:v>
                </c:pt>
                <c:pt idx="11">
                  <c:v>10300</c:v>
                </c:pt>
                <c:pt idx="12">
                  <c:v>16800</c:v>
                </c:pt>
                <c:pt idx="13">
                  <c:v>9830</c:v>
                </c:pt>
                <c:pt idx="14">
                  <c:v>8240</c:v>
                </c:pt>
                <c:pt idx="15">
                  <c:v>13200</c:v>
                </c:pt>
                <c:pt idx="16">
                  <c:v>8390</c:v>
                </c:pt>
                <c:pt idx="17">
                  <c:v>18400</c:v>
                </c:pt>
                <c:pt idx="18">
                  <c:v>2970</c:v>
                </c:pt>
                <c:pt idx="19">
                  <c:v>5030</c:v>
                </c:pt>
                <c:pt idx="20">
                  <c:v>9210</c:v>
                </c:pt>
                <c:pt idx="21">
                  <c:v>18200</c:v>
                </c:pt>
                <c:pt idx="22">
                  <c:v>5230</c:v>
                </c:pt>
                <c:pt idx="23">
                  <c:v>26600</c:v>
                </c:pt>
                <c:pt idx="24">
                  <c:v>13300</c:v>
                </c:pt>
                <c:pt idx="25">
                  <c:v>11200</c:v>
                </c:pt>
                <c:pt idx="26">
                  <c:v>11700</c:v>
                </c:pt>
                <c:pt idx="27">
                  <c:v>13700</c:v>
                </c:pt>
                <c:pt idx="28">
                  <c:v>15300</c:v>
                </c:pt>
                <c:pt idx="29">
                  <c:v>23400</c:v>
                </c:pt>
                <c:pt idx="30">
                  <c:v>22000</c:v>
                </c:pt>
                <c:pt idx="31">
                  <c:v>5440</c:v>
                </c:pt>
              </c:numCache>
            </c:numRef>
          </c:xVal>
          <c:yVal>
            <c:numRef>
              <c:f>'Chart Data'!$D$2:$D$33</c:f>
              <c:numCache>
                <c:formatCode>General</c:formatCode>
                <c:ptCount val="32"/>
                <c:pt idx="0">
                  <c:v>76</c:v>
                </c:pt>
                <c:pt idx="1">
                  <c:v>75</c:v>
                </c:pt>
                <c:pt idx="2">
                  <c:v>74</c:v>
                </c:pt>
                <c:pt idx="3">
                  <c:v>76</c:v>
                </c:pt>
                <c:pt idx="4">
                  <c:v>73</c:v>
                </c:pt>
                <c:pt idx="5">
                  <c:v>74</c:v>
                </c:pt>
                <c:pt idx="6">
                  <c:v>81</c:v>
                </c:pt>
                <c:pt idx="7">
                  <c:v>79</c:v>
                </c:pt>
                <c:pt idx="8">
                  <c:v>78</c:v>
                </c:pt>
                <c:pt idx="9">
                  <c:v>79</c:v>
                </c:pt>
                <c:pt idx="10">
                  <c:v>78</c:v>
                </c:pt>
                <c:pt idx="11">
                  <c:v>72</c:v>
                </c:pt>
                <c:pt idx="12">
                  <c:v>72</c:v>
                </c:pt>
                <c:pt idx="13">
                  <c:v>71</c:v>
                </c:pt>
                <c:pt idx="14">
                  <c:v>74</c:v>
                </c:pt>
                <c:pt idx="15">
                  <c:v>73</c:v>
                </c:pt>
                <c:pt idx="16">
                  <c:v>71</c:v>
                </c:pt>
                <c:pt idx="17">
                  <c:v>66</c:v>
                </c:pt>
                <c:pt idx="18">
                  <c:v>63</c:v>
                </c:pt>
                <c:pt idx="19">
                  <c:v>70</c:v>
                </c:pt>
                <c:pt idx="20">
                  <c:v>76</c:v>
                </c:pt>
                <c:pt idx="21">
                  <c:v>71</c:v>
                </c:pt>
                <c:pt idx="22">
                  <c:v>73</c:v>
                </c:pt>
                <c:pt idx="23">
                  <c:v>78</c:v>
                </c:pt>
                <c:pt idx="24">
                  <c:v>76</c:v>
                </c:pt>
                <c:pt idx="25">
                  <c:v>77</c:v>
                </c:pt>
                <c:pt idx="26">
                  <c:v>75</c:v>
                </c:pt>
                <c:pt idx="27">
                  <c:v>72</c:v>
                </c:pt>
                <c:pt idx="28">
                  <c:v>73</c:v>
                </c:pt>
                <c:pt idx="29">
                  <c:v>75</c:v>
                </c:pt>
                <c:pt idx="30">
                  <c:v>78</c:v>
                </c:pt>
                <c:pt idx="31">
                  <c:v>73</c:v>
                </c:pt>
              </c:numCache>
            </c:numRef>
          </c:yVal>
        </c:ser>
        <c:ser>
          <c:idx val="2"/>
          <c:order val="2"/>
          <c:tx>
            <c:v>Asia</c:v>
          </c:tx>
          <c:spPr>
            <a:ln xmlns:a="http://schemas.openxmlformats.org/drawingml/2006/main" w="0">
              <a:noFill/>
            </a:ln>
          </c:spPr>
          <c:marker>
            <c:symbol val="circle"/>
            <c:size val="7"/>
            <c:spPr>
              <a:solidFill xmlns:a="http://schemas.openxmlformats.org/drawingml/2006/main">
                <a:srgbClr val="9CAEB0"/>
              </a:solidFill>
            </c:spPr>
          </c:marker>
          <c:xVal>
            <c:numRef>
              <c:f>'Chart Data'!$E$2:$E$41</c:f>
              <c:numCache>
                <c:formatCode>General</c:formatCode>
                <c:ptCount val="40"/>
                <c:pt idx="0">
                  <c:v>1970</c:v>
                </c:pt>
                <c:pt idx="1">
                  <c:v>13300</c:v>
                </c:pt>
                <c:pt idx="2">
                  <c:v>13700</c:v>
                </c:pt>
                <c:pt idx="3">
                  <c:v>48000</c:v>
                </c:pt>
                <c:pt idx="4">
                  <c:v>5590</c:v>
                </c:pt>
                <c:pt idx="5">
                  <c:v>10500</c:v>
                </c:pt>
                <c:pt idx="6">
                  <c:v>4280</c:v>
                </c:pt>
                <c:pt idx="7">
                  <c:v>16300</c:v>
                </c:pt>
                <c:pt idx="8">
                  <c:v>38300</c:v>
                </c:pt>
                <c:pt idx="9">
                  <c:v>13900</c:v>
                </c:pt>
                <c:pt idx="10">
                  <c:v>6140</c:v>
                </c:pt>
                <c:pt idx="11">
                  <c:v>11500</c:v>
                </c:pt>
                <c:pt idx="12">
                  <c:v>8860</c:v>
                </c:pt>
                <c:pt idx="13">
                  <c:v>39700</c:v>
                </c:pt>
                <c:pt idx="14">
                  <c:v>9060</c:v>
                </c:pt>
                <c:pt idx="15">
                  <c:v>43800</c:v>
                </c:pt>
                <c:pt idx="16">
                  <c:v>4810</c:v>
                </c:pt>
                <c:pt idx="17">
                  <c:v>13800</c:v>
                </c:pt>
                <c:pt idx="18">
                  <c:v>25800</c:v>
                </c:pt>
                <c:pt idx="19">
                  <c:v>13800</c:v>
                </c:pt>
                <c:pt idx="20">
                  <c:v>11700</c:v>
                </c:pt>
                <c:pt idx="21">
                  <c:v>4620</c:v>
                </c:pt>
                <c:pt idx="22">
                  <c:v>3760</c:v>
                </c:pt>
                <c:pt idx="23">
                  <c:v>1810</c:v>
                </c:pt>
                <c:pt idx="24">
                  <c:v>33100</c:v>
                </c:pt>
                <c:pt idx="25">
                  <c:v>5000</c:v>
                </c:pt>
                <c:pt idx="26">
                  <c:v>5400</c:v>
                </c:pt>
                <c:pt idx="27">
                  <c:v>7770</c:v>
                </c:pt>
                <c:pt idx="28">
                  <c:v>89000</c:v>
                </c:pt>
                <c:pt idx="29">
                  <c:v>44300</c:v>
                </c:pt>
                <c:pt idx="30">
                  <c:v>94200</c:v>
                </c:pt>
                <c:pt idx="31">
                  <c:v>42400</c:v>
                </c:pt>
                <c:pt idx="32">
                  <c:v>12900</c:v>
                </c:pt>
                <c:pt idx="33">
                  <c:v>3520</c:v>
                </c:pt>
                <c:pt idx="34">
                  <c:v>3650</c:v>
                </c:pt>
                <c:pt idx="35">
                  <c:v>16900</c:v>
                </c:pt>
                <c:pt idx="36">
                  <c:v>4860</c:v>
                </c:pt>
                <c:pt idx="37">
                  <c:v>28500</c:v>
                </c:pt>
                <c:pt idx="38">
                  <c:v>7410</c:v>
                </c:pt>
                <c:pt idx="39">
                  <c:v>1780</c:v>
                </c:pt>
              </c:numCache>
            </c:numRef>
          </c:xVal>
          <c:yVal>
            <c:numRef>
              <c:f>'Chart Data'!$F$2:$F$41</c:f>
              <c:numCache>
                <c:formatCode>General</c:formatCode>
                <c:ptCount val="40"/>
                <c:pt idx="0">
                  <c:v>62</c:v>
                </c:pt>
                <c:pt idx="1">
                  <c:v>72</c:v>
                </c:pt>
                <c:pt idx="2">
                  <c:v>64</c:v>
                </c:pt>
                <c:pt idx="3">
                  <c:v>76</c:v>
                </c:pt>
                <c:pt idx="4">
                  <c:v>73</c:v>
                </c:pt>
                <c:pt idx="5">
                  <c:v>73</c:v>
                </c:pt>
                <c:pt idx="6">
                  <c:v>69</c:v>
                </c:pt>
                <c:pt idx="7">
                  <c:v>77</c:v>
                </c:pt>
                <c:pt idx="8">
                  <c:v>80</c:v>
                </c:pt>
                <c:pt idx="9">
                  <c:v>72</c:v>
                </c:pt>
                <c:pt idx="10">
                  <c:v>70</c:v>
                </c:pt>
                <c:pt idx="11">
                  <c:v>69</c:v>
                </c:pt>
                <c:pt idx="12">
                  <c:v>70</c:v>
                </c:pt>
                <c:pt idx="13">
                  <c:v>82</c:v>
                </c:pt>
                <c:pt idx="14">
                  <c:v>77</c:v>
                </c:pt>
                <c:pt idx="15">
                  <c:v>78</c:v>
                </c:pt>
                <c:pt idx="16">
                  <c:v>71</c:v>
                </c:pt>
                <c:pt idx="17">
                  <c:v>75</c:v>
                </c:pt>
                <c:pt idx="18">
                  <c:v>75</c:v>
                </c:pt>
                <c:pt idx="19">
                  <c:v>78</c:v>
                </c:pt>
                <c:pt idx="20">
                  <c:v>68</c:v>
                </c:pt>
                <c:pt idx="21">
                  <c:v>69</c:v>
                </c:pt>
                <c:pt idx="22">
                  <c:v>70</c:v>
                </c:pt>
                <c:pt idx="23">
                  <c:v>73</c:v>
                </c:pt>
                <c:pt idx="24">
                  <c:v>70</c:v>
                </c:pt>
                <c:pt idx="25">
                  <c:v>65</c:v>
                </c:pt>
                <c:pt idx="26">
                  <c:v>74</c:v>
                </c:pt>
                <c:pt idx="27">
                  <c:v>72</c:v>
                </c:pt>
                <c:pt idx="28">
                  <c:v>74</c:v>
                </c:pt>
                <c:pt idx="29">
                  <c:v>73</c:v>
                </c:pt>
                <c:pt idx="30">
                  <c:v>83</c:v>
                </c:pt>
                <c:pt idx="31">
                  <c:v>82</c:v>
                </c:pt>
                <c:pt idx="32">
                  <c:v>77</c:v>
                </c:pt>
                <c:pt idx="33">
                  <c:v>74</c:v>
                </c:pt>
                <c:pt idx="34">
                  <c:v>66</c:v>
                </c:pt>
                <c:pt idx="35">
                  <c:v>78</c:v>
                </c:pt>
                <c:pt idx="36">
                  <c:v>70</c:v>
                </c:pt>
                <c:pt idx="37">
                  <c:v>76</c:v>
                </c:pt>
                <c:pt idx="38">
                  <c:v>67</c:v>
                </c:pt>
                <c:pt idx="39">
                  <c:v>67</c:v>
                </c:pt>
              </c:numCache>
            </c:numRef>
          </c:yVal>
        </c:ser>
        <c:ser>
          <c:idx val="3"/>
          <c:order val="3"/>
          <c:tx>
            <c:v>Europe</c:v>
          </c:tx>
          <c:spPr>
            <a:ln xmlns:a="http://schemas.openxmlformats.org/drawingml/2006/main" w="0">
              <a:noFill/>
            </a:ln>
          </c:spPr>
          <c:marker>
            <c:symbol val="circle"/>
            <c:size val="7"/>
            <c:spPr>
              <a:solidFill xmlns:a="http://schemas.openxmlformats.org/drawingml/2006/main">
                <a:srgbClr val="AE9EB0"/>
              </a:solidFill>
            </c:spPr>
          </c:marker>
          <c:xVal>
            <c:numRef>
              <c:f>'Chart Data'!$G$2:$G$40</c:f>
              <c:numCache>
                <c:formatCode>General</c:formatCode>
                <c:ptCount val="39"/>
                <c:pt idx="0">
                  <c:v>13300</c:v>
                </c:pt>
                <c:pt idx="1">
                  <c:v>49700</c:v>
                </c:pt>
                <c:pt idx="2">
                  <c:v>52100</c:v>
                </c:pt>
                <c:pt idx="3">
                  <c:v>19200</c:v>
                </c:pt>
                <c:pt idx="4">
                  <c:v>48700</c:v>
                </c:pt>
                <c:pt idx="5">
                  <c:v>14600</c:v>
                </c:pt>
                <c:pt idx="6">
                  <c:v>22500</c:v>
                </c:pt>
                <c:pt idx="7">
                  <c:v>27000</c:v>
                </c:pt>
                <c:pt idx="8">
                  <c:v>38600</c:v>
                </c:pt>
                <c:pt idx="9">
                  <c:v>54500</c:v>
                </c:pt>
                <c:pt idx="10">
                  <c:v>36100</c:v>
                </c:pt>
                <c:pt idx="11">
                  <c:v>47500</c:v>
                </c:pt>
                <c:pt idx="12">
                  <c:v>42400</c:v>
                </c:pt>
                <c:pt idx="13">
                  <c:v>51600</c:v>
                </c:pt>
                <c:pt idx="14">
                  <c:v>26900</c:v>
                </c:pt>
                <c:pt idx="15">
                  <c:v>31300</c:v>
                </c:pt>
                <c:pt idx="16">
                  <c:v>51200</c:v>
                </c:pt>
                <c:pt idx="17">
                  <c:v>90100</c:v>
                </c:pt>
                <c:pt idx="18">
                  <c:v>38600</c:v>
                </c:pt>
                <c:pt idx="19">
                  <c:v>29800</c:v>
                </c:pt>
                <c:pt idx="20">
                  <c:v>37100</c:v>
                </c:pt>
                <c:pt idx="21">
                  <c:v>110000</c:v>
                </c:pt>
                <c:pt idx="22">
                  <c:v>40800</c:v>
                </c:pt>
                <c:pt idx="23">
                  <c:v>208000</c:v>
                </c:pt>
                <c:pt idx="24">
                  <c:v>18300</c:v>
                </c:pt>
                <c:pt idx="25">
                  <c:v>53600</c:v>
                </c:pt>
                <c:pt idx="26">
                  <c:v>63800</c:v>
                </c:pt>
                <c:pt idx="27">
                  <c:v>32500</c:v>
                </c:pt>
                <c:pt idx="28">
                  <c:v>32100</c:v>
                </c:pt>
                <c:pt idx="29">
                  <c:v>29100</c:v>
                </c:pt>
                <c:pt idx="30">
                  <c:v>26600</c:v>
                </c:pt>
                <c:pt idx="31">
                  <c:v>56400</c:v>
                </c:pt>
                <c:pt idx="32">
                  <c:v>18200</c:v>
                </c:pt>
                <c:pt idx="33">
                  <c:v>31000</c:v>
                </c:pt>
                <c:pt idx="34">
                  <c:v>37100</c:v>
                </c:pt>
                <c:pt idx="35">
                  <c:v>35700</c:v>
                </c:pt>
                <c:pt idx="36">
                  <c:v>51000</c:v>
                </c:pt>
                <c:pt idx="37">
                  <c:v>67000</c:v>
                </c:pt>
                <c:pt idx="38">
                  <c:v>12400</c:v>
                </c:pt>
              </c:numCache>
            </c:numRef>
          </c:xVal>
          <c:yVal>
            <c:numRef>
              <c:f>'Chart Data'!$H$2:$H$40</c:f>
              <c:numCache>
                <c:formatCode>General</c:formatCode>
                <c:ptCount val="39"/>
                <c:pt idx="0">
                  <c:v>76</c:v>
                </c:pt>
                <c:pt idx="1">
                  <c:v>78</c:v>
                </c:pt>
                <c:pt idx="2">
                  <c:v>81</c:v>
                </c:pt>
                <c:pt idx="3">
                  <c:v>72</c:v>
                </c:pt>
                <c:pt idx="4">
                  <c:v>80</c:v>
                </c:pt>
                <c:pt idx="5">
                  <c:v>76</c:v>
                </c:pt>
                <c:pt idx="6">
                  <c:v>72</c:v>
                </c:pt>
                <c:pt idx="7">
                  <c:v>77</c:v>
                </c:pt>
                <c:pt idx="8">
                  <c:v>78</c:v>
                </c:pt>
                <c:pt idx="9">
                  <c:v>81</c:v>
                </c:pt>
                <c:pt idx="10">
                  <c:v>77</c:v>
                </c:pt>
                <c:pt idx="11">
                  <c:v>81</c:v>
                </c:pt>
                <c:pt idx="12">
                  <c:v>82</c:v>
                </c:pt>
                <c:pt idx="13">
                  <c:v>80</c:v>
                </c:pt>
                <c:pt idx="14">
                  <c:v>80</c:v>
                </c:pt>
                <c:pt idx="15">
                  <c:v>75</c:v>
                </c:pt>
                <c:pt idx="16">
                  <c:v>84</c:v>
                </c:pt>
                <c:pt idx="17">
                  <c:v>82</c:v>
                </c:pt>
                <c:pt idx="18">
                  <c:v>82</c:v>
                </c:pt>
                <c:pt idx="19">
                  <c:v>75</c:v>
                </c:pt>
                <c:pt idx="20">
                  <c:v>75</c:v>
                </c:pt>
                <c:pt idx="21">
                  <c:v>82</c:v>
                </c:pt>
                <c:pt idx="22">
                  <c:v>82</c:v>
                </c:pt>
                <c:pt idx="23">
                  <c:v>80</c:v>
                </c:pt>
                <c:pt idx="24">
                  <c:v>75</c:v>
                </c:pt>
                <c:pt idx="25">
                  <c:v>81</c:v>
                </c:pt>
                <c:pt idx="26">
                  <c:v>83</c:v>
                </c:pt>
                <c:pt idx="27">
                  <c:v>77</c:v>
                </c:pt>
                <c:pt idx="28">
                  <c:v>81</c:v>
                </c:pt>
                <c:pt idx="29">
                  <c:v>74</c:v>
                </c:pt>
                <c:pt idx="30">
                  <c:v>70</c:v>
                </c:pt>
                <c:pt idx="31">
                  <c:v>78</c:v>
                </c:pt>
                <c:pt idx="32">
                  <c:v>74</c:v>
                </c:pt>
                <c:pt idx="33">
                  <c:v>76</c:v>
                </c:pt>
                <c:pt idx="34">
                  <c:v>80</c:v>
                </c:pt>
                <c:pt idx="35">
                  <c:v>81</c:v>
                </c:pt>
                <c:pt idx="36">
                  <c:v>82</c:v>
                </c:pt>
                <c:pt idx="37">
                  <c:v>83</c:v>
                </c:pt>
                <c:pt idx="38">
                  <c:v>71</c:v>
                </c:pt>
              </c:numCache>
            </c:numRef>
          </c:yVal>
        </c:ser>
        <c:ser>
          <c:idx val="4"/>
          <c:order val="4"/>
          <c:tx>
            <c:v>Oceania</c:v>
          </c:tx>
          <c:spPr>
            <a:ln xmlns:a="http://schemas.openxmlformats.org/drawingml/2006/main" w="0">
              <a:noFill/>
            </a:ln>
          </c:spPr>
          <c:marker>
            <c:symbol val="circle"/>
            <c:size val="7"/>
            <c:spPr>
              <a:solidFill xmlns:a="http://schemas.openxmlformats.org/drawingml/2006/main">
                <a:srgbClr val="B1AC83"/>
              </a:solidFill>
            </c:spPr>
          </c:marker>
          <c:xVal>
            <c:numRef>
              <c:f>'Chart Data'!$I$2:$I$14</c:f>
              <c:numCache>
                <c:formatCode>General</c:formatCode>
                <c:ptCount val="13"/>
                <c:pt idx="0">
                  <c:v>48800</c:v>
                </c:pt>
                <c:pt idx="1">
                  <c:v>10900</c:v>
                </c:pt>
                <c:pt idx="2">
                  <c:v>1880</c:v>
                </c:pt>
                <c:pt idx="3">
                  <c:v>5710</c:v>
                </c:pt>
                <c:pt idx="4">
                  <c:v>10400</c:v>
                </c:pt>
                <c:pt idx="5">
                  <c:v>42300</c:v>
                </c:pt>
                <c:pt idx="6">
                  <c:v>16100</c:v>
                </c:pt>
                <c:pt idx="7">
                  <c:v>3770</c:v>
                </c:pt>
                <c:pt idx="8">
                  <c:v>6060</c:v>
                </c:pt>
                <c:pt idx="9">
                  <c:v>2390</c:v>
                </c:pt>
                <c:pt idx="10">
                  <c:v>6360</c:v>
                </c:pt>
                <c:pt idx="11">
                  <c:v>4580</c:v>
                </c:pt>
                <c:pt idx="12">
                  <c:v>2910</c:v>
                </c:pt>
              </c:numCache>
            </c:numRef>
          </c:xVal>
          <c:yVal>
            <c:numRef>
              <c:f>'Chart Data'!$J$2:$J$14</c:f>
              <c:numCache>
                <c:formatCode>General</c:formatCode>
                <c:ptCount val="13"/>
                <c:pt idx="0">
                  <c:v>84</c:v>
                </c:pt>
                <c:pt idx="1">
                  <c:v>68</c:v>
                </c:pt>
                <c:pt idx="2">
                  <c:v>60</c:v>
                </c:pt>
                <c:pt idx="3">
                  <c:v>65</c:v>
                </c:pt>
                <c:pt idx="4">
                  <c:v>63</c:v>
                </c:pt>
                <c:pt idx="5">
                  <c:v>82</c:v>
                </c:pt>
                <c:pt idx="6">
                  <c:v>68</c:v>
                </c:pt>
                <c:pt idx="7">
                  <c:v>65</c:v>
                </c:pt>
                <c:pt idx="8">
                  <c:v>71</c:v>
                </c:pt>
                <c:pt idx="9">
                  <c:v>59</c:v>
                </c:pt>
                <c:pt idx="10">
                  <c:v>73</c:v>
                </c:pt>
                <c:pt idx="11">
                  <c:v>68</c:v>
                </c:pt>
                <c:pt idx="12">
                  <c:v>65</c:v>
                </c:pt>
              </c:numCache>
            </c:numRef>
          </c:yVal>
        </c:ser>
        <c:ser>
          <c:idx val="5"/>
          <c:order val="5"/>
          <c:tx>
            <c:v>Unknown</c:v>
          </c:tx>
          <c:spPr>
            <a:ln xmlns:a="http://schemas.openxmlformats.org/drawingml/2006/main" w="0">
              <a:noFill/>
            </a:ln>
          </c:spPr>
          <c:marker>
            <c:symbol val="circle"/>
            <c:size val="7"/>
            <c:spPr>
              <a:solidFill xmlns:a="http://schemas.openxmlformats.org/drawingml/2006/main">
                <a:srgbClr val="D3CFCA"/>
              </a:solidFill>
            </c:spPr>
          </c:marker>
          <c:xVal>
            <c:numRef>
              <c:f>'Chart Data'!$K$2:$K$18</c:f>
              <c:numCache>
                <c:formatCode>General</c:formatCode>
                <c:ptCount val="17"/>
                <c:pt idx="0">
                  <c:v>7680</c:v>
                </c:pt>
                <c:pt idx="1">
                  <c:v>61600</c:v>
                </c:pt>
                <c:pt idx="2">
                  <c:v>6220</c:v>
                </c:pt>
                <c:pt idx="3">
                  <c:v>3280</c:v>
                </c:pt>
                <c:pt idx="4">
                  <c:v>14400</c:v>
                </c:pt>
                <c:pt idx="5">
                  <c:v>25600</c:v>
                </c:pt>
                <c:pt idx="6">
                  <c:v>7760</c:v>
                </c:pt>
                <c:pt idx="7">
                  <c:v>3250</c:v>
                </c:pt>
                <c:pt idx="8">
                  <c:v>11800</c:v>
                </c:pt>
                <c:pt idx="9">
                  <c:v>15800</c:v>
                </c:pt>
                <c:pt idx="10">
                  <c:v>26300</c:v>
                </c:pt>
                <c:pt idx="11">
                  <c:v>53100</c:v>
                </c:pt>
                <c:pt idx="12">
                  <c:v>15200</c:v>
                </c:pt>
                <c:pt idx="13">
                  <c:v>67400</c:v>
                </c:pt>
                <c:pt idx="14">
                  <c:v>41300</c:v>
                </c:pt>
                <c:pt idx="15">
                  <c:v>60200</c:v>
                </c:pt>
                <c:pt idx="16">
                  <c:v>10500</c:v>
                </c:pt>
              </c:numCache>
            </c:numRef>
          </c:xVal>
          <c:yVal>
            <c:numRef>
              <c:f>'Chart Data'!$L$2:$L$18</c:f>
              <c:numCache>
                <c:formatCode>General</c:formatCode>
                <c:ptCount val="17"/>
                <c:pt idx="0">
                  <c:v>68</c:v>
                </c:pt>
                <c:pt idx="1">
                  <c:v>74</c:v>
                </c:pt>
                <c:pt idx="2">
                  <c:v>72</c:v>
                </c:pt>
                <c:pt idx="3">
                  <c:v>66</c:v>
                </c:pt>
                <c:pt idx="4">
                  <c:v>76</c:v>
                </c:pt>
                <c:pt idx="5">
                  <c:v>70</c:v>
                </c:pt>
                <c:pt idx="6">
                  <c:v>69</c:v>
                </c:pt>
                <c:pt idx="7">
                  <c:v>63</c:v>
                </c:pt>
                <c:pt idx="8">
                  <c:v>73</c:v>
                </c:pt>
                <c:pt idx="9">
                  <c:v>72</c:v>
                </c:pt>
                <c:pt idx="10">
                  <c:v>72</c:v>
                </c:pt>
                <c:pt idx="11">
                  <c:v>80</c:v>
                </c:pt>
                <c:pt idx="12">
                  <c:v>70</c:v>
                </c:pt>
                <c:pt idx="13">
                  <c:v>73</c:v>
                </c:pt>
                <c:pt idx="14">
                  <c:v>79</c:v>
                </c:pt>
                <c:pt idx="15">
                  <c:v>77</c:v>
                </c:pt>
                <c:pt idx="16">
                  <c:v>75</c:v>
                </c:pt>
              </c:numCache>
            </c:numRef>
          </c:yVal>
        </c:ser>
        <c:ser>
          <c:idx val="6"/>
          <c:order val="6"/>
          <c:tx>
            <c:v>Japan</c:v>
          </c:tx>
          <c:spPr>
            <a:ln xmlns:a="http://schemas.openxmlformats.org/drawingml/2006/main" w="0">
              <a:noFill/>
            </a:ln>
          </c:spPr>
          <c:marker>
            <c:symbol val="circle"/>
            <c:size val="7"/>
            <c:spPr>
              <a:solidFill xmlns:a="http://schemas.openxmlformats.org/drawingml/2006/main">
                <a:srgbClr val="B23C50"/>
              </a:solidFill>
            </c:spPr>
          </c:marker>
          <c:dLbls>
            <c:dLbl>
              <c:idx val="0"/>
              <c:tx>
                <c:rich>
                  <a:bodyPr xmlns:a="http://schemas.openxmlformats.org/drawingml/2006/main"/>
                  <a:lstStyle xmlns:a="http://schemas.openxmlformats.org/drawingml/2006/main"/>
                  <a:p xmlns:a="http://schemas.openxmlformats.org/drawingml/2006/main">
                    <a:r>
                      <a:rPr sz="1575">
                        <a:solidFill>
                          <a:srgbClr val="B23C50"/>
                        </a:solidFill>
                        <a:latin typeface="Ubuntu Condensed"/>
                        <a:ea typeface="Ubuntu Condensed"/>
                        <a:cs typeface="Ubuntu Condensed"/>
                      </a:rPr>
                      <a:t>Japan</a:t>
                    </a:r>
                  </a:p>
                </c:rich>
              </c:tx>
              <c:txPr>
                <a:bodyPr xmlns:a="http://schemas.openxmlformats.org/drawingml/2006/main" anchorCtr="1"/>
                <a:lstStyle xmlns:a="http://schemas.openxmlformats.org/drawingml/2006/main"/>
                <a:p xmlns:a="http://schemas.openxmlformats.org/drawingml/2006/main">
                  <a:pPr>
                    <a:defRPr sz="1575">
                      <a:solidFill>
                        <a:srgbClr val="B23C50"/>
                      </a:solidFill>
                      <a:latin typeface="Ubuntu Condensed"/>
                      <a:ea typeface="Ubuntu Condensed"/>
                      <a:cs typeface="Ubuntu Condensed"/>
                    </a:defRPr>
                  </a:pPr>
                </a:p>
              </c:txPr>
              <c:dLblPos val="t"/>
              <c:showVal val="0"/>
            </c:dLbl>
          </c:dLbls>
          <c:xVal>
            <c:numRef>
              <c:f>'Chart Data'!$M$2:$M$2</c:f>
              <c:numCache>
                <c:formatCode>General</c:formatCode>
                <c:ptCount val="1"/>
                <c:pt idx="0">
                  <c:v>39800</c:v>
                </c:pt>
              </c:numCache>
            </c:numRef>
          </c:xVal>
          <c:yVal>
            <c:numRef>
              <c:f>'Chart Data'!$N$2:$N$2</c:f>
              <c:numCache>
                <c:formatCode>General</c:formatCode>
                <c:ptCount val="1"/>
                <c:pt idx="0">
                  <c:v>85</c:v>
                </c:pt>
              </c:numCache>
            </c:numRef>
          </c:y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scatterChart>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75">
                    <a:solidFill>
                      <a:srgbClr val="38332E"/>
                    </a:solidFill>
                    <a:latin typeface="Ubuntu Condensed"/>
                    <a:ea typeface="Ubuntu Condensed"/>
                    <a:cs typeface="Ubuntu Condensed"/>
                  </a:rPr>
                  <a:t>Life Expectancy</a:t>
                </a:r>
              </a:p>
            </c:rich>
          </c:tx>
          <c:overlay val="0"/>
          <c:txPr>
            <a:bodyPr xmlns:a="http://schemas.openxmlformats.org/drawingml/2006/main" anchorCtr="1"/>
            <a:lstStyle xmlns:a="http://schemas.openxmlformats.org/drawingml/2006/main"/>
            <a:p xmlns:a="http://schemas.openxmlformats.org/drawingml/2006/main">
              <a:pPr>
                <a:defRPr sz="1575">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81796F"/>
                </a:solidFill>
                <a:latin typeface="Ubuntu Condensed"/>
                <a:ea typeface="Ubuntu Condensed"/>
                <a:cs typeface="Ubuntu Condensed"/>
              </a:defRPr>
            </a:pPr>
          </a:p>
        </c:txPr>
        <c:crossAx val="48650112"/>
        <c:majorUnit val="10"/>
      </c:valAx>
      <c:valAx>
        <c:axId val="48650112"/>
        <c:scaling>
          <c:orientation val="minMax"/>
          <c:max val="220000"/>
          <c:min val="0"/>
        </c:scaling>
        <c:delete val="0"/>
        <c:axPos val="b"/>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75">
                    <a:solidFill>
                      <a:srgbClr val="38332E"/>
                    </a:solidFill>
                    <a:latin typeface="Ubuntu Condensed"/>
                    <a:ea typeface="Ubuntu Condensed"/>
                    <a:cs typeface="Ubuntu Condensed"/>
                  </a:rPr>
                  <a:t>GDP</a:t>
                </a:r>
              </a:p>
            </c:rich>
          </c:tx>
          <c:overlay val="0"/>
          <c:txPr>
            <a:bodyPr xmlns:a="http://schemas.openxmlformats.org/drawingml/2006/main" anchorCtr="1"/>
            <a:lstStyle xmlns:a="http://schemas.openxmlformats.org/drawingml/2006/main"/>
            <a:p xmlns:a="http://schemas.openxmlformats.org/drawingml/2006/main">
              <a:pPr>
                <a:defRPr sz="1575">
                  <a:solidFill>
                    <a:srgbClr val="38332E"/>
                  </a:solidFill>
                  <a:latin typeface="Ubuntu Condensed"/>
                  <a:ea typeface="Ubuntu Condensed"/>
                  <a:cs typeface="Ubuntu Condensed"/>
                </a:defRPr>
              </a:pPr>
            </a:p>
          </c:txPr>
        </c:title>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81796F"/>
                </a:solidFill>
                <a:latin typeface="Ubuntu Condensed"/>
                <a:ea typeface="Ubuntu Condensed"/>
                <a:cs typeface="Ubuntu Condensed"/>
              </a:defRPr>
            </a:pPr>
          </a:p>
        </c:txPr>
        <c:crossAx val="48672768"/>
        <c:majorUnit val="10000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68</c:v>
                </c:pt>
                <c:pt idx="1">
                  <c:v>70</c:v>
                </c:pt>
                <c:pt idx="2">
                  <c:v>72</c:v>
                </c:pt>
                <c:pt idx="3">
                  <c:v>74</c:v>
                </c:pt>
                <c:pt idx="4">
                  <c:v>76</c:v>
                </c:pt>
                <c:pt idx="5">
                  <c:v>78</c:v>
                </c:pt>
                <c:pt idx="6">
                  <c:v>79</c:v>
                </c:pt>
                <c:pt idx="7">
                  <c:v>80</c:v>
                </c:pt>
                <c:pt idx="8">
                  <c:v>81</c:v>
                </c:pt>
                <c:pt idx="9">
                  <c:v>82</c:v>
                </c:pt>
                <c:pt idx="10">
                  <c:v>83</c:v>
                </c:pt>
                <c:pt idx="11">
                  <c:v>84</c:v>
                </c:pt>
                <c:pt idx="12">
                  <c:v>85</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72768"/>
      </c:catAx>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275">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1275">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50112"/>
        <c:crossBetween val="between"/>
        <c:majorUnit val="25"/>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7140</c:v>
                </c:pt>
                <c:pt idx="1">
                  <c:v>10500</c:v>
                </c:pt>
                <c:pt idx="2">
                  <c:v>17000</c:v>
                </c:pt>
                <c:pt idx="3">
                  <c:v>19700</c:v>
                </c:pt>
                <c:pt idx="4">
                  <c:v>23200</c:v>
                </c:pt>
                <c:pt idx="5">
                  <c:v>26900</c:v>
                </c:pt>
                <c:pt idx="6">
                  <c:v>33100</c:v>
                </c:pt>
                <c:pt idx="7">
                  <c:v>35100</c:v>
                </c:pt>
                <c:pt idx="8">
                  <c:v>36400</c:v>
                </c:pt>
                <c:pt idx="9">
                  <c:v>38200</c:v>
                </c:pt>
                <c:pt idx="10">
                  <c:v>37900</c:v>
                </c:pt>
                <c:pt idx="11">
                  <c:v>40200</c:v>
                </c:pt>
                <c:pt idx="12">
                  <c:v>39800</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72768"/>
      </c:catAx>
      <c:valAx>
        <c:axId val="48672768"/>
        <c:scaling>
          <c:orientation val="minMax"/>
          <c:max val="45000"/>
          <c:min val="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275">
                    <a:solidFill>
                      <a:srgbClr val="38332E"/>
                    </a:solidFill>
                    <a:latin typeface="Ubuntu Condensed"/>
                    <a:ea typeface="Ubuntu Condensed"/>
                    <a:cs typeface="Ubuntu Condensed"/>
                  </a:rPr>
                  <a:t>GDP</a:t>
                </a:r>
              </a:p>
            </c:rich>
          </c:tx>
          <c:overlay val="0"/>
          <c:txPr>
            <a:bodyPr xmlns:a="http://schemas.openxmlformats.org/drawingml/2006/main" anchorCtr="1"/>
            <a:lstStyle xmlns:a="http://schemas.openxmlformats.org/drawingml/2006/main"/>
            <a:p xmlns:a="http://schemas.openxmlformats.org/drawingml/2006/main">
              <a:pPr>
                <a:defRPr sz="1275">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81796F"/>
                </a:solidFill>
                <a:latin typeface="Ubuntu Condensed"/>
                <a:ea typeface="Ubuntu Condensed"/>
                <a:cs typeface="Ubuntu Condensed"/>
              </a:defRPr>
            </a:pPr>
          </a:p>
        </c:txPr>
        <c:crossAx val="48650112"/>
        <c:crossBetween val="between"/>
        <c:majorUnit val="2000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marker"/>
        <c:varyColors val="0"/>
        <c:ser>
          <c:idx val="0"/>
          <c:order val="0"/>
          <c:tx>
            <c:v>Africa</c:v>
          </c:tx>
          <c:spPr>
            <a:ln xmlns:a="http://schemas.openxmlformats.org/drawingml/2006/main" w="0">
              <a:noFill/>
            </a:ln>
          </c:spPr>
          <c:marker>
            <c:symbol val="circle"/>
            <c:size val="4"/>
            <c:spPr>
              <a:solidFill xmlns:a="http://schemas.openxmlformats.org/drawingml/2006/main">
                <a:srgbClr val="94A480"/>
              </a:solidFill>
            </c:spPr>
          </c:marker>
          <c:xVal>
            <c:numRef>
              <c:f>'Chart Data'!$A$2:$A$53</c:f>
              <c:numCache>
                <c:formatCode>General</c:formatCode>
                <c:ptCount val="52"/>
                <c:pt idx="0">
                  <c:v>10800</c:v>
                </c:pt>
                <c:pt idx="1">
                  <c:v>6030</c:v>
                </c:pt>
                <c:pt idx="2">
                  <c:v>3190</c:v>
                </c:pt>
                <c:pt idx="3">
                  <c:v>13500</c:v>
                </c:pt>
                <c:pt idx="4">
                  <c:v>2090</c:v>
                </c:pt>
                <c:pt idx="5">
                  <c:v>711</c:v>
                </c:pt>
                <c:pt idx="6">
                  <c:v>3680</c:v>
                </c:pt>
                <c:pt idx="7">
                  <c:v>847</c:v>
                </c:pt>
                <c:pt idx="8">
                  <c:v>1490</c:v>
                </c:pt>
                <c:pt idx="9">
                  <c:v>3220</c:v>
                </c:pt>
                <c:pt idx="10">
                  <c:v>1040</c:v>
                </c:pt>
                <c:pt idx="11">
                  <c:v>5090</c:v>
                </c:pt>
                <c:pt idx="12">
                  <c:v>4770</c:v>
                </c:pt>
                <c:pt idx="13">
                  <c:v>12000</c:v>
                </c:pt>
                <c:pt idx="14">
                  <c:v>14900</c:v>
                </c:pt>
                <c:pt idx="15">
                  <c:v>1820</c:v>
                </c:pt>
                <c:pt idx="16">
                  <c:v>8080</c:v>
                </c:pt>
                <c:pt idx="17">
                  <c:v>2250</c:v>
                </c:pt>
                <c:pt idx="18">
                  <c:v>13900</c:v>
                </c:pt>
                <c:pt idx="19">
                  <c:v>2020</c:v>
                </c:pt>
                <c:pt idx="20">
                  <c:v>5280</c:v>
                </c:pt>
                <c:pt idx="21">
                  <c:v>2600</c:v>
                </c:pt>
                <c:pt idx="22">
                  <c:v>1760</c:v>
                </c:pt>
                <c:pt idx="23">
                  <c:v>4500</c:v>
                </c:pt>
                <c:pt idx="24">
                  <c:v>2280</c:v>
                </c:pt>
                <c:pt idx="25">
                  <c:v>1380</c:v>
                </c:pt>
                <c:pt idx="26">
                  <c:v>15600</c:v>
                </c:pt>
                <c:pt idx="27">
                  <c:v>1440</c:v>
                </c:pt>
                <c:pt idx="28">
                  <c:v>1490</c:v>
                </c:pt>
                <c:pt idx="29">
                  <c:v>2120</c:v>
                </c:pt>
                <c:pt idx="30">
                  <c:v>5400</c:v>
                </c:pt>
                <c:pt idx="31">
                  <c:v>20200</c:v>
                </c:pt>
                <c:pt idx="32">
                  <c:v>7540</c:v>
                </c:pt>
                <c:pt idx="33">
                  <c:v>1230</c:v>
                </c:pt>
                <c:pt idx="34">
                  <c:v>9030</c:v>
                </c:pt>
                <c:pt idx="35">
                  <c:v>1210</c:v>
                </c:pt>
                <c:pt idx="36">
                  <c:v>4870</c:v>
                </c:pt>
                <c:pt idx="37">
                  <c:v>2070</c:v>
                </c:pt>
                <c:pt idx="38">
                  <c:v>4060</c:v>
                </c:pt>
                <c:pt idx="39">
                  <c:v>3380</c:v>
                </c:pt>
                <c:pt idx="40">
                  <c:v>27700</c:v>
                </c:pt>
                <c:pt idx="41">
                  <c:v>1590</c:v>
                </c:pt>
                <c:pt idx="42">
                  <c:v>1140</c:v>
                </c:pt>
                <c:pt idx="43">
                  <c:v>12800</c:v>
                </c:pt>
                <c:pt idx="44">
                  <c:v>387</c:v>
                </c:pt>
                <c:pt idx="45">
                  <c:v>3870</c:v>
                </c:pt>
                <c:pt idx="46">
                  <c:v>2550</c:v>
                </c:pt>
                <c:pt idx="47">
                  <c:v>2060</c:v>
                </c:pt>
                <c:pt idx="48">
                  <c:v>10000</c:v>
                </c:pt>
                <c:pt idx="49">
                  <c:v>2240</c:v>
                </c:pt>
                <c:pt idx="50">
                  <c:v>3130</c:v>
                </c:pt>
                <c:pt idx="51">
                  <c:v>1990</c:v>
                </c:pt>
              </c:numCache>
            </c:numRef>
          </c:xVal>
          <c:yVal>
            <c:numRef>
              <c:f>'Chart Data'!$B$2:$B$53</c:f>
              <c:numCache>
                <c:formatCode>General</c:formatCode>
                <c:ptCount val="52"/>
                <c:pt idx="0">
                  <c:v>74</c:v>
                </c:pt>
                <c:pt idx="1">
                  <c:v>64</c:v>
                </c:pt>
                <c:pt idx="2">
                  <c:v>64</c:v>
                </c:pt>
                <c:pt idx="3">
                  <c:v>62</c:v>
                </c:pt>
                <c:pt idx="4">
                  <c:v>61</c:v>
                </c:pt>
                <c:pt idx="5">
                  <c:v>63</c:v>
                </c:pt>
                <c:pt idx="6">
                  <c:v>62</c:v>
                </c:pt>
                <c:pt idx="7">
                  <c:v>52</c:v>
                </c:pt>
                <c:pt idx="8">
                  <c:v>59</c:v>
                </c:pt>
                <c:pt idx="9">
                  <c:v>68</c:v>
                </c:pt>
                <c:pt idx="10">
                  <c:v>64</c:v>
                </c:pt>
                <c:pt idx="11">
                  <c:v>63</c:v>
                </c:pt>
                <c:pt idx="12">
                  <c:v>66</c:v>
                </c:pt>
                <c:pt idx="13">
                  <c:v>70</c:v>
                </c:pt>
                <c:pt idx="14">
                  <c:v>65</c:v>
                </c:pt>
                <c:pt idx="15">
                  <c:v>63</c:v>
                </c:pt>
                <c:pt idx="16">
                  <c:v>57</c:v>
                </c:pt>
                <c:pt idx="17">
                  <c:v>68</c:v>
                </c:pt>
                <c:pt idx="18">
                  <c:v>67</c:v>
                </c:pt>
                <c:pt idx="19">
                  <c:v>65</c:v>
                </c:pt>
                <c:pt idx="20">
                  <c:v>65</c:v>
                </c:pt>
                <c:pt idx="21">
                  <c:v>60</c:v>
                </c:pt>
                <c:pt idx="22">
                  <c:v>60</c:v>
                </c:pt>
                <c:pt idx="23">
                  <c:v>66</c:v>
                </c:pt>
                <c:pt idx="24">
                  <c:v>52</c:v>
                </c:pt>
                <c:pt idx="25">
                  <c:v>65</c:v>
                </c:pt>
                <c:pt idx="26">
                  <c:v>75</c:v>
                </c:pt>
                <c:pt idx="27">
                  <c:v>64</c:v>
                </c:pt>
                <c:pt idx="28">
                  <c:v>64</c:v>
                </c:pt>
                <c:pt idx="29">
                  <c:v>60</c:v>
                </c:pt>
                <c:pt idx="30">
                  <c:v>69</c:v>
                </c:pt>
                <c:pt idx="31">
                  <c:v>74</c:v>
                </c:pt>
                <c:pt idx="32">
                  <c:v>73</c:v>
                </c:pt>
                <c:pt idx="33">
                  <c:v>58</c:v>
                </c:pt>
                <c:pt idx="34">
                  <c:v>65</c:v>
                </c:pt>
                <c:pt idx="35">
                  <c:v>61</c:v>
                </c:pt>
                <c:pt idx="36">
                  <c:v>64</c:v>
                </c:pt>
                <c:pt idx="37">
                  <c:v>69</c:v>
                </c:pt>
                <c:pt idx="38">
                  <c:v>70</c:v>
                </c:pt>
                <c:pt idx="39">
                  <c:v>68</c:v>
                </c:pt>
                <c:pt idx="40">
                  <c:v>72</c:v>
                </c:pt>
                <c:pt idx="41">
                  <c:v>61</c:v>
                </c:pt>
                <c:pt idx="42">
                  <c:v>57</c:v>
                </c:pt>
                <c:pt idx="43">
                  <c:v>64</c:v>
                </c:pt>
                <c:pt idx="44">
                  <c:v>63</c:v>
                </c:pt>
                <c:pt idx="45">
                  <c:v>70</c:v>
                </c:pt>
                <c:pt idx="46">
                  <c:v>66</c:v>
                </c:pt>
                <c:pt idx="47">
                  <c:v>65</c:v>
                </c:pt>
                <c:pt idx="48">
                  <c:v>77</c:v>
                </c:pt>
                <c:pt idx="49">
                  <c:v>66</c:v>
                </c:pt>
                <c:pt idx="50">
                  <c:v>62</c:v>
                </c:pt>
                <c:pt idx="51">
                  <c:v>60</c:v>
                </c:pt>
              </c:numCache>
            </c:numRef>
          </c:yVal>
        </c:ser>
        <c:ser>
          <c:idx val="1"/>
          <c:order val="1"/>
          <c:tx>
            <c:v>Americas</c:v>
          </c:tx>
          <c:spPr>
            <a:ln xmlns:a="http://schemas.openxmlformats.org/drawingml/2006/main" w="0">
              <a:noFill/>
            </a:ln>
          </c:spPr>
          <c:marker>
            <c:symbol val="circle"/>
            <c:size val="4"/>
            <c:spPr>
              <a:solidFill xmlns:a="http://schemas.openxmlformats.org/drawingml/2006/main">
                <a:srgbClr val="B59A72"/>
              </a:solidFill>
            </c:spPr>
          </c:marker>
          <c:xVal>
            <c:numRef>
              <c:f>'Chart Data'!$C$2:$C$33</c:f>
              <c:numCache>
                <c:formatCode>General</c:formatCode>
                <c:ptCount val="32"/>
                <c:pt idx="0">
                  <c:v>18500</c:v>
                </c:pt>
                <c:pt idx="1">
                  <c:v>19600</c:v>
                </c:pt>
                <c:pt idx="2">
                  <c:v>26100</c:v>
                </c:pt>
                <c:pt idx="3">
                  <c:v>13900</c:v>
                </c:pt>
                <c:pt idx="4">
                  <c:v>7530</c:v>
                </c:pt>
                <c:pt idx="5">
                  <c:v>14100</c:v>
                </c:pt>
                <c:pt idx="6">
                  <c:v>46100</c:v>
                </c:pt>
                <c:pt idx="7">
                  <c:v>23100</c:v>
                </c:pt>
                <c:pt idx="8">
                  <c:v>13400</c:v>
                </c:pt>
                <c:pt idx="9">
                  <c:v>19700</c:v>
                </c:pt>
                <c:pt idx="10">
                  <c:v>8430</c:v>
                </c:pt>
                <c:pt idx="11">
                  <c:v>10300</c:v>
                </c:pt>
                <c:pt idx="12">
                  <c:v>16800</c:v>
                </c:pt>
                <c:pt idx="13">
                  <c:v>9830</c:v>
                </c:pt>
                <c:pt idx="14">
                  <c:v>8240</c:v>
                </c:pt>
                <c:pt idx="15">
                  <c:v>13200</c:v>
                </c:pt>
                <c:pt idx="16">
                  <c:v>8390</c:v>
                </c:pt>
                <c:pt idx="17">
                  <c:v>18400</c:v>
                </c:pt>
                <c:pt idx="18">
                  <c:v>2970</c:v>
                </c:pt>
                <c:pt idx="19">
                  <c:v>5030</c:v>
                </c:pt>
                <c:pt idx="20">
                  <c:v>9210</c:v>
                </c:pt>
                <c:pt idx="21">
                  <c:v>18200</c:v>
                </c:pt>
                <c:pt idx="22">
                  <c:v>5230</c:v>
                </c:pt>
                <c:pt idx="23">
                  <c:v>26600</c:v>
                </c:pt>
                <c:pt idx="24">
                  <c:v>13300</c:v>
                </c:pt>
                <c:pt idx="25">
                  <c:v>11200</c:v>
                </c:pt>
                <c:pt idx="26">
                  <c:v>11700</c:v>
                </c:pt>
                <c:pt idx="27">
                  <c:v>13700</c:v>
                </c:pt>
                <c:pt idx="28">
                  <c:v>15300</c:v>
                </c:pt>
                <c:pt idx="29">
                  <c:v>23400</c:v>
                </c:pt>
                <c:pt idx="30">
                  <c:v>22000</c:v>
                </c:pt>
                <c:pt idx="31">
                  <c:v>5440</c:v>
                </c:pt>
              </c:numCache>
            </c:numRef>
          </c:xVal>
          <c:yVal>
            <c:numRef>
              <c:f>'Chart Data'!$D$2:$D$33</c:f>
              <c:numCache>
                <c:formatCode>General</c:formatCode>
                <c:ptCount val="32"/>
                <c:pt idx="0">
                  <c:v>76</c:v>
                </c:pt>
                <c:pt idx="1">
                  <c:v>75</c:v>
                </c:pt>
                <c:pt idx="2">
                  <c:v>74</c:v>
                </c:pt>
                <c:pt idx="3">
                  <c:v>76</c:v>
                </c:pt>
                <c:pt idx="4">
                  <c:v>73</c:v>
                </c:pt>
                <c:pt idx="5">
                  <c:v>74</c:v>
                </c:pt>
                <c:pt idx="6">
                  <c:v>81</c:v>
                </c:pt>
                <c:pt idx="7">
                  <c:v>79</c:v>
                </c:pt>
                <c:pt idx="8">
                  <c:v>78</c:v>
                </c:pt>
                <c:pt idx="9">
                  <c:v>79</c:v>
                </c:pt>
                <c:pt idx="10">
                  <c:v>78</c:v>
                </c:pt>
                <c:pt idx="11">
                  <c:v>72</c:v>
                </c:pt>
                <c:pt idx="12">
                  <c:v>72</c:v>
                </c:pt>
                <c:pt idx="13">
                  <c:v>71</c:v>
                </c:pt>
                <c:pt idx="14">
                  <c:v>74</c:v>
                </c:pt>
                <c:pt idx="15">
                  <c:v>73</c:v>
                </c:pt>
                <c:pt idx="16">
                  <c:v>71</c:v>
                </c:pt>
                <c:pt idx="17">
                  <c:v>66</c:v>
                </c:pt>
                <c:pt idx="18">
                  <c:v>63</c:v>
                </c:pt>
                <c:pt idx="19">
                  <c:v>70</c:v>
                </c:pt>
                <c:pt idx="20">
                  <c:v>76</c:v>
                </c:pt>
                <c:pt idx="21">
                  <c:v>71</c:v>
                </c:pt>
                <c:pt idx="22">
                  <c:v>73</c:v>
                </c:pt>
                <c:pt idx="23">
                  <c:v>78</c:v>
                </c:pt>
                <c:pt idx="24">
                  <c:v>76</c:v>
                </c:pt>
                <c:pt idx="25">
                  <c:v>77</c:v>
                </c:pt>
                <c:pt idx="26">
                  <c:v>75</c:v>
                </c:pt>
                <c:pt idx="27">
                  <c:v>72</c:v>
                </c:pt>
                <c:pt idx="28">
                  <c:v>73</c:v>
                </c:pt>
                <c:pt idx="29">
                  <c:v>75</c:v>
                </c:pt>
                <c:pt idx="30">
                  <c:v>78</c:v>
                </c:pt>
                <c:pt idx="31">
                  <c:v>73</c:v>
                </c:pt>
              </c:numCache>
            </c:numRef>
          </c:yVal>
        </c:ser>
        <c:ser>
          <c:idx val="2"/>
          <c:order val="2"/>
          <c:tx>
            <c:v>Asia</c:v>
          </c:tx>
          <c:spPr>
            <a:ln xmlns:a="http://schemas.openxmlformats.org/drawingml/2006/main" w="0">
              <a:noFill/>
            </a:ln>
          </c:spPr>
          <c:marker>
            <c:symbol val="circle"/>
            <c:size val="4"/>
            <c:spPr>
              <a:solidFill xmlns:a="http://schemas.openxmlformats.org/drawingml/2006/main">
                <a:srgbClr val="9CAEB0"/>
              </a:solidFill>
            </c:spPr>
          </c:marker>
          <c:xVal>
            <c:numRef>
              <c:f>'Chart Data'!$E$2:$E$41</c:f>
              <c:numCache>
                <c:formatCode>General</c:formatCode>
                <c:ptCount val="40"/>
                <c:pt idx="0">
                  <c:v>1970</c:v>
                </c:pt>
                <c:pt idx="1">
                  <c:v>13300</c:v>
                </c:pt>
                <c:pt idx="2">
                  <c:v>13700</c:v>
                </c:pt>
                <c:pt idx="3">
                  <c:v>48000</c:v>
                </c:pt>
                <c:pt idx="4">
                  <c:v>5590</c:v>
                </c:pt>
                <c:pt idx="5">
                  <c:v>10500</c:v>
                </c:pt>
                <c:pt idx="6">
                  <c:v>4280</c:v>
                </c:pt>
                <c:pt idx="7">
                  <c:v>16300</c:v>
                </c:pt>
                <c:pt idx="8">
                  <c:v>38300</c:v>
                </c:pt>
                <c:pt idx="9">
                  <c:v>13900</c:v>
                </c:pt>
                <c:pt idx="10">
                  <c:v>6140</c:v>
                </c:pt>
                <c:pt idx="11">
                  <c:v>11500</c:v>
                </c:pt>
                <c:pt idx="12">
                  <c:v>8860</c:v>
                </c:pt>
                <c:pt idx="13">
                  <c:v>39700</c:v>
                </c:pt>
                <c:pt idx="14">
                  <c:v>9060</c:v>
                </c:pt>
                <c:pt idx="15">
                  <c:v>43800</c:v>
                </c:pt>
                <c:pt idx="16">
                  <c:v>4810</c:v>
                </c:pt>
                <c:pt idx="17">
                  <c:v>13800</c:v>
                </c:pt>
                <c:pt idx="18">
                  <c:v>25800</c:v>
                </c:pt>
                <c:pt idx="19">
                  <c:v>13800</c:v>
                </c:pt>
                <c:pt idx="20">
                  <c:v>11700</c:v>
                </c:pt>
                <c:pt idx="21">
                  <c:v>4620</c:v>
                </c:pt>
                <c:pt idx="22">
                  <c:v>3760</c:v>
                </c:pt>
                <c:pt idx="23">
                  <c:v>1810</c:v>
                </c:pt>
                <c:pt idx="24">
                  <c:v>33100</c:v>
                </c:pt>
                <c:pt idx="25">
                  <c:v>5000</c:v>
                </c:pt>
                <c:pt idx="26">
                  <c:v>5400</c:v>
                </c:pt>
                <c:pt idx="27">
                  <c:v>7770</c:v>
                </c:pt>
                <c:pt idx="28">
                  <c:v>89000</c:v>
                </c:pt>
                <c:pt idx="29">
                  <c:v>44300</c:v>
                </c:pt>
                <c:pt idx="30">
                  <c:v>94200</c:v>
                </c:pt>
                <c:pt idx="31">
                  <c:v>42400</c:v>
                </c:pt>
                <c:pt idx="32">
                  <c:v>12900</c:v>
                </c:pt>
                <c:pt idx="33">
                  <c:v>3520</c:v>
                </c:pt>
                <c:pt idx="34">
                  <c:v>3650</c:v>
                </c:pt>
                <c:pt idx="35">
                  <c:v>16900</c:v>
                </c:pt>
                <c:pt idx="36">
                  <c:v>4860</c:v>
                </c:pt>
                <c:pt idx="37">
                  <c:v>28500</c:v>
                </c:pt>
                <c:pt idx="38">
                  <c:v>7410</c:v>
                </c:pt>
                <c:pt idx="39">
                  <c:v>1780</c:v>
                </c:pt>
              </c:numCache>
            </c:numRef>
          </c:xVal>
          <c:yVal>
            <c:numRef>
              <c:f>'Chart Data'!$F$2:$F$41</c:f>
              <c:numCache>
                <c:formatCode>General</c:formatCode>
                <c:ptCount val="40"/>
                <c:pt idx="0">
                  <c:v>62</c:v>
                </c:pt>
                <c:pt idx="1">
                  <c:v>72</c:v>
                </c:pt>
                <c:pt idx="2">
                  <c:v>64</c:v>
                </c:pt>
                <c:pt idx="3">
                  <c:v>76</c:v>
                </c:pt>
                <c:pt idx="4">
                  <c:v>73</c:v>
                </c:pt>
                <c:pt idx="5">
                  <c:v>73</c:v>
                </c:pt>
                <c:pt idx="6">
                  <c:v>69</c:v>
                </c:pt>
                <c:pt idx="7">
                  <c:v>77</c:v>
                </c:pt>
                <c:pt idx="8">
                  <c:v>80</c:v>
                </c:pt>
                <c:pt idx="9">
                  <c:v>72</c:v>
                </c:pt>
                <c:pt idx="10">
                  <c:v>70</c:v>
                </c:pt>
                <c:pt idx="11">
                  <c:v>69</c:v>
                </c:pt>
                <c:pt idx="12">
                  <c:v>70</c:v>
                </c:pt>
                <c:pt idx="13">
                  <c:v>82</c:v>
                </c:pt>
                <c:pt idx="14">
                  <c:v>77</c:v>
                </c:pt>
                <c:pt idx="15">
                  <c:v>78</c:v>
                </c:pt>
                <c:pt idx="16">
                  <c:v>71</c:v>
                </c:pt>
                <c:pt idx="17">
                  <c:v>75</c:v>
                </c:pt>
                <c:pt idx="18">
                  <c:v>75</c:v>
                </c:pt>
                <c:pt idx="19">
                  <c:v>78</c:v>
                </c:pt>
                <c:pt idx="20">
                  <c:v>68</c:v>
                </c:pt>
                <c:pt idx="21">
                  <c:v>69</c:v>
                </c:pt>
                <c:pt idx="22">
                  <c:v>70</c:v>
                </c:pt>
                <c:pt idx="23">
                  <c:v>73</c:v>
                </c:pt>
                <c:pt idx="24">
                  <c:v>70</c:v>
                </c:pt>
                <c:pt idx="25">
                  <c:v>65</c:v>
                </c:pt>
                <c:pt idx="26">
                  <c:v>74</c:v>
                </c:pt>
                <c:pt idx="27">
                  <c:v>72</c:v>
                </c:pt>
                <c:pt idx="28">
                  <c:v>74</c:v>
                </c:pt>
                <c:pt idx="29">
                  <c:v>73</c:v>
                </c:pt>
                <c:pt idx="30">
                  <c:v>83</c:v>
                </c:pt>
                <c:pt idx="31">
                  <c:v>82</c:v>
                </c:pt>
                <c:pt idx="32">
                  <c:v>77</c:v>
                </c:pt>
                <c:pt idx="33">
                  <c:v>74</c:v>
                </c:pt>
                <c:pt idx="34">
                  <c:v>66</c:v>
                </c:pt>
                <c:pt idx="35">
                  <c:v>78</c:v>
                </c:pt>
                <c:pt idx="36">
                  <c:v>70</c:v>
                </c:pt>
                <c:pt idx="37">
                  <c:v>76</c:v>
                </c:pt>
                <c:pt idx="38">
                  <c:v>67</c:v>
                </c:pt>
                <c:pt idx="39">
                  <c:v>67</c:v>
                </c:pt>
              </c:numCache>
            </c:numRef>
          </c:yVal>
        </c:ser>
        <c:ser>
          <c:idx val="3"/>
          <c:order val="3"/>
          <c:tx>
            <c:v>Europe</c:v>
          </c:tx>
          <c:spPr>
            <a:ln xmlns:a="http://schemas.openxmlformats.org/drawingml/2006/main" w="0">
              <a:noFill/>
            </a:ln>
          </c:spPr>
          <c:marker>
            <c:symbol val="circle"/>
            <c:size val="4"/>
            <c:spPr>
              <a:solidFill xmlns:a="http://schemas.openxmlformats.org/drawingml/2006/main">
                <a:srgbClr val="AE9EB0"/>
              </a:solidFill>
            </c:spPr>
          </c:marker>
          <c:xVal>
            <c:numRef>
              <c:f>'Chart Data'!$G$2:$G$40</c:f>
              <c:numCache>
                <c:formatCode>General</c:formatCode>
                <c:ptCount val="39"/>
                <c:pt idx="0">
                  <c:v>13300</c:v>
                </c:pt>
                <c:pt idx="1">
                  <c:v>49700</c:v>
                </c:pt>
                <c:pt idx="2">
                  <c:v>52100</c:v>
                </c:pt>
                <c:pt idx="3">
                  <c:v>19200</c:v>
                </c:pt>
                <c:pt idx="4">
                  <c:v>48700</c:v>
                </c:pt>
                <c:pt idx="5">
                  <c:v>14600</c:v>
                </c:pt>
                <c:pt idx="6">
                  <c:v>22500</c:v>
                </c:pt>
                <c:pt idx="7">
                  <c:v>27000</c:v>
                </c:pt>
                <c:pt idx="8">
                  <c:v>38600</c:v>
                </c:pt>
                <c:pt idx="9">
                  <c:v>54500</c:v>
                </c:pt>
                <c:pt idx="10">
                  <c:v>36100</c:v>
                </c:pt>
                <c:pt idx="11">
                  <c:v>47500</c:v>
                </c:pt>
                <c:pt idx="12">
                  <c:v>42400</c:v>
                </c:pt>
                <c:pt idx="13">
                  <c:v>51600</c:v>
                </c:pt>
                <c:pt idx="14">
                  <c:v>26900</c:v>
                </c:pt>
                <c:pt idx="15">
                  <c:v>31300</c:v>
                </c:pt>
                <c:pt idx="16">
                  <c:v>51200</c:v>
                </c:pt>
                <c:pt idx="17">
                  <c:v>90100</c:v>
                </c:pt>
                <c:pt idx="18">
                  <c:v>38600</c:v>
                </c:pt>
                <c:pt idx="19">
                  <c:v>29800</c:v>
                </c:pt>
                <c:pt idx="20">
                  <c:v>37100</c:v>
                </c:pt>
                <c:pt idx="21">
                  <c:v>110000</c:v>
                </c:pt>
                <c:pt idx="22">
                  <c:v>40800</c:v>
                </c:pt>
                <c:pt idx="23">
                  <c:v>208000</c:v>
                </c:pt>
                <c:pt idx="24">
                  <c:v>18300</c:v>
                </c:pt>
                <c:pt idx="25">
                  <c:v>53600</c:v>
                </c:pt>
                <c:pt idx="26">
                  <c:v>63800</c:v>
                </c:pt>
                <c:pt idx="27">
                  <c:v>32500</c:v>
                </c:pt>
                <c:pt idx="28">
                  <c:v>32100</c:v>
                </c:pt>
                <c:pt idx="29">
                  <c:v>29100</c:v>
                </c:pt>
                <c:pt idx="30">
                  <c:v>26600</c:v>
                </c:pt>
                <c:pt idx="31">
                  <c:v>56400</c:v>
                </c:pt>
                <c:pt idx="32">
                  <c:v>18200</c:v>
                </c:pt>
                <c:pt idx="33">
                  <c:v>31000</c:v>
                </c:pt>
                <c:pt idx="34">
                  <c:v>37100</c:v>
                </c:pt>
                <c:pt idx="35">
                  <c:v>35700</c:v>
                </c:pt>
                <c:pt idx="36">
                  <c:v>51000</c:v>
                </c:pt>
                <c:pt idx="37">
                  <c:v>67000</c:v>
                </c:pt>
                <c:pt idx="38">
                  <c:v>12400</c:v>
                </c:pt>
              </c:numCache>
            </c:numRef>
          </c:xVal>
          <c:yVal>
            <c:numRef>
              <c:f>'Chart Data'!$H$2:$H$40</c:f>
              <c:numCache>
                <c:formatCode>General</c:formatCode>
                <c:ptCount val="39"/>
                <c:pt idx="0">
                  <c:v>76</c:v>
                </c:pt>
                <c:pt idx="1">
                  <c:v>78</c:v>
                </c:pt>
                <c:pt idx="2">
                  <c:v>81</c:v>
                </c:pt>
                <c:pt idx="3">
                  <c:v>72</c:v>
                </c:pt>
                <c:pt idx="4">
                  <c:v>80</c:v>
                </c:pt>
                <c:pt idx="5">
                  <c:v>76</c:v>
                </c:pt>
                <c:pt idx="6">
                  <c:v>72</c:v>
                </c:pt>
                <c:pt idx="7">
                  <c:v>77</c:v>
                </c:pt>
                <c:pt idx="8">
                  <c:v>78</c:v>
                </c:pt>
                <c:pt idx="9">
                  <c:v>81</c:v>
                </c:pt>
                <c:pt idx="10">
                  <c:v>77</c:v>
                </c:pt>
                <c:pt idx="11">
                  <c:v>81</c:v>
                </c:pt>
                <c:pt idx="12">
                  <c:v>82</c:v>
                </c:pt>
                <c:pt idx="13">
                  <c:v>80</c:v>
                </c:pt>
                <c:pt idx="14">
                  <c:v>80</c:v>
                </c:pt>
                <c:pt idx="15">
                  <c:v>75</c:v>
                </c:pt>
                <c:pt idx="16">
                  <c:v>84</c:v>
                </c:pt>
                <c:pt idx="17">
                  <c:v>82</c:v>
                </c:pt>
                <c:pt idx="18">
                  <c:v>82</c:v>
                </c:pt>
                <c:pt idx="19">
                  <c:v>75</c:v>
                </c:pt>
                <c:pt idx="20">
                  <c:v>75</c:v>
                </c:pt>
                <c:pt idx="21">
                  <c:v>82</c:v>
                </c:pt>
                <c:pt idx="22">
                  <c:v>82</c:v>
                </c:pt>
                <c:pt idx="23">
                  <c:v>80</c:v>
                </c:pt>
                <c:pt idx="24">
                  <c:v>75</c:v>
                </c:pt>
                <c:pt idx="25">
                  <c:v>81</c:v>
                </c:pt>
                <c:pt idx="26">
                  <c:v>83</c:v>
                </c:pt>
                <c:pt idx="27">
                  <c:v>77</c:v>
                </c:pt>
                <c:pt idx="28">
                  <c:v>81</c:v>
                </c:pt>
                <c:pt idx="29">
                  <c:v>74</c:v>
                </c:pt>
                <c:pt idx="30">
                  <c:v>70</c:v>
                </c:pt>
                <c:pt idx="31">
                  <c:v>78</c:v>
                </c:pt>
                <c:pt idx="32">
                  <c:v>74</c:v>
                </c:pt>
                <c:pt idx="33">
                  <c:v>76</c:v>
                </c:pt>
                <c:pt idx="34">
                  <c:v>80</c:v>
                </c:pt>
                <c:pt idx="35">
                  <c:v>81</c:v>
                </c:pt>
                <c:pt idx="36">
                  <c:v>82</c:v>
                </c:pt>
                <c:pt idx="37">
                  <c:v>83</c:v>
                </c:pt>
                <c:pt idx="38">
                  <c:v>71</c:v>
                </c:pt>
              </c:numCache>
            </c:numRef>
          </c:yVal>
        </c:ser>
        <c:ser>
          <c:idx val="4"/>
          <c:order val="4"/>
          <c:tx>
            <c:v>Oceania</c:v>
          </c:tx>
          <c:spPr>
            <a:ln xmlns:a="http://schemas.openxmlformats.org/drawingml/2006/main" w="0">
              <a:noFill/>
            </a:ln>
          </c:spPr>
          <c:marker>
            <c:symbol val="circle"/>
            <c:size val="4"/>
            <c:spPr>
              <a:solidFill xmlns:a="http://schemas.openxmlformats.org/drawingml/2006/main">
                <a:srgbClr val="B1AC83"/>
              </a:solidFill>
            </c:spPr>
          </c:marker>
          <c:xVal>
            <c:numRef>
              <c:f>'Chart Data'!$I$2:$I$14</c:f>
              <c:numCache>
                <c:formatCode>General</c:formatCode>
                <c:ptCount val="13"/>
                <c:pt idx="0">
                  <c:v>48800</c:v>
                </c:pt>
                <c:pt idx="1">
                  <c:v>10900</c:v>
                </c:pt>
                <c:pt idx="2">
                  <c:v>1880</c:v>
                </c:pt>
                <c:pt idx="3">
                  <c:v>5710</c:v>
                </c:pt>
                <c:pt idx="4">
                  <c:v>10400</c:v>
                </c:pt>
                <c:pt idx="5">
                  <c:v>42300</c:v>
                </c:pt>
                <c:pt idx="6">
                  <c:v>16100</c:v>
                </c:pt>
                <c:pt idx="7">
                  <c:v>3770</c:v>
                </c:pt>
                <c:pt idx="8">
                  <c:v>6060</c:v>
                </c:pt>
                <c:pt idx="9">
                  <c:v>2390</c:v>
                </c:pt>
                <c:pt idx="10">
                  <c:v>6360</c:v>
                </c:pt>
                <c:pt idx="11">
                  <c:v>4580</c:v>
                </c:pt>
                <c:pt idx="12">
                  <c:v>2910</c:v>
                </c:pt>
              </c:numCache>
            </c:numRef>
          </c:xVal>
          <c:yVal>
            <c:numRef>
              <c:f>'Chart Data'!$J$2:$J$14</c:f>
              <c:numCache>
                <c:formatCode>General</c:formatCode>
                <c:ptCount val="13"/>
                <c:pt idx="0">
                  <c:v>84</c:v>
                </c:pt>
                <c:pt idx="1">
                  <c:v>68</c:v>
                </c:pt>
                <c:pt idx="2">
                  <c:v>60</c:v>
                </c:pt>
                <c:pt idx="3">
                  <c:v>65</c:v>
                </c:pt>
                <c:pt idx="4">
                  <c:v>63</c:v>
                </c:pt>
                <c:pt idx="5">
                  <c:v>82</c:v>
                </c:pt>
                <c:pt idx="6">
                  <c:v>68</c:v>
                </c:pt>
                <c:pt idx="7">
                  <c:v>65</c:v>
                </c:pt>
                <c:pt idx="8">
                  <c:v>71</c:v>
                </c:pt>
                <c:pt idx="9">
                  <c:v>59</c:v>
                </c:pt>
                <c:pt idx="10">
                  <c:v>73</c:v>
                </c:pt>
                <c:pt idx="11">
                  <c:v>68</c:v>
                </c:pt>
                <c:pt idx="12">
                  <c:v>65</c:v>
                </c:pt>
              </c:numCache>
            </c:numRef>
          </c:yVal>
        </c:ser>
        <c:ser>
          <c:idx val="5"/>
          <c:order val="5"/>
          <c:tx>
            <c:v>Unknown</c:v>
          </c:tx>
          <c:spPr>
            <a:ln xmlns:a="http://schemas.openxmlformats.org/drawingml/2006/main" w="0">
              <a:noFill/>
            </a:ln>
          </c:spPr>
          <c:marker>
            <c:symbol val="circle"/>
            <c:size val="4"/>
            <c:spPr>
              <a:solidFill xmlns:a="http://schemas.openxmlformats.org/drawingml/2006/main">
                <a:srgbClr val="D3CFCA"/>
              </a:solidFill>
            </c:spPr>
          </c:marker>
          <c:xVal>
            <c:numRef>
              <c:f>'Chart Data'!$K$2:$K$18</c:f>
              <c:numCache>
                <c:formatCode>General</c:formatCode>
                <c:ptCount val="17"/>
                <c:pt idx="0">
                  <c:v>7680</c:v>
                </c:pt>
                <c:pt idx="1">
                  <c:v>61600</c:v>
                </c:pt>
                <c:pt idx="2">
                  <c:v>6220</c:v>
                </c:pt>
                <c:pt idx="3">
                  <c:v>3280</c:v>
                </c:pt>
                <c:pt idx="4">
                  <c:v>14400</c:v>
                </c:pt>
                <c:pt idx="5">
                  <c:v>25600</c:v>
                </c:pt>
                <c:pt idx="6">
                  <c:v>7760</c:v>
                </c:pt>
                <c:pt idx="7">
                  <c:v>3250</c:v>
                </c:pt>
                <c:pt idx="8">
                  <c:v>11800</c:v>
                </c:pt>
                <c:pt idx="9">
                  <c:v>15800</c:v>
                </c:pt>
                <c:pt idx="10">
                  <c:v>26300</c:v>
                </c:pt>
                <c:pt idx="11">
                  <c:v>53100</c:v>
                </c:pt>
                <c:pt idx="12">
                  <c:v>15200</c:v>
                </c:pt>
                <c:pt idx="13">
                  <c:v>67400</c:v>
                </c:pt>
                <c:pt idx="14">
                  <c:v>41300</c:v>
                </c:pt>
                <c:pt idx="15">
                  <c:v>60200</c:v>
                </c:pt>
                <c:pt idx="16">
                  <c:v>10500</c:v>
                </c:pt>
              </c:numCache>
            </c:numRef>
          </c:xVal>
          <c:yVal>
            <c:numRef>
              <c:f>'Chart Data'!$L$2:$L$18</c:f>
              <c:numCache>
                <c:formatCode>General</c:formatCode>
                <c:ptCount val="17"/>
                <c:pt idx="0">
                  <c:v>68</c:v>
                </c:pt>
                <c:pt idx="1">
                  <c:v>74</c:v>
                </c:pt>
                <c:pt idx="2">
                  <c:v>72</c:v>
                </c:pt>
                <c:pt idx="3">
                  <c:v>66</c:v>
                </c:pt>
                <c:pt idx="4">
                  <c:v>76</c:v>
                </c:pt>
                <c:pt idx="5">
                  <c:v>70</c:v>
                </c:pt>
                <c:pt idx="6">
                  <c:v>69</c:v>
                </c:pt>
                <c:pt idx="7">
                  <c:v>63</c:v>
                </c:pt>
                <c:pt idx="8">
                  <c:v>73</c:v>
                </c:pt>
                <c:pt idx="9">
                  <c:v>72</c:v>
                </c:pt>
                <c:pt idx="10">
                  <c:v>72</c:v>
                </c:pt>
                <c:pt idx="11">
                  <c:v>80</c:v>
                </c:pt>
                <c:pt idx="12">
                  <c:v>70</c:v>
                </c:pt>
                <c:pt idx="13">
                  <c:v>73</c:v>
                </c:pt>
                <c:pt idx="14">
                  <c:v>79</c:v>
                </c:pt>
                <c:pt idx="15">
                  <c:v>77</c:v>
                </c:pt>
                <c:pt idx="16">
                  <c:v>75</c:v>
                </c:pt>
              </c:numCache>
            </c:numRef>
          </c:yVal>
        </c:ser>
        <c:ser>
          <c:idx val="6"/>
          <c:order val="6"/>
          <c:tx>
            <c:v>Japan</c:v>
          </c:tx>
          <c:spPr>
            <a:ln xmlns:a="http://schemas.openxmlformats.org/drawingml/2006/main" w="0">
              <a:noFill/>
            </a:ln>
          </c:spPr>
          <c:marker>
            <c:symbol val="circle"/>
            <c:size val="4"/>
            <c:spPr>
              <a:solidFill xmlns:a="http://schemas.openxmlformats.org/drawingml/2006/main">
                <a:srgbClr val="B23C50"/>
              </a:solidFill>
            </c:spPr>
          </c:marker>
          <c:dLbls>
            <c:dLbl>
              <c:idx val="0"/>
              <c:tx>
                <c:rich>
                  <a:bodyPr xmlns:a="http://schemas.openxmlformats.org/drawingml/2006/main"/>
                  <a:lstStyle xmlns:a="http://schemas.openxmlformats.org/drawingml/2006/main"/>
                  <a:p xmlns:a="http://schemas.openxmlformats.org/drawingml/2006/main">
                    <a:r>
                      <a:rPr sz="900">
                        <a:solidFill>
                          <a:srgbClr val="B23C50"/>
                        </a:solidFill>
                        <a:latin typeface="Ubuntu Condensed"/>
                        <a:ea typeface="Ubuntu Condensed"/>
                        <a:cs typeface="Ubuntu Condensed"/>
                      </a:rPr>
                      <a:t>Japan</a:t>
                    </a:r>
                  </a:p>
                </c:rich>
              </c:tx>
              <c:txPr>
                <a:bodyPr xmlns:a="http://schemas.openxmlformats.org/drawingml/2006/main" anchorCtr="1"/>
                <a:lstStyle xmlns:a="http://schemas.openxmlformats.org/drawingml/2006/main"/>
                <a:p xmlns:a="http://schemas.openxmlformats.org/drawingml/2006/main">
                  <a:pPr>
                    <a:defRPr sz="900">
                      <a:solidFill>
                        <a:srgbClr val="B23C50"/>
                      </a:solidFill>
                      <a:latin typeface="Ubuntu Condensed"/>
                      <a:ea typeface="Ubuntu Condensed"/>
                      <a:cs typeface="Ubuntu Condensed"/>
                    </a:defRPr>
                  </a:pPr>
                </a:p>
              </c:txPr>
              <c:dLblPos val="t"/>
              <c:showVal val="0"/>
            </c:dLbl>
          </c:dLbls>
          <c:xVal>
            <c:numRef>
              <c:f>'Chart Data'!$M$2:$M$2</c:f>
              <c:numCache>
                <c:formatCode>General</c:formatCode>
                <c:ptCount val="1"/>
                <c:pt idx="0">
                  <c:v>39800</c:v>
                </c:pt>
              </c:numCache>
            </c:numRef>
          </c:xVal>
          <c:yVal>
            <c:numRef>
              <c:f>'Chart Data'!$N$2:$N$2</c:f>
              <c:numCache>
                <c:formatCode>General</c:formatCode>
                <c:ptCount val="1"/>
                <c:pt idx="0">
                  <c:v>85</c:v>
                </c:pt>
              </c:numCache>
            </c:numRef>
          </c:y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scatterChart>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900">
                    <a:solidFill>
                      <a:srgbClr val="38332E"/>
                    </a:solidFill>
                    <a:latin typeface="Ubuntu Condensed"/>
                    <a:ea typeface="Ubuntu Condensed"/>
                    <a:cs typeface="Ubuntu Condensed"/>
                  </a:rPr>
                  <a:t>Life Expectancy</a:t>
                </a:r>
              </a:p>
            </c:rich>
          </c:tx>
          <c:overlay val="0"/>
          <c:txPr>
            <a:bodyPr xmlns:a="http://schemas.openxmlformats.org/drawingml/2006/main" anchorCtr="1"/>
            <a:lstStyle xmlns:a="http://schemas.openxmlformats.org/drawingml/2006/main"/>
            <a:p xmlns:a="http://schemas.openxmlformats.org/drawingml/2006/main">
              <a:pPr>
                <a:defRPr sz="9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81796F"/>
                </a:solidFill>
                <a:latin typeface="Ubuntu Condensed"/>
                <a:ea typeface="Ubuntu Condensed"/>
                <a:cs typeface="Ubuntu Condensed"/>
              </a:defRPr>
            </a:pPr>
          </a:p>
        </c:txPr>
        <c:crossAx val="48650112"/>
        <c:majorUnit val="10"/>
      </c:valAx>
      <c:valAx>
        <c:axId val="48650112"/>
        <c:scaling>
          <c:orientation val="minMax"/>
          <c:max val="220000"/>
          <c:min val="0"/>
        </c:scaling>
        <c:delete val="0"/>
        <c:axPos val="b"/>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900">
                    <a:solidFill>
                      <a:srgbClr val="38332E"/>
                    </a:solidFill>
                    <a:latin typeface="Ubuntu Condensed"/>
                    <a:ea typeface="Ubuntu Condensed"/>
                    <a:cs typeface="Ubuntu Condensed"/>
                  </a:rPr>
                  <a:t>GDP</a:t>
                </a:r>
              </a:p>
            </c:rich>
          </c:tx>
          <c:overlay val="0"/>
          <c:txPr>
            <a:bodyPr xmlns:a="http://schemas.openxmlformats.org/drawingml/2006/main" anchorCtr="1"/>
            <a:lstStyle xmlns:a="http://schemas.openxmlformats.org/drawingml/2006/main"/>
            <a:p xmlns:a="http://schemas.openxmlformats.org/drawingml/2006/main">
              <a:pPr>
                <a:defRPr sz="900">
                  <a:solidFill>
                    <a:srgbClr val="38332E"/>
                  </a:solidFill>
                  <a:latin typeface="Ubuntu Condensed"/>
                  <a:ea typeface="Ubuntu Condensed"/>
                  <a:cs typeface="Ubuntu Condensed"/>
                </a:defRPr>
              </a:pPr>
            </a:p>
          </c:txPr>
        </c:title>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81796F"/>
                </a:solidFill>
                <a:latin typeface="Ubuntu Condensed"/>
                <a:ea typeface="Ubuntu Condensed"/>
                <a:cs typeface="Ubuntu Condensed"/>
              </a:defRPr>
            </a:pPr>
          </a:p>
        </c:txPr>
        <c:crossAx val="48672768"/>
        <c:majorUnit val="10000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68</c:v>
                </c:pt>
                <c:pt idx="1">
                  <c:v>70</c:v>
                </c:pt>
                <c:pt idx="2">
                  <c:v>72</c:v>
                </c:pt>
                <c:pt idx="3">
                  <c:v>74</c:v>
                </c:pt>
                <c:pt idx="4">
                  <c:v>76</c:v>
                </c:pt>
                <c:pt idx="5">
                  <c:v>78</c:v>
                </c:pt>
                <c:pt idx="6">
                  <c:v>79</c:v>
                </c:pt>
                <c:pt idx="7">
                  <c:v>80</c:v>
                </c:pt>
                <c:pt idx="8">
                  <c:v>81</c:v>
                </c:pt>
                <c:pt idx="9">
                  <c:v>82</c:v>
                </c:pt>
                <c:pt idx="10">
                  <c:v>83</c:v>
                </c:pt>
                <c:pt idx="11">
                  <c:v>84</c:v>
                </c:pt>
                <c:pt idx="12">
                  <c:v>85</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81796F"/>
                </a:solidFill>
                <a:latin typeface="Ubuntu Condensed"/>
                <a:ea typeface="Ubuntu Condensed"/>
                <a:cs typeface="Ubuntu Condensed"/>
              </a:defRPr>
            </a:pPr>
          </a:p>
        </c:txPr>
        <c:crossAx val="48672768"/>
      </c:catAx>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900">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9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81796F"/>
                </a:solidFill>
                <a:latin typeface="Ubuntu Condensed"/>
                <a:ea typeface="Ubuntu Condensed"/>
                <a:cs typeface="Ubuntu Condensed"/>
              </a:defRPr>
            </a:pPr>
          </a:p>
        </c:txPr>
        <c:crossAx val="48650112"/>
        <c:crossBetween val="between"/>
        <c:majorUnit val="25"/>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7140</c:v>
                </c:pt>
                <c:pt idx="1">
                  <c:v>10500</c:v>
                </c:pt>
                <c:pt idx="2">
                  <c:v>17000</c:v>
                </c:pt>
                <c:pt idx="3">
                  <c:v>19700</c:v>
                </c:pt>
                <c:pt idx="4">
                  <c:v>23200</c:v>
                </c:pt>
                <c:pt idx="5">
                  <c:v>26900</c:v>
                </c:pt>
                <c:pt idx="6">
                  <c:v>33100</c:v>
                </c:pt>
                <c:pt idx="7">
                  <c:v>35100</c:v>
                </c:pt>
                <c:pt idx="8">
                  <c:v>36400</c:v>
                </c:pt>
                <c:pt idx="9">
                  <c:v>38200</c:v>
                </c:pt>
                <c:pt idx="10">
                  <c:v>37900</c:v>
                </c:pt>
                <c:pt idx="11">
                  <c:v>40200</c:v>
                </c:pt>
                <c:pt idx="12">
                  <c:v>39800</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81796F"/>
                </a:solidFill>
                <a:latin typeface="Ubuntu Condensed"/>
                <a:ea typeface="Ubuntu Condensed"/>
                <a:cs typeface="Ubuntu Condensed"/>
              </a:defRPr>
            </a:pPr>
          </a:p>
        </c:txPr>
        <c:crossAx val="48672768"/>
      </c:catAx>
      <c:valAx>
        <c:axId val="48672768"/>
        <c:scaling>
          <c:orientation val="minMax"/>
          <c:max val="45000"/>
          <c:min val="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900">
                    <a:solidFill>
                      <a:srgbClr val="38332E"/>
                    </a:solidFill>
                    <a:latin typeface="Ubuntu Condensed"/>
                    <a:ea typeface="Ubuntu Condensed"/>
                    <a:cs typeface="Ubuntu Condensed"/>
                  </a:rPr>
                  <a:t>GDP</a:t>
                </a:r>
              </a:p>
            </c:rich>
          </c:tx>
          <c:overlay val="0"/>
          <c:txPr>
            <a:bodyPr xmlns:a="http://schemas.openxmlformats.org/drawingml/2006/main" anchorCtr="1"/>
            <a:lstStyle xmlns:a="http://schemas.openxmlformats.org/drawingml/2006/main"/>
            <a:p xmlns:a="http://schemas.openxmlformats.org/drawingml/2006/main">
              <a:pPr>
                <a:defRPr sz="9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900">
                <a:solidFill>
                  <a:srgbClr val="81796F"/>
                </a:solidFill>
                <a:latin typeface="Ubuntu Condensed"/>
                <a:ea typeface="Ubuntu Condensed"/>
                <a:cs typeface="Ubuntu Condensed"/>
              </a:defRPr>
            </a:pPr>
          </a:p>
        </c:txPr>
        <c:crossAx val="48650112"/>
        <c:crossBetween val="between"/>
        <c:majorUnit val="2000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lineChart>
        <c:grouping val="standard"/>
        <c:varyColors val="0"/>
        <c:ser>
          <c:idx val="0"/>
          <c:order val="0"/>
          <c:tx>
            <c:v>Japan</c:v>
          </c:tx>
          <c:spPr>
            <a:ln xmlns:a="http://schemas.openxmlformats.org/drawingml/2006/main" w="28575">
              <a:solidFill>
                <a:srgbClr val="B23C50"/>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68</c:v>
                </c:pt>
                <c:pt idx="1">
                  <c:v>70</c:v>
                </c:pt>
                <c:pt idx="2">
                  <c:v>72</c:v>
                </c:pt>
                <c:pt idx="3">
                  <c:v>74</c:v>
                </c:pt>
                <c:pt idx="4">
                  <c:v>76</c:v>
                </c:pt>
                <c:pt idx="5">
                  <c:v>78</c:v>
                </c:pt>
                <c:pt idx="6">
                  <c:v>79</c:v>
                </c:pt>
                <c:pt idx="7">
                  <c:v>80</c:v>
                </c:pt>
                <c:pt idx="8">
                  <c:v>81</c:v>
                </c:pt>
                <c:pt idx="9">
                  <c:v>82</c:v>
                </c:pt>
                <c:pt idx="10">
                  <c:v>83</c:v>
                </c:pt>
                <c:pt idx="11">
                  <c:v>84</c:v>
                </c:pt>
                <c:pt idx="12">
                  <c:v>85</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72768"/>
      </c:catAx>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50112"/>
        <c:crossBetween val="between"/>
        <c:majorUnit val="25"/>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lineChart>
        <c:grouping val="standard"/>
        <c:varyColors val="0"/>
        <c:ser>
          <c:idx val="0"/>
          <c:order val="0"/>
          <c:tx>
            <c:v>India</c:v>
          </c:tx>
          <c:spPr>
            <a:ln xmlns:a="http://schemas.openxmlformats.org/drawingml/2006/main" w="28575">
              <a:solidFill>
                <a:srgbClr val="457985"/>
              </a:solidFill>
            </a:ln>
          </c:spPr>
          <c:marker>
            <c:symbol val="none"/>
          </c:marker>
          <c:cat>
            <c:numRef>
              <c:f>'Chart Data'!$A$2:$A$14</c:f>
              <c:numCache>
                <c:formatCode>General</c:formatCode>
                <c:ptCount val="13"/>
                <c:pt idx="0">
                  <c:v>1960</c:v>
                </c:pt>
                <c:pt idx="1">
                  <c:v>1965</c:v>
                </c:pt>
                <c:pt idx="2">
                  <c:v>1970</c:v>
                </c:pt>
                <c:pt idx="3">
                  <c:v>1975</c:v>
                </c:pt>
                <c:pt idx="4">
                  <c:v>1980</c:v>
                </c:pt>
                <c:pt idx="5">
                  <c:v>1985</c:v>
                </c:pt>
                <c:pt idx="6">
                  <c:v>1990</c:v>
                </c:pt>
                <c:pt idx="7">
                  <c:v>1995</c:v>
                </c:pt>
                <c:pt idx="8">
                  <c:v>2000</c:v>
                </c:pt>
                <c:pt idx="9">
                  <c:v>2005</c:v>
                </c:pt>
                <c:pt idx="10">
                  <c:v>2010</c:v>
                </c:pt>
                <c:pt idx="11">
                  <c:v>2015</c:v>
                </c:pt>
                <c:pt idx="12">
                  <c:v>2020</c:v>
                </c:pt>
              </c:numCache>
            </c:numRef>
          </c:cat>
          <c:val>
            <c:numRef>
              <c:f>'Chart Data'!$B$2:$B$14</c:f>
              <c:numCache>
                <c:formatCode>General</c:formatCode>
                <c:ptCount val="13"/>
                <c:pt idx="0">
                  <c:v>45</c:v>
                </c:pt>
                <c:pt idx="1">
                  <c:v>45</c:v>
                </c:pt>
                <c:pt idx="2">
                  <c:v>49</c:v>
                </c:pt>
                <c:pt idx="3">
                  <c:v>51</c:v>
                </c:pt>
                <c:pt idx="4">
                  <c:v>55</c:v>
                </c:pt>
                <c:pt idx="5">
                  <c:v>57</c:v>
                </c:pt>
                <c:pt idx="6">
                  <c:v>59</c:v>
                </c:pt>
                <c:pt idx="7">
                  <c:v>61</c:v>
                </c:pt>
                <c:pt idx="8">
                  <c:v>62</c:v>
                </c:pt>
                <c:pt idx="9">
                  <c:v>65</c:v>
                </c:pt>
                <c:pt idx="10">
                  <c:v>67</c:v>
                </c:pt>
                <c:pt idx="11">
                  <c:v>69</c:v>
                </c:pt>
                <c:pt idx="12">
                  <c:v>70</c:v>
                </c:pt>
              </c:numCache>
            </c:numRef>
          </c:val>
        </c:ser>
        <c:dLbls>
          <c:txPr>
            <a:bodyPr xmlns:a="http://schemas.openxmlformats.org/drawingml/2006/main" anchorCtr="1"/>
            <a:lstStyle xmlns:a="http://schemas.openxmlformats.org/drawingml/2006/main"/>
            <a:p xmlns:a="http://schemas.openxmlformats.org/drawingml/2006/main">
              <a:pPr>
                <a:defRPr>
                  <a:latin typeface="Ubuntu Condensed"/>
                  <a:ea typeface="Ubuntu Condensed"/>
                  <a:cs typeface="Ubuntu Condensed"/>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72768"/>
      </c:catAx>
      <c:valAx>
        <c:axId val="48672768"/>
        <c:scaling>
          <c:orientation val="minMax"/>
          <c:max val="90"/>
          <c:min val="40"/>
        </c:scaling>
        <c:delete val="0"/>
        <c:axPos val="l"/>
        <c:majorGridlines>
          <c:spPr>
            <a:ln xmlns:a="http://schemas.openxmlformats.org/drawingml/2006/main" w="9525">
              <a:solidFill>
                <a:srgbClr val="EAE7E1"/>
              </a:solidFill>
            </a:ln>
          </c:spPr>
        </c:majorGridlines>
        <c:title>
          <c:tx>
            <c:rich>
              <a:bodyPr xmlns:a="http://schemas.openxmlformats.org/drawingml/2006/main"/>
              <a:lstStyle xmlns:a="http://schemas.openxmlformats.org/drawingml/2006/main"/>
              <a:p xmlns:a="http://schemas.openxmlformats.org/drawingml/2006/main">
                <a:r>
                  <a:rPr sz="1500">
                    <a:solidFill>
                      <a:srgbClr val="38332E"/>
                    </a:solidFill>
                    <a:latin typeface="Ubuntu Condensed"/>
                    <a:ea typeface="Ubuntu Condensed"/>
                    <a:cs typeface="Ubuntu Condensed"/>
                  </a:rPr>
                  <a:t>Years</a:t>
                </a:r>
              </a:p>
            </c:rich>
          </c:tx>
          <c:overlay val="0"/>
          <c:txPr>
            <a:bodyPr xmlns:a="http://schemas.openxmlformats.org/drawingml/2006/main" anchorCtr="1"/>
            <a:lstStyle xmlns:a="http://schemas.openxmlformats.org/drawingml/2006/main"/>
            <a:p xmlns:a="http://schemas.openxmlformats.org/drawingml/2006/main">
              <a:pPr>
                <a:defRPr sz="1500">
                  <a:solidFill>
                    <a:srgbClr val="38332E"/>
                  </a:solidFill>
                  <a:latin typeface="Ubuntu Condensed"/>
                  <a:ea typeface="Ubuntu Condensed"/>
                  <a:cs typeface="Ubuntu Condensed"/>
                </a:defRPr>
              </a:pPr>
            </a:p>
          </c:txPr>
        </c:title>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81796F"/>
                </a:solidFill>
                <a:latin typeface="Ubuntu Condensed"/>
                <a:ea typeface="Ubuntu Condensed"/>
                <a:cs typeface="Ubuntu Condensed"/>
              </a:defRPr>
            </a:pPr>
          </a:p>
        </c:txPr>
        <c:crossAx val="48650112"/>
        <c:crossBetween val="between"/>
        <c:majorUnit val="25"/>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B05B811-969B-4EF9-9262-C8FBFD2F1DEF}"/>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Today's tip: a Tableau dashboard</a:t>
            </a:r>
          </a:p>
        </p:txBody>
      </p:sp>
      <p:sp>
        <p:nvSpPr>
          <p:cNvPr id="2" name="">
            <a:extLst xmlns:a="http://schemas.openxmlformats.org/drawingml/2006/main">
              <a:ext uri="{FF2B5EF4-FFF2-40B4-BE49-F238E27FC236}">
                <a16:creationId xmlns:a16="http://schemas.microsoft.com/office/drawing/2014/main" id="{BAD384BB-3C2D-4603-A40F-E2849FDDDB08}"/>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Last week’s Gapminder chart, connected to a country’s history</a:t>
            </a:r>
          </a:p>
        </p:txBody>
      </p:sp>
      <p:sp>
        <p:nvSpPr>
          <p:cNvPr id="3" name="">
            <a:extLst xmlns:a="http://schemas.openxmlformats.org/drawingml/2006/main">
              <a:ext uri="{FF2B5EF4-FFF2-40B4-BE49-F238E27FC236}">
                <a16:creationId xmlns:a16="http://schemas.microsoft.com/office/drawing/2014/main" id="{D528BA4E-302F-4881-8717-B4D36AC1C5D0}"/>
              </a:ext>
            </a:extLst>
          </p:cNvPr>
          <p:cNvSpPr>
            <a:spLocks xmlns:a="http://schemas.openxmlformats.org/drawingml/2006/main" noGrp="1"/>
          </p:cNvSpPr>
          <p:nvPr/>
        </p:nvSpPr>
        <p:spPr>
          <a:xfrm xmlns:a="http://schemas.openxmlformats.org/drawingml/2006/main">
            <a:off x="457200" y="1638300"/>
            <a:ext cx="657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38332E"/>
                </a:solidFill>
                <a:latin typeface="Ubuntu Condensed"/>
                <a:ea typeface="Ubuntu Condensed"/>
                <a:cs typeface="Ubuntu Condensed"/>
              </a:defRPr>
            </a:defPPr>
          </a:lstStyle>
          <a:p xmlns:a="http://schemas.openxmlformats.org/drawingml/2006/main">
            <a:pPr>
              <a:defRPr sz="2025">
                <a:solidFill>
                  <a:srgbClr val="38332E"/>
                </a:solidFill>
                <a:latin typeface="Ubuntu Condensed"/>
                <a:ea typeface="Ubuntu Condensed"/>
                <a:cs typeface="Ubuntu Condensed"/>
              </a:defRPr>
            </a:pPr>
            <a:r>
              <a:rPr sz="2025">
                <a:solidFill>
                  <a:srgbClr val="38332E"/>
                </a:solidFill>
                <a:latin typeface="Ubuntu Condensed"/>
                <a:ea typeface="Ubuntu Condensed"/>
                <a:cs typeface="Ubuntu Condensed"/>
              </a:rPr>
              <a:t>WORLD IN 2020</a:t>
            </a:r>
          </a:p>
        </p:txBody>
      </p:sp>
      <p:sp>
        <p:nvSpPr>
          <p:cNvPr id="4" name="">
            <a:extLst xmlns:a="http://schemas.openxmlformats.org/drawingml/2006/main">
              <a:ext uri="{FF2B5EF4-FFF2-40B4-BE49-F238E27FC236}">
                <a16:creationId xmlns:a16="http://schemas.microsoft.com/office/drawing/2014/main" id="{AA295F46-C954-42A3-8E82-6894CE5F8BB9}"/>
              </a:ext>
            </a:extLst>
          </p:cNvPr>
          <p:cNvSpPr>
            <a:spLocks xmlns:a="http://schemas.openxmlformats.org/drawingml/2006/main" noGrp="1"/>
          </p:cNvSpPr>
          <p:nvPr/>
        </p:nvSpPr>
        <p:spPr>
          <a:xfrm xmlns:a="http://schemas.openxmlformats.org/drawingml/2006/main">
            <a:off x="8039100" y="1638300"/>
            <a:ext cx="3714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JAPAN SELECTED</a:t>
            </a:r>
          </a:p>
        </p:txBody>
      </p:sp>
      <p:graphicFrame>
        <p:nvGraphicFramePr>
          <p:cNvPr id="5" name="Chart">
            <a:extLst xmlns:a="http://schemas.openxmlformats.org/drawingml/2006/main">
              <a:ext uri="{FF2B5EF4-FFF2-40B4-BE49-F238E27FC236}">
                <a16:creationId xmlns:a16="http://schemas.microsoft.com/office/drawing/2014/main" id="{6BA46EE9-6BB0-4624-9B34-CD9EABE69EBA}"/>
              </a:ext>
            </a:extLst>
          </p:cNvPr>
          <p:cNvGraphicFramePr/>
          <p:nvPr/>
        </p:nvGraphicFramePr>
        <p:xfrm>
          <a:off xmlns:a="http://schemas.openxmlformats.org/drawingml/2006/main" x="228600" y="2152650"/>
          <a:ext xmlns:a="http://schemas.openxmlformats.org/drawingml/2006/main" cx="7562850" cy="3829050"/>
        </p:xfrm>
        <a:graphic xmlns:a="http://schemas.openxmlformats.org/drawingml/2006/main">
          <a:graphicData uri="http://schemas.openxmlformats.org/drawingml/2006/chart">
            <c:chart xmlns:r="http://schemas.openxmlformats.org/officeDocument/2006/relationships" xmlns:c="http://schemas.openxmlformats.org/drawingml/2006/chart" r:id="Rb85d58441dd441fa"/>
          </a:graphicData>
        </a:graphic>
      </p:graphicFrame>
      <p:sp>
        <p:nvSpPr>
          <p:cNvPr id="6" name="">
            <a:extLst xmlns:a="http://schemas.openxmlformats.org/drawingml/2006/main">
              <a:ext uri="{FF2B5EF4-FFF2-40B4-BE49-F238E27FC236}">
                <a16:creationId xmlns:a16="http://schemas.microsoft.com/office/drawing/2014/main" id="{B5932DDD-C02F-4FB0-B8C2-679F73DB1784}"/>
              </a:ext>
            </a:extLst>
          </p:cNvPr>
          <p:cNvSpPr>
            <a:spLocks xmlns:a="http://schemas.openxmlformats.org/drawingml/2006/main" noGrp="1"/>
          </p:cNvSpPr>
          <p:nvPr/>
        </p:nvSpPr>
        <p:spPr>
          <a:xfrm xmlns:a="http://schemas.openxmlformats.org/drawingml/2006/main">
            <a:off x="8143875" y="2152650"/>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a:solidFill>
                  <a:srgbClr val="38332E"/>
                </a:solidFill>
                <a:latin typeface="Ubuntu Condensed"/>
                <a:ea typeface="Ubuntu Condensed"/>
                <a:cs typeface="Ubuntu Condensed"/>
              </a:defRPr>
            </a:defPPr>
          </a:lstStyle>
          <a:p xmlns:a="http://schemas.openxmlformats.org/drawingml/2006/main">
            <a:pP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Life expectancy</a:t>
            </a:r>
          </a:p>
        </p:txBody>
      </p:sp>
      <p:graphicFrame>
        <p:nvGraphicFramePr>
          <p:cNvPr id="7" name="Chart">
            <a:extLst xmlns:a="http://schemas.openxmlformats.org/drawingml/2006/main">
              <a:ext uri="{FF2B5EF4-FFF2-40B4-BE49-F238E27FC236}">
                <a16:creationId xmlns:a16="http://schemas.microsoft.com/office/drawing/2014/main" id="{08828088-D8B9-4438-9908-65E2D696974D}"/>
              </a:ext>
            </a:extLst>
          </p:cNvPr>
          <p:cNvGraphicFramePr/>
          <p:nvPr/>
        </p:nvGraphicFramePr>
        <p:xfrm>
          <a:off xmlns:a="http://schemas.openxmlformats.org/drawingml/2006/main" x="7905750" y="2552700"/>
          <a:ext xmlns:a="http://schemas.openxmlformats.org/drawingml/2006/main" cx="3810000" cy="1381125"/>
        </p:xfrm>
        <a:graphic xmlns:a="http://schemas.openxmlformats.org/drawingml/2006/main">
          <a:graphicData uri="http://schemas.openxmlformats.org/drawingml/2006/chart">
            <c:chart xmlns:r="http://schemas.openxmlformats.org/officeDocument/2006/relationships" xmlns:c="http://schemas.openxmlformats.org/drawingml/2006/chart" r:id="R66a44d169bd9437b"/>
          </a:graphicData>
        </a:graphic>
      </p:graphicFrame>
      <p:sp>
        <p:nvSpPr>
          <p:cNvPr id="8" name="">
            <a:extLst xmlns:a="http://schemas.openxmlformats.org/drawingml/2006/main">
              <a:ext uri="{FF2B5EF4-FFF2-40B4-BE49-F238E27FC236}">
                <a16:creationId xmlns:a16="http://schemas.microsoft.com/office/drawing/2014/main" id="{488C6AAD-191E-459E-82F9-ABA64C8C6317}"/>
              </a:ext>
            </a:extLst>
          </p:cNvPr>
          <p:cNvSpPr>
            <a:spLocks xmlns:a="http://schemas.openxmlformats.org/drawingml/2006/main" noGrp="1"/>
          </p:cNvSpPr>
          <p:nvPr/>
        </p:nvSpPr>
        <p:spPr>
          <a:xfrm xmlns:a="http://schemas.openxmlformats.org/drawingml/2006/main">
            <a:off x="8143875" y="4210050"/>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a:solidFill>
                  <a:srgbClr val="38332E"/>
                </a:solidFill>
                <a:latin typeface="Ubuntu Condensed"/>
                <a:ea typeface="Ubuntu Condensed"/>
                <a:cs typeface="Ubuntu Condensed"/>
              </a:defRPr>
            </a:defPPr>
          </a:lstStyle>
          <a:p xmlns:a="http://schemas.openxmlformats.org/drawingml/2006/main">
            <a:pPr>
              <a:defRPr sz="1800">
                <a:solidFill>
                  <a:srgbClr val="38332E"/>
                </a:solidFill>
                <a:latin typeface="Ubuntu Condensed"/>
                <a:ea typeface="Ubuntu Condensed"/>
                <a:cs typeface="Ubuntu Condensed"/>
              </a:defRPr>
            </a:pPr>
            <a:r>
              <a:rPr sz="1800">
                <a:solidFill>
                  <a:srgbClr val="38332E"/>
                </a:solidFill>
                <a:latin typeface="Ubuntu Condensed"/>
                <a:ea typeface="Ubuntu Condensed"/>
                <a:cs typeface="Ubuntu Condensed"/>
              </a:rPr>
              <a:t>GDP</a:t>
            </a:r>
          </a:p>
        </p:txBody>
      </p:sp>
      <p:graphicFrame>
        <p:nvGraphicFramePr>
          <p:cNvPr id="9" name="Chart">
            <a:extLst xmlns:a="http://schemas.openxmlformats.org/drawingml/2006/main">
              <a:ext uri="{FF2B5EF4-FFF2-40B4-BE49-F238E27FC236}">
                <a16:creationId xmlns:a16="http://schemas.microsoft.com/office/drawing/2014/main" id="{37DC4C80-CE28-4A00-97EF-FD993FC22B71}"/>
              </a:ext>
            </a:extLst>
          </p:cNvPr>
          <p:cNvGraphicFramePr/>
          <p:nvPr/>
        </p:nvGraphicFramePr>
        <p:xfrm>
          <a:off xmlns:a="http://schemas.openxmlformats.org/drawingml/2006/main" x="7905750" y="4572000"/>
          <a:ext xmlns:a="http://schemas.openxmlformats.org/drawingml/2006/main" cx="3810000" cy="1381125"/>
        </p:xfrm>
        <a:graphic xmlns:a="http://schemas.openxmlformats.org/drawingml/2006/main">
          <a:graphicData uri="http://schemas.openxmlformats.org/drawingml/2006/chart">
            <c:chart xmlns:r="http://schemas.openxmlformats.org/officeDocument/2006/relationships" xmlns:c="http://schemas.openxmlformats.org/drawingml/2006/chart" r:id="R98e8792e94fc4cc5"/>
          </a:graphicData>
        </a:graphic>
      </p:graphicFrame>
      <p:sp>
        <p:nvSpPr>
          <p:cNvPr id="10" name="">
            <a:extLst xmlns:a="http://schemas.openxmlformats.org/drawingml/2006/main">
              <a:ext uri="{FF2B5EF4-FFF2-40B4-BE49-F238E27FC236}">
                <a16:creationId xmlns:a16="http://schemas.microsoft.com/office/drawing/2014/main" id="{97E74729-BB99-43A5-B4DA-4B3B76396573}"/>
              </a:ext>
            </a:extLst>
          </p:cNvPr>
          <p:cNvSpPr>
            <a:spLocks xmlns:a="http://schemas.openxmlformats.org/drawingml/2006/main" noGrp="1"/>
          </p:cNvSpPr>
          <p:nvPr/>
        </p:nvSpPr>
        <p:spPr>
          <a:xfrm xmlns:a="http://schemas.openxmlformats.org/drawingml/2006/main">
            <a:off x="8458200" y="3981450"/>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1960</a:t>
            </a:r>
          </a:p>
        </p:txBody>
      </p:sp>
      <p:sp>
        <p:nvSpPr>
          <p:cNvPr id="11" name="">
            <a:extLst xmlns:a="http://schemas.openxmlformats.org/drawingml/2006/main">
              <a:ext uri="{FF2B5EF4-FFF2-40B4-BE49-F238E27FC236}">
                <a16:creationId xmlns:a16="http://schemas.microsoft.com/office/drawing/2014/main" id="{2EB58EF7-037C-4C82-A7C9-5667C261FF0F}"/>
              </a:ext>
            </a:extLst>
          </p:cNvPr>
          <p:cNvSpPr>
            <a:spLocks xmlns:a="http://schemas.openxmlformats.org/drawingml/2006/main" noGrp="1"/>
          </p:cNvSpPr>
          <p:nvPr/>
        </p:nvSpPr>
        <p:spPr>
          <a:xfrm xmlns:a="http://schemas.openxmlformats.org/drawingml/2006/main">
            <a:off x="11001375" y="398145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2020</a:t>
            </a:r>
          </a:p>
        </p:txBody>
      </p:sp>
      <p:sp>
        <p:nvSpPr>
          <p:cNvPr id="12" name="">
            <a:extLst xmlns:a="http://schemas.openxmlformats.org/drawingml/2006/main">
              <a:ext uri="{FF2B5EF4-FFF2-40B4-BE49-F238E27FC236}">
                <a16:creationId xmlns:a16="http://schemas.microsoft.com/office/drawing/2014/main" id="{F3FB38AD-9F6C-48F7-A4C2-62331181D2DD}"/>
              </a:ext>
            </a:extLst>
          </p:cNvPr>
          <p:cNvSpPr>
            <a:spLocks xmlns:a="http://schemas.openxmlformats.org/drawingml/2006/main" noGrp="1"/>
          </p:cNvSpPr>
          <p:nvPr/>
        </p:nvSpPr>
        <p:spPr>
          <a:xfrm xmlns:a="http://schemas.openxmlformats.org/drawingml/2006/main">
            <a:off x="8458200" y="6000750"/>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1960</a:t>
            </a:r>
          </a:p>
        </p:txBody>
      </p:sp>
      <p:sp>
        <p:nvSpPr>
          <p:cNvPr id="13" name="">
            <a:extLst xmlns:a="http://schemas.openxmlformats.org/drawingml/2006/main">
              <a:ext uri="{FF2B5EF4-FFF2-40B4-BE49-F238E27FC236}">
                <a16:creationId xmlns:a16="http://schemas.microsoft.com/office/drawing/2014/main" id="{D31F7BB7-B4D4-4D69-8E46-1D93AAB62A9E}"/>
              </a:ext>
            </a:extLst>
          </p:cNvPr>
          <p:cNvSpPr>
            <a:spLocks xmlns:a="http://schemas.openxmlformats.org/drawingml/2006/main" noGrp="1"/>
          </p:cNvSpPr>
          <p:nvPr/>
        </p:nvSpPr>
        <p:spPr>
          <a:xfrm xmlns:a="http://schemas.openxmlformats.org/drawingml/2006/main">
            <a:off x="11001375" y="600075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2020</a:t>
            </a:r>
          </a:p>
        </p:txBody>
      </p:sp>
      <p:sp>
        <p:nvSpPr>
          <p:cNvPr id="14" name="">
            <a:extLst xmlns:a="http://schemas.openxmlformats.org/drawingml/2006/main">
              <a:ext uri="{FF2B5EF4-FFF2-40B4-BE49-F238E27FC236}">
                <a16:creationId xmlns:a16="http://schemas.microsoft.com/office/drawing/2014/main" id="{4E705F02-1C8E-419B-A65E-ADD46B7734BB}"/>
              </a:ext>
            </a:extLst>
          </p:cNvPr>
          <p:cNvSpPr>
            <a:spLocks xmlns:a="http://schemas.openxmlformats.org/drawingml/2006/main" noGrp="1"/>
          </p:cNvSpPr>
          <p:nvPr/>
        </p:nvSpPr>
        <p:spPr>
          <a:xfrm xmlns:a="http://schemas.openxmlformats.org/drawingml/2006/main">
            <a:off x="457200" y="6362700"/>
            <a:ext cx="1133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B23C50"/>
                </a:solidFill>
                <a:latin typeface="Ubuntu Condensed"/>
                <a:ea typeface="Ubuntu Condensed"/>
                <a:cs typeface="Ubuntu Condensed"/>
              </a:defRPr>
            </a:defPPr>
          </a:lstStyle>
          <a:p xmlns:a="http://schemas.openxmlformats.org/drawingml/2006/main">
            <a:pPr>
              <a:defRPr sz="1875">
                <a:solidFill>
                  <a:srgbClr val="B23C50"/>
                </a:solidFill>
                <a:latin typeface="Ubuntu Condensed"/>
                <a:ea typeface="Ubuntu Condensed"/>
                <a:cs typeface="Ubuntu Condensed"/>
              </a:defRPr>
            </a:pPr>
            <a:r>
              <a:rPr sz="1875">
                <a:solidFill>
                  <a:srgbClr val="B23C50"/>
                </a:solidFill>
                <a:latin typeface="Ubuntu Condensed"/>
                <a:ea typeface="Ubuntu Condensed"/>
                <a:cs typeface="Ubuntu Condensed"/>
              </a:rPr>
              <a:t>Click a country in the overview. Explore its history on the right.</a:t>
            </a:r>
          </a:p>
        </p:txBody>
      </p:sp>
    </p:spTree>
    <p:extLst>
      <p:ext uri="{BB962C8B-B14F-4D97-AF65-F5344CB8AC3E}">
        <p14:creationId xmlns:p14="http://schemas.microsoft.com/office/powerpoint/2010/main" val="96874030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E5B220F-6CA2-4E2A-84A4-3255AF0342C0}"/>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The three worksheets</a:t>
            </a:r>
          </a:p>
        </p:txBody>
      </p:sp>
      <p:sp>
        <p:nvSpPr>
          <p:cNvPr id="2" name="">
            <a:extLst xmlns:a="http://schemas.openxmlformats.org/drawingml/2006/main">
              <a:ext uri="{FF2B5EF4-FFF2-40B4-BE49-F238E27FC236}">
                <a16:creationId xmlns:a16="http://schemas.microsoft.com/office/drawing/2014/main" id="{A26FF63A-5550-4CCD-829B-57A35F33C350}"/>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Use the same hans.csv connection for every sheet</a:t>
            </a:r>
          </a:p>
        </p:txBody>
      </p:sp>
      <p:sp>
        <p:nvSpPr>
          <p:cNvPr id="3" name="">
            <a:extLst xmlns:a="http://schemas.openxmlformats.org/drawingml/2006/main">
              <a:ext uri="{FF2B5EF4-FFF2-40B4-BE49-F238E27FC236}">
                <a16:creationId xmlns:a16="http://schemas.microsoft.com/office/drawing/2014/main" id="{A110EF4B-4682-4A82-B8AB-54EA05C09B52}"/>
              </a:ext>
            </a:extLst>
          </p:cNvPr>
          <p:cNvSpPr>
            <a:spLocks xmlns:a="http://schemas.openxmlformats.org/drawingml/2006/main" noGrp="1"/>
          </p:cNvSpPr>
          <p:nvPr/>
        </p:nvSpPr>
        <p:spPr>
          <a:xfrm xmlns:a="http://schemas.openxmlformats.org/drawingml/2006/main">
            <a:off x="457200" y="17335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B23C50"/>
                </a:solidFill>
                <a:latin typeface="Ubuntu Condensed"/>
                <a:ea typeface="Ubuntu Condensed"/>
                <a:cs typeface="Ubuntu Condensed"/>
              </a:defRPr>
            </a:defPPr>
          </a:lstStyle>
          <a:p xmlns:a="http://schemas.openxmlformats.org/drawingml/2006/main">
            <a:pPr>
              <a:defRPr sz="2250">
                <a:solidFill>
                  <a:srgbClr val="B23C50"/>
                </a:solidFill>
                <a:latin typeface="Ubuntu Condensed"/>
                <a:ea typeface="Ubuntu Condensed"/>
                <a:cs typeface="Ubuntu Condensed"/>
              </a:defRPr>
            </a:pPr>
            <a:r>
              <a:rPr sz="2250">
                <a:solidFill>
                  <a:srgbClr val="B23C50"/>
                </a:solidFill>
                <a:latin typeface="Ubuntu Condensed"/>
                <a:ea typeface="Ubuntu Condensed"/>
                <a:cs typeface="Ubuntu Condensed"/>
              </a:rPr>
              <a:t>1  World</a:t>
            </a:r>
          </a:p>
        </p:txBody>
      </p:sp>
      <p:graphicFrame>
        <p:nvGraphicFramePr>
          <p:cNvPr id="4" name="Chart">
            <a:extLst xmlns:a="http://schemas.openxmlformats.org/drawingml/2006/main">
              <a:ext uri="{FF2B5EF4-FFF2-40B4-BE49-F238E27FC236}">
                <a16:creationId xmlns:a16="http://schemas.microsoft.com/office/drawing/2014/main" id="{E4341F7C-9146-4DF8-9B8C-B9A430FF0E3A}"/>
              </a:ext>
            </a:extLst>
          </p:cNvPr>
          <p:cNvGraphicFramePr/>
          <p:nvPr/>
        </p:nvGraphicFramePr>
        <p:xfrm>
          <a:off xmlns:a="http://schemas.openxmlformats.org/drawingml/2006/main" x="285750" y="2152650"/>
          <a:ext xmlns:a="http://schemas.openxmlformats.org/drawingml/2006/main" cx="3048000" cy="1104900"/>
        </p:xfrm>
        <a:graphic xmlns:a="http://schemas.openxmlformats.org/drawingml/2006/main">
          <a:graphicData uri="http://schemas.openxmlformats.org/drawingml/2006/chart">
            <c:chart xmlns:r="http://schemas.openxmlformats.org/officeDocument/2006/relationships" xmlns:c="http://schemas.openxmlformats.org/drawingml/2006/chart" r:id="R7b4a44303dbe4ad0"/>
          </a:graphicData>
        </a:graphic>
      </p:graphicFrame>
      <p:sp>
        <p:nvSpPr>
          <p:cNvPr id="5" name="">
            <a:extLst xmlns:a="http://schemas.openxmlformats.org/drawingml/2006/main">
              <a:ext uri="{FF2B5EF4-FFF2-40B4-BE49-F238E27FC236}">
                <a16:creationId xmlns:a16="http://schemas.microsoft.com/office/drawing/2014/main" id="{9CF6AEEA-D6CF-459E-AC12-860B7D379A10}"/>
              </a:ext>
            </a:extLst>
          </p:cNvPr>
          <p:cNvSpPr>
            <a:spLocks xmlns:a="http://schemas.openxmlformats.org/drawingml/2006/main" noGrp="1"/>
          </p:cNvSpPr>
          <p:nvPr/>
        </p:nvSpPr>
        <p:spPr>
          <a:xfrm xmlns:a="http://schemas.openxmlformats.org/drawingml/2006/main">
            <a:off x="3810000" y="1771650"/>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a:solidFill>
                  <a:srgbClr val="38332E"/>
                </a:solidFill>
                <a:latin typeface="Ubuntu Condensed"/>
                <a:ea typeface="Ubuntu Condensed"/>
                <a:cs typeface="Ubuntu Condensed"/>
              </a:defRPr>
            </a:defPPr>
          </a:lstStyle>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Columns  AVG(GDP)     Rows  AVG(Life Expectancy)</a:t>
            </a:r>
          </a:p>
        </p:txBody>
      </p:sp>
      <p:sp>
        <p:nvSpPr>
          <p:cNvPr id="6" name="">
            <a:extLst xmlns:a="http://schemas.openxmlformats.org/drawingml/2006/main">
              <a:ext uri="{FF2B5EF4-FFF2-40B4-BE49-F238E27FC236}">
                <a16:creationId xmlns:a16="http://schemas.microsoft.com/office/drawing/2014/main" id="{3B430D7F-B9D1-4EE4-80B2-167EE79469BF}"/>
              </a:ext>
            </a:extLst>
          </p:cNvPr>
          <p:cNvSpPr>
            <a:spLocks xmlns:a="http://schemas.openxmlformats.org/drawingml/2006/main" noGrp="1"/>
          </p:cNvSpPr>
          <p:nvPr/>
        </p:nvSpPr>
        <p:spPr>
          <a:xfrm xmlns:a="http://schemas.openxmlformats.org/drawingml/2006/main">
            <a:off x="3810000" y="2190750"/>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Circle     Country: Detail     region: Color     Year: 2020</a:t>
            </a:r>
          </a:p>
        </p:txBody>
      </p:sp>
      <p:sp>
        <p:nvSpPr>
          <p:cNvPr id="7" name="">
            <a:extLst xmlns:a="http://schemas.openxmlformats.org/drawingml/2006/main">
              <a:ext uri="{FF2B5EF4-FFF2-40B4-BE49-F238E27FC236}">
                <a16:creationId xmlns:a16="http://schemas.microsoft.com/office/drawing/2014/main" id="{AC1C9FF7-CA7F-4981-9F4D-5AC77FDD20C5}"/>
              </a:ext>
            </a:extLst>
          </p:cNvPr>
          <p:cNvSpPr>
            <a:spLocks xmlns:a="http://schemas.openxmlformats.org/drawingml/2006/main" noGrp="1"/>
          </p:cNvSpPr>
          <p:nvPr/>
        </p:nvSpPr>
        <p:spPr>
          <a:xfrm xmlns:a="http://schemas.openxmlformats.org/drawingml/2006/main">
            <a:off x="3810000" y="2609850"/>
            <a:ext cx="7905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Year goes in Filters, not Pages. Keep one circle per country.</a:t>
            </a:r>
          </a:p>
        </p:txBody>
      </p:sp>
      <p:sp>
        <p:nvSpPr>
          <p:cNvPr id="8" name="">
            <a:extLst xmlns:a="http://schemas.openxmlformats.org/drawingml/2006/main">
              <a:ext uri="{FF2B5EF4-FFF2-40B4-BE49-F238E27FC236}">
                <a16:creationId xmlns:a16="http://schemas.microsoft.com/office/drawing/2014/main" id="{58831E75-A1F3-48ED-9DFF-B9BDB648FC6D}"/>
              </a:ext>
            </a:extLst>
          </p:cNvPr>
          <p:cNvSpPr>
            <a:spLocks xmlns:a="http://schemas.openxmlformats.org/drawingml/2006/main" noGrp="1"/>
          </p:cNvSpPr>
          <p:nvPr/>
        </p:nvSpPr>
        <p:spPr>
          <a:xfrm xmlns:a="http://schemas.openxmlformats.org/drawingml/2006/main">
            <a:off x="457200" y="32956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B23C50"/>
                </a:solidFill>
                <a:latin typeface="Ubuntu Condensed"/>
                <a:ea typeface="Ubuntu Condensed"/>
                <a:cs typeface="Ubuntu Condensed"/>
              </a:defRPr>
            </a:defPPr>
          </a:lstStyle>
          <a:p xmlns:a="http://schemas.openxmlformats.org/drawingml/2006/main">
            <a:pPr>
              <a:defRPr sz="2250">
                <a:solidFill>
                  <a:srgbClr val="B23C50"/>
                </a:solidFill>
                <a:latin typeface="Ubuntu Condensed"/>
                <a:ea typeface="Ubuntu Condensed"/>
                <a:cs typeface="Ubuntu Condensed"/>
              </a:defRPr>
            </a:pPr>
            <a:r>
              <a:rPr sz="2250">
                <a:solidFill>
                  <a:srgbClr val="B23C50"/>
                </a:solidFill>
                <a:latin typeface="Ubuntu Condensed"/>
                <a:ea typeface="Ubuntu Condensed"/>
                <a:cs typeface="Ubuntu Condensed"/>
              </a:rPr>
              <a:t>2  Life History</a:t>
            </a:r>
          </a:p>
        </p:txBody>
      </p:sp>
      <p:graphicFrame>
        <p:nvGraphicFramePr>
          <p:cNvPr id="9" name="Chart">
            <a:extLst xmlns:a="http://schemas.openxmlformats.org/drawingml/2006/main">
              <a:ext uri="{FF2B5EF4-FFF2-40B4-BE49-F238E27FC236}">
                <a16:creationId xmlns:a16="http://schemas.microsoft.com/office/drawing/2014/main" id="{F3AD4CB4-F843-4026-8EE3-8634DAEF42C8}"/>
              </a:ext>
            </a:extLst>
          </p:cNvPr>
          <p:cNvGraphicFramePr/>
          <p:nvPr/>
        </p:nvGraphicFramePr>
        <p:xfrm>
          <a:off xmlns:a="http://schemas.openxmlformats.org/drawingml/2006/main" x="285750" y="3676650"/>
          <a:ext xmlns:a="http://schemas.openxmlformats.org/drawingml/2006/main" cx="3048000" cy="1104900"/>
        </p:xfrm>
        <a:graphic xmlns:a="http://schemas.openxmlformats.org/drawingml/2006/main">
          <a:graphicData uri="http://schemas.openxmlformats.org/drawingml/2006/chart">
            <c:chart xmlns:r="http://schemas.openxmlformats.org/officeDocument/2006/relationships" xmlns:c="http://schemas.openxmlformats.org/drawingml/2006/chart" r:id="R038ec14d4b0c4a25"/>
          </a:graphicData>
        </a:graphic>
      </p:graphicFrame>
      <p:sp>
        <p:nvSpPr>
          <p:cNvPr id="10" name="">
            <a:extLst xmlns:a="http://schemas.openxmlformats.org/drawingml/2006/main">
              <a:ext uri="{FF2B5EF4-FFF2-40B4-BE49-F238E27FC236}">
                <a16:creationId xmlns:a16="http://schemas.microsoft.com/office/drawing/2014/main" id="{D4B51E8D-8EA9-4394-9EBB-71053661D811}"/>
              </a:ext>
            </a:extLst>
          </p:cNvPr>
          <p:cNvSpPr>
            <a:spLocks xmlns:a="http://schemas.openxmlformats.org/drawingml/2006/main" noGrp="1"/>
          </p:cNvSpPr>
          <p:nvPr/>
        </p:nvSpPr>
        <p:spPr>
          <a:xfrm xmlns:a="http://schemas.openxmlformats.org/drawingml/2006/main">
            <a:off x="3810000" y="3333750"/>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a:solidFill>
                  <a:srgbClr val="38332E"/>
                </a:solidFill>
                <a:latin typeface="Ubuntu Condensed"/>
                <a:ea typeface="Ubuntu Condensed"/>
                <a:cs typeface="Ubuntu Condensed"/>
              </a:defRPr>
            </a:defPPr>
          </a:lstStyle>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Columns  Year (continuous)     Rows  AVG(Life Expectancy)</a:t>
            </a:r>
          </a:p>
        </p:txBody>
      </p:sp>
      <p:sp>
        <p:nvSpPr>
          <p:cNvPr id="11" name="">
            <a:extLst xmlns:a="http://schemas.openxmlformats.org/drawingml/2006/main">
              <a:ext uri="{FF2B5EF4-FFF2-40B4-BE49-F238E27FC236}">
                <a16:creationId xmlns:a16="http://schemas.microsoft.com/office/drawing/2014/main" id="{918FCF26-EE4D-4E4D-9691-1681761104FB}"/>
              </a:ext>
            </a:extLst>
          </p:cNvPr>
          <p:cNvSpPr>
            <a:spLocks xmlns:a="http://schemas.openxmlformats.org/drawingml/2006/main" noGrp="1"/>
          </p:cNvSpPr>
          <p:nvPr/>
        </p:nvSpPr>
        <p:spPr>
          <a:xfrm xmlns:a="http://schemas.openxmlformats.org/drawingml/2006/main">
            <a:off x="3810000" y="3752850"/>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Line     Country: Color     Year: 1960–2020</a:t>
            </a:r>
          </a:p>
        </p:txBody>
      </p:sp>
      <p:sp>
        <p:nvSpPr>
          <p:cNvPr id="12" name="">
            <a:extLst xmlns:a="http://schemas.openxmlformats.org/drawingml/2006/main">
              <a:ext uri="{FF2B5EF4-FFF2-40B4-BE49-F238E27FC236}">
                <a16:creationId xmlns:a16="http://schemas.microsoft.com/office/drawing/2014/main" id="{70973EF0-0E83-4843-B69B-21E181654D18}"/>
              </a:ext>
            </a:extLst>
          </p:cNvPr>
          <p:cNvSpPr>
            <a:spLocks xmlns:a="http://schemas.openxmlformats.org/drawingml/2006/main" noGrp="1"/>
          </p:cNvSpPr>
          <p:nvPr/>
        </p:nvSpPr>
        <p:spPr>
          <a:xfrm xmlns:a="http://schemas.openxmlformats.org/drawingml/2006/main">
            <a:off x="3810000" y="4171950"/>
            <a:ext cx="7905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Convert Year to Dimension, then Continuous. Keep 1960–2020.</a:t>
            </a:r>
          </a:p>
        </p:txBody>
      </p:sp>
      <p:sp>
        <p:nvSpPr>
          <p:cNvPr id="13" name="">
            <a:extLst xmlns:a="http://schemas.openxmlformats.org/drawingml/2006/main">
              <a:ext uri="{FF2B5EF4-FFF2-40B4-BE49-F238E27FC236}">
                <a16:creationId xmlns:a16="http://schemas.microsoft.com/office/drawing/2014/main" id="{0DA2F988-774D-4D51-B269-640309C71C5D}"/>
              </a:ext>
            </a:extLst>
          </p:cNvPr>
          <p:cNvSpPr>
            <a:spLocks xmlns:a="http://schemas.openxmlformats.org/drawingml/2006/main" noGrp="1"/>
          </p:cNvSpPr>
          <p:nvPr/>
        </p:nvSpPr>
        <p:spPr>
          <a:xfrm xmlns:a="http://schemas.openxmlformats.org/drawingml/2006/main">
            <a:off x="457200" y="48577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a:solidFill>
                  <a:srgbClr val="B23C50"/>
                </a:solidFill>
                <a:latin typeface="Ubuntu Condensed"/>
                <a:ea typeface="Ubuntu Condensed"/>
                <a:cs typeface="Ubuntu Condensed"/>
              </a:defRPr>
            </a:defPPr>
          </a:lstStyle>
          <a:p xmlns:a="http://schemas.openxmlformats.org/drawingml/2006/main">
            <a:pPr>
              <a:defRPr sz="2250">
                <a:solidFill>
                  <a:srgbClr val="B23C50"/>
                </a:solidFill>
                <a:latin typeface="Ubuntu Condensed"/>
                <a:ea typeface="Ubuntu Condensed"/>
                <a:cs typeface="Ubuntu Condensed"/>
              </a:defRPr>
            </a:pPr>
            <a:r>
              <a:rPr sz="2250">
                <a:solidFill>
                  <a:srgbClr val="B23C50"/>
                </a:solidFill>
                <a:latin typeface="Ubuntu Condensed"/>
                <a:ea typeface="Ubuntu Condensed"/>
                <a:cs typeface="Ubuntu Condensed"/>
              </a:rPr>
              <a:t>3  GDP History</a:t>
            </a:r>
          </a:p>
        </p:txBody>
      </p:sp>
      <p:graphicFrame>
        <p:nvGraphicFramePr>
          <p:cNvPr id="14" name="Chart">
            <a:extLst xmlns:a="http://schemas.openxmlformats.org/drawingml/2006/main">
              <a:ext uri="{FF2B5EF4-FFF2-40B4-BE49-F238E27FC236}">
                <a16:creationId xmlns:a16="http://schemas.microsoft.com/office/drawing/2014/main" id="{E758541A-21B5-4149-8217-8A1E37220929}"/>
              </a:ext>
            </a:extLst>
          </p:cNvPr>
          <p:cNvGraphicFramePr/>
          <p:nvPr/>
        </p:nvGraphicFramePr>
        <p:xfrm>
          <a:off xmlns:a="http://schemas.openxmlformats.org/drawingml/2006/main" x="285750" y="5238750"/>
          <a:ext xmlns:a="http://schemas.openxmlformats.org/drawingml/2006/main" cx="3048000" cy="1104900"/>
        </p:xfrm>
        <a:graphic xmlns:a="http://schemas.openxmlformats.org/drawingml/2006/main">
          <a:graphicData uri="http://schemas.openxmlformats.org/drawingml/2006/chart">
            <c:chart xmlns:r="http://schemas.openxmlformats.org/officeDocument/2006/relationships" xmlns:c="http://schemas.openxmlformats.org/drawingml/2006/chart" r:id="R720b1dd974be432a"/>
          </a:graphicData>
        </a:graphic>
      </p:graphicFrame>
      <p:sp>
        <p:nvSpPr>
          <p:cNvPr id="15" name="">
            <a:extLst xmlns:a="http://schemas.openxmlformats.org/drawingml/2006/main">
              <a:ext uri="{FF2B5EF4-FFF2-40B4-BE49-F238E27FC236}">
                <a16:creationId xmlns:a16="http://schemas.microsoft.com/office/drawing/2014/main" id="{D1D50D82-517E-46D5-A642-C5381A9B6724}"/>
              </a:ext>
            </a:extLst>
          </p:cNvPr>
          <p:cNvSpPr>
            <a:spLocks xmlns:a="http://schemas.openxmlformats.org/drawingml/2006/main" noGrp="1"/>
          </p:cNvSpPr>
          <p:nvPr/>
        </p:nvSpPr>
        <p:spPr>
          <a:xfrm xmlns:a="http://schemas.openxmlformats.org/drawingml/2006/main">
            <a:off x="3810000" y="4895850"/>
            <a:ext cx="7905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a:solidFill>
                  <a:srgbClr val="38332E"/>
                </a:solidFill>
                <a:latin typeface="Ubuntu Condensed"/>
                <a:ea typeface="Ubuntu Condensed"/>
                <a:cs typeface="Ubuntu Condensed"/>
              </a:defRPr>
            </a:defPPr>
          </a:lstStyle>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Duplicate Life History.</a:t>
            </a:r>
          </a:p>
          <a:p xmlns:a="http://schemas.openxmlformats.org/drawingml/2006/main">
            <a:pPr>
              <a:defRPr sz="1950">
                <a:solidFill>
                  <a:srgbClr val="38332E"/>
                </a:solidFill>
                <a:latin typeface="Ubuntu Condensed"/>
                <a:ea typeface="Ubuntu Condensed"/>
                <a:cs typeface="Ubuntu Condensed"/>
              </a:defRPr>
            </a:pPr>
            <a:r>
              <a:rPr sz="1950">
                <a:solidFill>
                  <a:srgbClr val="38332E"/>
                </a:solidFill>
                <a:latin typeface="Ubuntu Condensed"/>
                <a:ea typeface="Ubuntu Condensed"/>
                <a:cs typeface="Ubuntu Condensed"/>
              </a:rPr>
              <a:t>Replace the measure with AVG(GDP).</a:t>
            </a:r>
          </a:p>
        </p:txBody>
      </p:sp>
      <p:sp>
        <p:nvSpPr>
          <p:cNvPr id="16" name="">
            <a:extLst xmlns:a="http://schemas.openxmlformats.org/drawingml/2006/main">
              <a:ext uri="{FF2B5EF4-FFF2-40B4-BE49-F238E27FC236}">
                <a16:creationId xmlns:a16="http://schemas.microsoft.com/office/drawing/2014/main" id="{EF1F00FA-D8C6-4BCA-96BB-DCCE82B659B1}"/>
              </a:ext>
            </a:extLst>
          </p:cNvPr>
          <p:cNvSpPr>
            <a:spLocks xmlns:a="http://schemas.openxmlformats.org/drawingml/2006/main" noGrp="1"/>
          </p:cNvSpPr>
          <p:nvPr/>
        </p:nvSpPr>
        <p:spPr>
          <a:xfrm xmlns:a="http://schemas.openxmlformats.org/drawingml/2006/main">
            <a:off x="3810000" y="5695950"/>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Same countries. Same years. A different measure.</a:t>
            </a:r>
          </a:p>
        </p:txBody>
      </p:sp>
    </p:spTree>
    <p:extLst>
      <p:ext uri="{BB962C8B-B14F-4D97-AF65-F5344CB8AC3E}">
        <p14:creationId xmlns:p14="http://schemas.microsoft.com/office/powerpoint/2010/main" val="3049464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88509F0-7D1B-49B8-8CC5-7B514A164B4B}"/>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The dashboard layout</a:t>
            </a:r>
          </a:p>
        </p:txBody>
      </p:sp>
      <p:sp>
        <p:nvSpPr>
          <p:cNvPr id="2" name="">
            <a:extLst xmlns:a="http://schemas.openxmlformats.org/drawingml/2006/main">
              <a:ext uri="{FF2B5EF4-FFF2-40B4-BE49-F238E27FC236}">
                <a16:creationId xmlns:a16="http://schemas.microsoft.com/office/drawing/2014/main" id="{AF1417FB-B26D-4745-82B0-3C50E7F52F36}"/>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A large overview and a smaller history column</a:t>
            </a:r>
          </a:p>
        </p:txBody>
      </p:sp>
      <p:sp>
        <p:nvSpPr>
          <p:cNvPr id="3" name="">
            <a:extLst xmlns:a="http://schemas.openxmlformats.org/drawingml/2006/main">
              <a:ext uri="{FF2B5EF4-FFF2-40B4-BE49-F238E27FC236}">
                <a16:creationId xmlns:a16="http://schemas.microsoft.com/office/drawing/2014/main" id="{12AF815A-B4E0-4BD1-92CF-A57BC5800A6E}"/>
              </a:ext>
            </a:extLst>
          </p:cNvPr>
          <p:cNvSpPr>
            <a:spLocks xmlns:a="http://schemas.openxmlformats.org/drawingml/2006/main" noGrp="1"/>
          </p:cNvSpPr>
          <p:nvPr/>
        </p:nvSpPr>
        <p:spPr>
          <a:xfrm xmlns:a="http://schemas.openxmlformats.org/drawingml/2006/main">
            <a:off x="457200" y="1685925"/>
            <a:ext cx="619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81796F"/>
                </a:solidFill>
                <a:latin typeface="Ubuntu Condensed"/>
                <a:ea typeface="Ubuntu Condensed"/>
                <a:cs typeface="Ubuntu Condensed"/>
              </a:defRPr>
            </a:defPPr>
          </a:lstStyle>
          <a:p xmlns:a="http://schemas.openxmlformats.org/drawingml/2006/main">
            <a:pPr>
              <a:defRPr sz="2025">
                <a:solidFill>
                  <a:srgbClr val="81796F"/>
                </a:solidFill>
                <a:latin typeface="Ubuntu Condensed"/>
                <a:ea typeface="Ubuntu Condensed"/>
                <a:cs typeface="Ubuntu Condensed"/>
              </a:defRPr>
            </a:pPr>
            <a:r>
              <a:rPr sz="2025">
                <a:solidFill>
                  <a:srgbClr val="81796F"/>
                </a:solidFill>
                <a:latin typeface="Ubuntu Condensed"/>
                <a:ea typeface="Ubuntu Condensed"/>
                <a:cs typeface="Ubuntu Condensed"/>
              </a:rPr>
              <a:t>1200 × 800</a:t>
            </a:r>
          </a:p>
        </p:txBody>
      </p:sp>
      <p:sp>
        <p:nvSpPr>
          <p:cNvPr id="4" name="">
            <a:extLst xmlns:a="http://schemas.openxmlformats.org/drawingml/2006/main">
              <a:ext uri="{FF2B5EF4-FFF2-40B4-BE49-F238E27FC236}">
                <a16:creationId xmlns:a16="http://schemas.microsoft.com/office/drawing/2014/main" id="{4FC470B6-CD6C-4773-8DEC-E6F317544CAD}"/>
              </a:ext>
            </a:extLst>
          </p:cNvPr>
          <p:cNvSpPr>
            <a:spLocks xmlns:a="http://schemas.openxmlformats.org/drawingml/2006/main" noGrp="1"/>
          </p:cNvSpPr>
          <p:nvPr/>
        </p:nvSpPr>
        <p:spPr>
          <a:xfrm xmlns:a="http://schemas.openxmlformats.org/drawingml/2006/main">
            <a:off x="457200" y="2219325"/>
            <a:ext cx="4000500" cy="3638550"/>
          </a:xfrm>
          <a:prstGeom xmlns:a="http://schemas.openxmlformats.org/drawingml/2006/main" prst="rect">
            <a:avLst/>
          </a:prstGeom>
          <a:solidFill xmlns:a="http://schemas.openxmlformats.org/drawingml/2006/main">
            <a:srgbClr val="F6F2E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735E11-80D4-4157-AD89-EA8238458C05}"/>
              </a:ext>
            </a:extLst>
          </p:cNvPr>
          <p:cNvSpPr>
            <a:spLocks xmlns:a="http://schemas.openxmlformats.org/drawingml/2006/main" noGrp="1"/>
          </p:cNvSpPr>
          <p:nvPr/>
        </p:nvSpPr>
        <p:spPr>
          <a:xfrm xmlns:a="http://schemas.openxmlformats.org/drawingml/2006/main">
            <a:off x="4610100" y="2219325"/>
            <a:ext cx="2057400" cy="1743075"/>
          </a:xfrm>
          <a:prstGeom xmlns:a="http://schemas.openxmlformats.org/drawingml/2006/main" prst="rect">
            <a:avLst/>
          </a:prstGeom>
          <a:solidFill xmlns:a="http://schemas.openxmlformats.org/drawingml/2006/main">
            <a:srgbClr val="F6F2E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A4AC909-05FB-41C3-AB6F-9B55D83ED93A}"/>
              </a:ext>
            </a:extLst>
          </p:cNvPr>
          <p:cNvSpPr>
            <a:spLocks xmlns:a="http://schemas.openxmlformats.org/drawingml/2006/main" noGrp="1"/>
          </p:cNvSpPr>
          <p:nvPr/>
        </p:nvSpPr>
        <p:spPr>
          <a:xfrm xmlns:a="http://schemas.openxmlformats.org/drawingml/2006/main">
            <a:off x="4610100" y="4114800"/>
            <a:ext cx="2057400" cy="1743075"/>
          </a:xfrm>
          <a:prstGeom xmlns:a="http://schemas.openxmlformats.org/drawingml/2006/main" prst="rect">
            <a:avLst/>
          </a:prstGeom>
          <a:solidFill xmlns:a="http://schemas.openxmlformats.org/drawingml/2006/main">
            <a:srgbClr val="F6F2E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07CA69B-95F6-431E-9A46-179F06602421}"/>
              </a:ext>
            </a:extLst>
          </p:cNvPr>
          <p:cNvSpPr>
            <a:spLocks xmlns:a="http://schemas.openxmlformats.org/drawingml/2006/main" noGrp="1"/>
          </p:cNvSpPr>
          <p:nvPr/>
        </p:nvSpPr>
        <p:spPr>
          <a:xfrm xmlns:a="http://schemas.openxmlformats.org/drawingml/2006/main">
            <a:off x="733425" y="361950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a:solidFill>
                  <a:srgbClr val="38332E"/>
                </a:solidFill>
                <a:latin typeface="Ubuntu Condensed"/>
                <a:ea typeface="Ubuntu Condensed"/>
                <a:cs typeface="Ubuntu Condensed"/>
              </a:defRPr>
            </a:defPPr>
          </a:lstStyle>
          <a:p xmlns:a="http://schemas.openxmlformats.org/drawingml/2006/main">
            <a:pPr>
              <a:defRPr sz="3375">
                <a:solidFill>
                  <a:srgbClr val="38332E"/>
                </a:solidFill>
                <a:latin typeface="Ubuntu Condensed"/>
                <a:ea typeface="Ubuntu Condensed"/>
                <a:cs typeface="Ubuntu Condensed"/>
              </a:defRPr>
            </a:pPr>
            <a:r>
              <a:rPr sz="3375">
                <a:solidFill>
                  <a:srgbClr val="38332E"/>
                </a:solidFill>
                <a:latin typeface="Ubuntu Condensed"/>
                <a:ea typeface="Ubuntu Condensed"/>
                <a:cs typeface="Ubuntu Condensed"/>
              </a:rPr>
              <a:t>World</a:t>
            </a:r>
          </a:p>
        </p:txBody>
      </p:sp>
      <p:sp>
        <p:nvSpPr>
          <p:cNvPr id="8" name="">
            <a:extLst xmlns:a="http://schemas.openxmlformats.org/drawingml/2006/main">
              <a:ext uri="{FF2B5EF4-FFF2-40B4-BE49-F238E27FC236}">
                <a16:creationId xmlns:a16="http://schemas.microsoft.com/office/drawing/2014/main" id="{C41AB026-BA1D-4614-8E5B-A1FD3F3882D0}"/>
              </a:ext>
            </a:extLst>
          </p:cNvPr>
          <p:cNvSpPr>
            <a:spLocks xmlns:a="http://schemas.openxmlformats.org/drawingml/2006/main" noGrp="1"/>
          </p:cNvSpPr>
          <p:nvPr/>
        </p:nvSpPr>
        <p:spPr>
          <a:xfrm xmlns:a="http://schemas.openxmlformats.org/drawingml/2006/main">
            <a:off x="4810125" y="2619375"/>
            <a:ext cx="1714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38332E"/>
                </a:solidFill>
                <a:latin typeface="Ubuntu Condensed"/>
                <a:ea typeface="Ubuntu Condensed"/>
                <a:cs typeface="Ubuntu Condensed"/>
              </a:defRPr>
            </a:defPPr>
          </a:lstStyle>
          <a:p xmlns:a="http://schemas.openxmlformats.org/drawingml/2006/main">
            <a:pP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Life</a:t>
            </a:r>
          </a:p>
          <a:p xmlns:a="http://schemas.openxmlformats.org/drawingml/2006/main">
            <a:pP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History</a:t>
            </a:r>
          </a:p>
        </p:txBody>
      </p:sp>
      <p:sp>
        <p:nvSpPr>
          <p:cNvPr id="9" name="">
            <a:extLst xmlns:a="http://schemas.openxmlformats.org/drawingml/2006/main">
              <a:ext uri="{FF2B5EF4-FFF2-40B4-BE49-F238E27FC236}">
                <a16:creationId xmlns:a16="http://schemas.microsoft.com/office/drawing/2014/main" id="{28BF0B2F-DA31-469A-9D23-E768FE83D079}"/>
              </a:ext>
            </a:extLst>
          </p:cNvPr>
          <p:cNvSpPr>
            <a:spLocks xmlns:a="http://schemas.openxmlformats.org/drawingml/2006/main" noGrp="1"/>
          </p:cNvSpPr>
          <p:nvPr/>
        </p:nvSpPr>
        <p:spPr>
          <a:xfrm xmlns:a="http://schemas.openxmlformats.org/drawingml/2006/main">
            <a:off x="4810125" y="4524375"/>
            <a:ext cx="1714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38332E"/>
                </a:solidFill>
                <a:latin typeface="Ubuntu Condensed"/>
                <a:ea typeface="Ubuntu Condensed"/>
                <a:cs typeface="Ubuntu Condensed"/>
              </a:defRPr>
            </a:defPPr>
          </a:lstStyle>
          <a:p xmlns:a="http://schemas.openxmlformats.org/drawingml/2006/main">
            <a:pP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GDP</a:t>
            </a:r>
          </a:p>
          <a:p xmlns:a="http://schemas.openxmlformats.org/drawingml/2006/main">
            <a:pPr>
              <a:defRPr sz="2325">
                <a:solidFill>
                  <a:srgbClr val="38332E"/>
                </a:solidFill>
                <a:latin typeface="Ubuntu Condensed"/>
                <a:ea typeface="Ubuntu Condensed"/>
                <a:cs typeface="Ubuntu Condensed"/>
              </a:defRPr>
            </a:pPr>
            <a:r>
              <a:rPr sz="2325">
                <a:solidFill>
                  <a:srgbClr val="38332E"/>
                </a:solidFill>
                <a:latin typeface="Ubuntu Condensed"/>
                <a:ea typeface="Ubuntu Condensed"/>
                <a:cs typeface="Ubuntu Condensed"/>
              </a:rPr>
              <a:t>History</a:t>
            </a:r>
          </a:p>
        </p:txBody>
      </p:sp>
      <p:sp>
        <p:nvSpPr>
          <p:cNvPr id="10" name="">
            <a:extLst xmlns:a="http://schemas.openxmlformats.org/drawingml/2006/main">
              <a:ext uri="{FF2B5EF4-FFF2-40B4-BE49-F238E27FC236}">
                <a16:creationId xmlns:a16="http://schemas.microsoft.com/office/drawing/2014/main" id="{1C64B343-D758-4BBE-9819-C2781A046956}"/>
              </a:ext>
            </a:extLst>
          </p:cNvPr>
          <p:cNvSpPr>
            <a:spLocks xmlns:a="http://schemas.openxmlformats.org/drawingml/2006/main" noGrp="1"/>
          </p:cNvSpPr>
          <p:nvPr/>
        </p:nvSpPr>
        <p:spPr>
          <a:xfrm xmlns:a="http://schemas.openxmlformats.org/drawingml/2006/main">
            <a:off x="457200" y="6067425"/>
            <a:ext cx="6286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81796F"/>
                </a:solidFill>
                <a:latin typeface="Ubuntu Condensed"/>
                <a:ea typeface="Ubuntu Condensed"/>
                <a:cs typeface="Ubuntu Condensed"/>
              </a:defRPr>
            </a:defPPr>
          </a:lstStyle>
          <a:p xmlns:a="http://schemas.openxmlformats.org/drawingml/2006/main">
            <a:pPr>
              <a:defRPr sz="1725">
                <a:solidFill>
                  <a:srgbClr val="81796F"/>
                </a:solidFill>
                <a:latin typeface="Ubuntu Condensed"/>
                <a:ea typeface="Ubuntu Condensed"/>
                <a:cs typeface="Ubuntu Condensed"/>
              </a:defRPr>
            </a:pPr>
            <a:r>
              <a:rPr sz="1725">
                <a:solidFill>
                  <a:srgbClr val="81796F"/>
                </a:solidFill>
                <a:latin typeface="Ubuntu Condensed"/>
                <a:ea typeface="Ubuntu Condensed"/>
                <a:cs typeface="Ubuntu Condensed"/>
              </a:rPr>
              <a:t>Tiled: horizontal container, with a vertical container on the right</a:t>
            </a:r>
          </a:p>
        </p:txBody>
      </p:sp>
      <p:sp>
        <p:nvSpPr>
          <p:cNvPr id="11" name="">
            <a:extLst xmlns:a="http://schemas.openxmlformats.org/drawingml/2006/main">
              <a:ext uri="{FF2B5EF4-FFF2-40B4-BE49-F238E27FC236}">
                <a16:creationId xmlns:a16="http://schemas.microsoft.com/office/drawing/2014/main" id="{E3B9A716-7418-4C3E-A263-B66F2361DCBB}"/>
              </a:ext>
            </a:extLst>
          </p:cNvPr>
          <p:cNvSpPr>
            <a:spLocks xmlns:a="http://schemas.openxmlformats.org/drawingml/2006/main" noGrp="1"/>
          </p:cNvSpPr>
          <p:nvPr/>
        </p:nvSpPr>
        <p:spPr>
          <a:xfrm xmlns:a="http://schemas.openxmlformats.org/drawingml/2006/main">
            <a:off x="7334250" y="1752600"/>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B23C50"/>
                </a:solidFill>
                <a:latin typeface="Ubuntu Condensed"/>
                <a:ea typeface="Ubuntu Condensed"/>
                <a:cs typeface="Ubuntu Condensed"/>
              </a:defRPr>
            </a:defPPr>
          </a:lstStyle>
          <a:p xmlns:a="http://schemas.openxmlformats.org/drawingml/2006/main">
            <a:pPr>
              <a:defRPr sz="2325">
                <a:solidFill>
                  <a:srgbClr val="B23C50"/>
                </a:solidFill>
                <a:latin typeface="Ubuntu Condensed"/>
                <a:ea typeface="Ubuntu Condensed"/>
                <a:cs typeface="Ubuntu Condensed"/>
              </a:defRPr>
            </a:pPr>
            <a:r>
              <a:rPr sz="2325">
                <a:solidFill>
                  <a:srgbClr val="B23C50"/>
                </a:solidFill>
                <a:latin typeface="Ubuntu Condensed"/>
                <a:ea typeface="Ubuntu Condensed"/>
                <a:cs typeface="Ubuntu Condensed"/>
              </a:rPr>
              <a:t>1  New Dashboard</a:t>
            </a:r>
          </a:p>
        </p:txBody>
      </p:sp>
      <p:sp>
        <p:nvSpPr>
          <p:cNvPr id="12" name="">
            <a:extLst xmlns:a="http://schemas.openxmlformats.org/drawingml/2006/main">
              <a:ext uri="{FF2B5EF4-FFF2-40B4-BE49-F238E27FC236}">
                <a16:creationId xmlns:a16="http://schemas.microsoft.com/office/drawing/2014/main" id="{D1CF3A7F-77D9-4F98-A4A1-07EEA5371C26}"/>
              </a:ext>
            </a:extLst>
          </p:cNvPr>
          <p:cNvSpPr>
            <a:spLocks xmlns:a="http://schemas.openxmlformats.org/drawingml/2006/main" noGrp="1"/>
          </p:cNvSpPr>
          <p:nvPr/>
        </p:nvSpPr>
        <p:spPr>
          <a:xfrm xmlns:a="http://schemas.openxmlformats.org/drawingml/2006/main">
            <a:off x="7334250" y="2228850"/>
            <a:ext cx="4286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Set Size to Fixed: 1200 × 800.</a:t>
            </a:r>
          </a:p>
        </p:txBody>
      </p:sp>
      <p:sp>
        <p:nvSpPr>
          <p:cNvPr id="13" name="">
            <a:extLst xmlns:a="http://schemas.openxmlformats.org/drawingml/2006/main">
              <a:ext uri="{FF2B5EF4-FFF2-40B4-BE49-F238E27FC236}">
                <a16:creationId xmlns:a16="http://schemas.microsoft.com/office/drawing/2014/main" id="{E7EBD61D-7030-472E-9714-176381BFE5FC}"/>
              </a:ext>
            </a:extLst>
          </p:cNvPr>
          <p:cNvSpPr>
            <a:spLocks xmlns:a="http://schemas.openxmlformats.org/drawingml/2006/main" noGrp="1"/>
          </p:cNvSpPr>
          <p:nvPr/>
        </p:nvSpPr>
        <p:spPr>
          <a:xfrm xmlns:a="http://schemas.openxmlformats.org/drawingml/2006/main">
            <a:off x="7334250" y="3057525"/>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B23C50"/>
                </a:solidFill>
                <a:latin typeface="Ubuntu Condensed"/>
                <a:ea typeface="Ubuntu Condensed"/>
                <a:cs typeface="Ubuntu Condensed"/>
              </a:defRPr>
            </a:defPPr>
          </a:lstStyle>
          <a:p xmlns:a="http://schemas.openxmlformats.org/drawingml/2006/main">
            <a:pPr>
              <a:defRPr sz="2325">
                <a:solidFill>
                  <a:srgbClr val="B23C50"/>
                </a:solidFill>
                <a:latin typeface="Ubuntu Condensed"/>
                <a:ea typeface="Ubuntu Condensed"/>
                <a:cs typeface="Ubuntu Condensed"/>
              </a:defRPr>
            </a:pPr>
            <a:r>
              <a:rPr sz="2325">
                <a:solidFill>
                  <a:srgbClr val="B23C50"/>
                </a:solidFill>
                <a:latin typeface="Ubuntu Condensed"/>
                <a:ea typeface="Ubuntu Condensed"/>
                <a:cs typeface="Ubuntu Condensed"/>
              </a:rPr>
              <a:t>2  Tiled layout</a:t>
            </a:r>
          </a:p>
        </p:txBody>
      </p:sp>
      <p:sp>
        <p:nvSpPr>
          <p:cNvPr id="14" name="">
            <a:extLst xmlns:a="http://schemas.openxmlformats.org/drawingml/2006/main">
              <a:ext uri="{FF2B5EF4-FFF2-40B4-BE49-F238E27FC236}">
                <a16:creationId xmlns:a16="http://schemas.microsoft.com/office/drawing/2014/main" id="{5CBB6A05-D082-45B2-8F7D-9FD9E923B445}"/>
              </a:ext>
            </a:extLst>
          </p:cNvPr>
          <p:cNvSpPr>
            <a:spLocks xmlns:a="http://schemas.openxmlformats.org/drawingml/2006/main" noGrp="1"/>
          </p:cNvSpPr>
          <p:nvPr/>
        </p:nvSpPr>
        <p:spPr>
          <a:xfrm xmlns:a="http://schemas.openxmlformats.org/drawingml/2006/main">
            <a:off x="7334250" y="3524250"/>
            <a:ext cx="4286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Drag World left. Stack both histories on the right.</a:t>
            </a:r>
          </a:p>
        </p:txBody>
      </p:sp>
      <p:sp>
        <p:nvSpPr>
          <p:cNvPr id="15" name="">
            <a:extLst xmlns:a="http://schemas.openxmlformats.org/drawingml/2006/main">
              <a:ext uri="{FF2B5EF4-FFF2-40B4-BE49-F238E27FC236}">
                <a16:creationId xmlns:a16="http://schemas.microsoft.com/office/drawing/2014/main" id="{992CE7AB-A4CF-451C-A3F7-8A0D537C20F4}"/>
              </a:ext>
            </a:extLst>
          </p:cNvPr>
          <p:cNvSpPr>
            <a:spLocks xmlns:a="http://schemas.openxmlformats.org/drawingml/2006/main" noGrp="1"/>
          </p:cNvSpPr>
          <p:nvPr/>
        </p:nvSpPr>
        <p:spPr>
          <a:xfrm xmlns:a="http://schemas.openxmlformats.org/drawingml/2006/main">
            <a:off x="7334250" y="4619625"/>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a:solidFill>
                  <a:srgbClr val="B23C50"/>
                </a:solidFill>
                <a:latin typeface="Ubuntu Condensed"/>
                <a:ea typeface="Ubuntu Condensed"/>
                <a:cs typeface="Ubuntu Condensed"/>
              </a:defRPr>
            </a:defPPr>
          </a:lstStyle>
          <a:p xmlns:a="http://schemas.openxmlformats.org/drawingml/2006/main">
            <a:pPr>
              <a:defRPr sz="2325">
                <a:solidFill>
                  <a:srgbClr val="B23C50"/>
                </a:solidFill>
                <a:latin typeface="Ubuntu Condensed"/>
                <a:ea typeface="Ubuntu Condensed"/>
                <a:cs typeface="Ubuntu Condensed"/>
              </a:defRPr>
            </a:pPr>
            <a:r>
              <a:rPr sz="2325">
                <a:solidFill>
                  <a:srgbClr val="B23C50"/>
                </a:solidFill>
                <a:latin typeface="Ubuntu Condensed"/>
                <a:ea typeface="Ubuntu Condensed"/>
                <a:cs typeface="Ubuntu Condensed"/>
              </a:rPr>
              <a:t>3  One year control</a:t>
            </a:r>
          </a:p>
        </p:txBody>
      </p:sp>
      <p:sp>
        <p:nvSpPr>
          <p:cNvPr id="16" name="">
            <a:extLst xmlns:a="http://schemas.openxmlformats.org/drawingml/2006/main">
              <a:ext uri="{FF2B5EF4-FFF2-40B4-BE49-F238E27FC236}">
                <a16:creationId xmlns:a16="http://schemas.microsoft.com/office/drawing/2014/main" id="{91F8C492-CB5C-4A30-BB6B-5230824BB6AB}"/>
              </a:ext>
            </a:extLst>
          </p:cNvPr>
          <p:cNvSpPr>
            <a:spLocks xmlns:a="http://schemas.openxmlformats.org/drawingml/2006/main" noGrp="1"/>
          </p:cNvSpPr>
          <p:nvPr/>
        </p:nvSpPr>
        <p:spPr>
          <a:xfrm xmlns:a="http://schemas.openxmlformats.org/drawingml/2006/main">
            <a:off x="7334250" y="5105400"/>
            <a:ext cx="4286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38332E"/>
                </a:solidFill>
                <a:latin typeface="Ubuntu Condensed"/>
                <a:ea typeface="Ubuntu Condensed"/>
                <a:cs typeface="Ubuntu Condensed"/>
              </a:defRPr>
            </a:defPPr>
          </a:lstStyle>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Year filter menu:</a:t>
            </a:r>
          </a:p>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Apply to Worksheets</a:t>
            </a:r>
          </a:p>
          <a:p xmlns:a="http://schemas.openxmlformats.org/drawingml/2006/main">
            <a:pPr>
              <a:defRPr sz="1875">
                <a:solidFill>
                  <a:srgbClr val="38332E"/>
                </a:solidFill>
                <a:latin typeface="Ubuntu Condensed"/>
                <a:ea typeface="Ubuntu Condensed"/>
                <a:cs typeface="Ubuntu Condensed"/>
              </a:defRPr>
            </a:pPr>
            <a:r>
              <a:rPr sz="1875">
                <a:solidFill>
                  <a:srgbClr val="38332E"/>
                </a:solidFill>
                <a:latin typeface="Ubuntu Condensed"/>
                <a:ea typeface="Ubuntu Condensed"/>
                <a:cs typeface="Ubuntu Condensed"/>
              </a:rPr>
              <a:t>Selected Worksheets: World only.</a:t>
            </a:r>
          </a:p>
        </p:txBody>
      </p:sp>
      <p:sp>
        <p:nvSpPr>
          <p:cNvPr id="17" name="">
            <a:extLst xmlns:a="http://schemas.openxmlformats.org/drawingml/2006/main">
              <a:ext uri="{FF2B5EF4-FFF2-40B4-BE49-F238E27FC236}">
                <a16:creationId xmlns:a16="http://schemas.microsoft.com/office/drawing/2014/main" id="{883C52DE-7CA1-45FE-AFF4-C64B82A3BD47}"/>
              </a:ext>
            </a:extLst>
          </p:cNvPr>
          <p:cNvSpPr>
            <a:spLocks xmlns:a="http://schemas.openxmlformats.org/drawingml/2006/main" noGrp="1"/>
          </p:cNvSpPr>
          <p:nvPr/>
        </p:nvSpPr>
        <p:spPr>
          <a:xfrm xmlns:a="http://schemas.openxmlformats.org/drawingml/2006/main">
            <a:off x="7334250" y="6229350"/>
            <a:ext cx="428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B23C50"/>
                </a:solidFill>
                <a:latin typeface="Ubuntu Condensed"/>
                <a:ea typeface="Ubuntu Condensed"/>
                <a:cs typeface="Ubuntu Condensed"/>
              </a:defRPr>
            </a:defPPr>
          </a:lstStyle>
          <a:p xmlns:a="http://schemas.openxmlformats.org/drawingml/2006/main">
            <a:pPr>
              <a:defRPr sz="1725">
                <a:solidFill>
                  <a:srgbClr val="B23C50"/>
                </a:solidFill>
                <a:latin typeface="Ubuntu Condensed"/>
                <a:ea typeface="Ubuntu Condensed"/>
                <a:cs typeface="Ubuntu Condensed"/>
              </a:defRPr>
            </a:pPr>
            <a:r>
              <a:rPr sz="1725">
                <a:solidFill>
                  <a:srgbClr val="B23C50"/>
                </a:solidFill>
                <a:latin typeface="Ubuntu Condensed"/>
                <a:ea typeface="Ubuntu Condensed"/>
                <a:cs typeface="Ubuntu Condensed"/>
              </a:rPr>
              <a:t>Keep both histories at 1960–2020.</a:t>
            </a:r>
          </a:p>
        </p:txBody>
      </p:sp>
    </p:spTree>
    <p:extLst>
      <p:ext uri="{BB962C8B-B14F-4D97-AF65-F5344CB8AC3E}">
        <p14:creationId xmlns:p14="http://schemas.microsoft.com/office/powerpoint/2010/main" val="19982033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BE7A930-C0B7-4D6B-A05D-A8CD3CD38DF7}"/>
              </a:ext>
            </a:extLst>
          </p:cNvPr>
          <p:cNvSpPr>
            <a:spLocks xmlns:a="http://schemas.openxmlformats.org/drawingml/2006/main" noGrp="1"/>
          </p:cNvSpPr>
          <p:nvPr/>
        </p:nvSpPr>
        <p:spPr>
          <a:xfrm xmlns:a="http://schemas.openxmlformats.org/drawingml/2006/main">
            <a:off x="419100" y="266700"/>
            <a:ext cx="1135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a:solidFill>
                  <a:srgbClr val="38332E"/>
                </a:solidFill>
                <a:latin typeface="Ubuntu Condensed"/>
                <a:ea typeface="Ubuntu Condensed"/>
                <a:cs typeface="Ubuntu Condensed"/>
              </a:defRPr>
            </a:defPPr>
          </a:lstStyle>
          <a:p xmlns:a="http://schemas.openxmlformats.org/drawingml/2006/main">
            <a:pPr>
              <a:defRPr sz="3450">
                <a:solidFill>
                  <a:srgbClr val="38332E"/>
                </a:solidFill>
                <a:latin typeface="Ubuntu Condensed"/>
                <a:ea typeface="Ubuntu Condensed"/>
                <a:cs typeface="Ubuntu Condensed"/>
              </a:defRPr>
            </a:pPr>
            <a:r>
              <a:rPr sz="3450">
                <a:solidFill>
                  <a:srgbClr val="38332E"/>
                </a:solidFill>
                <a:latin typeface="Ubuntu Condensed"/>
                <a:ea typeface="Ubuntu Condensed"/>
                <a:cs typeface="Ubuntu Condensed"/>
              </a:rPr>
              <a:t>A country click keeps the whole history</a:t>
            </a:r>
          </a:p>
        </p:txBody>
      </p:sp>
      <p:sp>
        <p:nvSpPr>
          <p:cNvPr id="2" name="">
            <a:extLst xmlns:a="http://schemas.openxmlformats.org/drawingml/2006/main">
              <a:ext uri="{FF2B5EF4-FFF2-40B4-BE49-F238E27FC236}">
                <a16:creationId xmlns:a16="http://schemas.microsoft.com/office/drawing/2014/main" id="{D9BB4FCA-3C20-4939-8F74-AD66F6AEFE9A}"/>
              </a:ext>
            </a:extLst>
          </p:cNvPr>
          <p:cNvSpPr>
            <a:spLocks xmlns:a="http://schemas.openxmlformats.org/drawingml/2006/main" noGrp="1"/>
          </p:cNvSpPr>
          <p:nvPr/>
        </p:nvSpPr>
        <p:spPr>
          <a:xfrm xmlns:a="http://schemas.openxmlformats.org/drawingml/2006/main">
            <a:off x="438150" y="990600"/>
            <a:ext cx="1133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a:solidFill>
                  <a:srgbClr val="81796F"/>
                </a:solidFill>
                <a:latin typeface="Ubuntu Condensed"/>
                <a:ea typeface="Ubuntu Condensed"/>
                <a:cs typeface="Ubuntu Condensed"/>
              </a:defRPr>
            </a:defPPr>
          </a:lstStyle>
          <a:p xmlns:a="http://schemas.openxmlformats.org/drawingml/2006/main">
            <a:pPr>
              <a:defRPr sz="1875">
                <a:solidFill>
                  <a:srgbClr val="81796F"/>
                </a:solidFill>
                <a:latin typeface="Ubuntu Condensed"/>
                <a:ea typeface="Ubuntu Condensed"/>
                <a:cs typeface="Ubuntu Condensed"/>
              </a:defRPr>
            </a:pPr>
            <a:r>
              <a:rPr sz="1875">
                <a:solidFill>
                  <a:srgbClr val="81796F"/>
                </a:solidFill>
                <a:latin typeface="Ubuntu Condensed"/>
                <a:ea typeface="Ubuntu Condensed"/>
                <a:cs typeface="Ubuntu Condensed"/>
              </a:rPr>
              <a:t>Dashboard &gt; Actions &gt; Add Action &gt; Filter</a:t>
            </a:r>
          </a:p>
        </p:txBody>
      </p:sp>
      <p:sp>
        <p:nvSpPr>
          <p:cNvPr id="3" name="">
            <a:extLst xmlns:a="http://schemas.openxmlformats.org/drawingml/2006/main">
              <a:ext uri="{FF2B5EF4-FFF2-40B4-BE49-F238E27FC236}">
                <a16:creationId xmlns:a16="http://schemas.microsoft.com/office/drawing/2014/main" id="{1BCA4824-74A5-480D-B5DA-009FA3D3DC7F}"/>
              </a:ext>
            </a:extLst>
          </p:cNvPr>
          <p:cNvSpPr>
            <a:spLocks xmlns:a="http://schemas.openxmlformats.org/drawingml/2006/main" noGrp="1"/>
          </p:cNvSpPr>
          <p:nvPr/>
        </p:nvSpPr>
        <p:spPr>
          <a:xfrm xmlns:a="http://schemas.openxmlformats.org/drawingml/2006/main">
            <a:off x="457200" y="1752600"/>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81796F"/>
                </a:solidFill>
                <a:latin typeface="Ubuntu Condensed"/>
                <a:ea typeface="Ubuntu Condensed"/>
                <a:cs typeface="Ubuntu Condensed"/>
              </a:defRPr>
            </a:defPPr>
          </a:lstStyle>
          <a:p xmlns:a="http://schemas.openxmlformats.org/drawingml/2006/main">
            <a:pPr>
              <a:defRPr sz="1650">
                <a:solidFill>
                  <a:srgbClr val="81796F"/>
                </a:solidFill>
                <a:latin typeface="Ubuntu Condensed"/>
                <a:ea typeface="Ubuntu Condensed"/>
                <a:cs typeface="Ubuntu Condensed"/>
              </a:defRPr>
            </a:pPr>
            <a:r>
              <a:rPr sz="1650">
                <a:solidFill>
                  <a:srgbClr val="81796F"/>
                </a:solidFill>
                <a:latin typeface="Ubuntu Condensed"/>
                <a:ea typeface="Ubuntu Condensed"/>
                <a:cs typeface="Ubuntu Condensed"/>
              </a:rPr>
              <a:t>Source</a:t>
            </a:r>
          </a:p>
        </p:txBody>
      </p:sp>
      <p:sp>
        <p:nvSpPr>
          <p:cNvPr id="4" name="">
            <a:extLst xmlns:a="http://schemas.openxmlformats.org/drawingml/2006/main">
              <a:ext uri="{FF2B5EF4-FFF2-40B4-BE49-F238E27FC236}">
                <a16:creationId xmlns:a16="http://schemas.microsoft.com/office/drawing/2014/main" id="{C048C99A-B386-49E5-BA85-101CB99687B4}"/>
              </a:ext>
            </a:extLst>
          </p:cNvPr>
          <p:cNvSpPr>
            <a:spLocks xmlns:a="http://schemas.openxmlformats.org/drawingml/2006/main" noGrp="1"/>
          </p:cNvSpPr>
          <p:nvPr/>
        </p:nvSpPr>
        <p:spPr>
          <a:xfrm xmlns:a="http://schemas.openxmlformats.org/drawingml/2006/main">
            <a:off x="457200" y="20478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World</a:t>
            </a:r>
          </a:p>
        </p:txBody>
      </p:sp>
      <p:sp>
        <p:nvSpPr>
          <p:cNvPr id="5" name="">
            <a:extLst xmlns:a="http://schemas.openxmlformats.org/drawingml/2006/main">
              <a:ext uri="{FF2B5EF4-FFF2-40B4-BE49-F238E27FC236}">
                <a16:creationId xmlns:a16="http://schemas.microsoft.com/office/drawing/2014/main" id="{4C621B15-BC7B-4816-B6E5-BA3E8DDA6A20}"/>
              </a:ext>
            </a:extLst>
          </p:cNvPr>
          <p:cNvSpPr>
            <a:spLocks xmlns:a="http://schemas.openxmlformats.org/drawingml/2006/main" noGrp="1"/>
          </p:cNvSpPr>
          <p:nvPr/>
        </p:nvSpPr>
        <p:spPr>
          <a:xfrm xmlns:a="http://schemas.openxmlformats.org/drawingml/2006/main">
            <a:off x="457200" y="2466975"/>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81796F"/>
                </a:solidFill>
                <a:latin typeface="Ubuntu Condensed"/>
                <a:ea typeface="Ubuntu Condensed"/>
                <a:cs typeface="Ubuntu Condensed"/>
              </a:defRPr>
            </a:defPPr>
          </a:lstStyle>
          <a:p xmlns:a="http://schemas.openxmlformats.org/drawingml/2006/main">
            <a:pPr>
              <a:defRPr sz="1650">
                <a:solidFill>
                  <a:srgbClr val="81796F"/>
                </a:solidFill>
                <a:latin typeface="Ubuntu Condensed"/>
                <a:ea typeface="Ubuntu Condensed"/>
                <a:cs typeface="Ubuntu Condensed"/>
              </a:defRPr>
            </a:pPr>
            <a:r>
              <a:rPr sz="1650">
                <a:solidFill>
                  <a:srgbClr val="81796F"/>
                </a:solidFill>
                <a:latin typeface="Ubuntu Condensed"/>
                <a:ea typeface="Ubuntu Condensed"/>
                <a:cs typeface="Ubuntu Condensed"/>
              </a:rPr>
              <a:t>Run on</a:t>
            </a:r>
          </a:p>
        </p:txBody>
      </p:sp>
      <p:sp>
        <p:nvSpPr>
          <p:cNvPr id="6" name="">
            <a:extLst xmlns:a="http://schemas.openxmlformats.org/drawingml/2006/main">
              <a:ext uri="{FF2B5EF4-FFF2-40B4-BE49-F238E27FC236}">
                <a16:creationId xmlns:a16="http://schemas.microsoft.com/office/drawing/2014/main" id="{B00DC95E-DEEA-4DF2-B1AE-03660E1D243A}"/>
              </a:ext>
            </a:extLst>
          </p:cNvPr>
          <p:cNvSpPr>
            <a:spLocks xmlns:a="http://schemas.openxmlformats.org/drawingml/2006/main" noGrp="1"/>
          </p:cNvSpPr>
          <p:nvPr/>
        </p:nvSpPr>
        <p:spPr>
          <a:xfrm xmlns:a="http://schemas.openxmlformats.org/drawingml/2006/main">
            <a:off x="457200" y="27622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Select</a:t>
            </a:r>
          </a:p>
        </p:txBody>
      </p:sp>
      <p:sp>
        <p:nvSpPr>
          <p:cNvPr id="7" name="">
            <a:extLst xmlns:a="http://schemas.openxmlformats.org/drawingml/2006/main">
              <a:ext uri="{FF2B5EF4-FFF2-40B4-BE49-F238E27FC236}">
                <a16:creationId xmlns:a16="http://schemas.microsoft.com/office/drawing/2014/main" id="{38C5A71E-4FE9-4C5A-B229-E7206209EBA1}"/>
              </a:ext>
            </a:extLst>
          </p:cNvPr>
          <p:cNvSpPr>
            <a:spLocks xmlns:a="http://schemas.openxmlformats.org/drawingml/2006/main" noGrp="1"/>
          </p:cNvSpPr>
          <p:nvPr/>
        </p:nvSpPr>
        <p:spPr>
          <a:xfrm xmlns:a="http://schemas.openxmlformats.org/drawingml/2006/main">
            <a:off x="457200" y="3181350"/>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81796F"/>
                </a:solidFill>
                <a:latin typeface="Ubuntu Condensed"/>
                <a:ea typeface="Ubuntu Condensed"/>
                <a:cs typeface="Ubuntu Condensed"/>
              </a:defRPr>
            </a:defPPr>
          </a:lstStyle>
          <a:p xmlns:a="http://schemas.openxmlformats.org/drawingml/2006/main">
            <a:pPr>
              <a:defRPr sz="1650">
                <a:solidFill>
                  <a:srgbClr val="81796F"/>
                </a:solidFill>
                <a:latin typeface="Ubuntu Condensed"/>
                <a:ea typeface="Ubuntu Condensed"/>
                <a:cs typeface="Ubuntu Condensed"/>
              </a:defRPr>
            </a:pPr>
            <a:r>
              <a:rPr sz="1650">
                <a:solidFill>
                  <a:srgbClr val="81796F"/>
                </a:solidFill>
                <a:latin typeface="Ubuntu Condensed"/>
                <a:ea typeface="Ubuntu Condensed"/>
                <a:cs typeface="Ubuntu Condensed"/>
              </a:rPr>
              <a:t>Targets</a:t>
            </a:r>
          </a:p>
        </p:txBody>
      </p:sp>
      <p:sp>
        <p:nvSpPr>
          <p:cNvPr id="8" name="">
            <a:extLst xmlns:a="http://schemas.openxmlformats.org/drawingml/2006/main">
              <a:ext uri="{FF2B5EF4-FFF2-40B4-BE49-F238E27FC236}">
                <a16:creationId xmlns:a16="http://schemas.microsoft.com/office/drawing/2014/main" id="{A6ABB27D-E035-4E78-92F2-A2572095C866}"/>
              </a:ext>
            </a:extLst>
          </p:cNvPr>
          <p:cNvSpPr>
            <a:spLocks xmlns:a="http://schemas.openxmlformats.org/drawingml/2006/main" noGrp="1"/>
          </p:cNvSpPr>
          <p:nvPr/>
        </p:nvSpPr>
        <p:spPr>
          <a:xfrm xmlns:a="http://schemas.openxmlformats.org/drawingml/2006/main">
            <a:off x="457200" y="34766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Life History + GDP History</a:t>
            </a:r>
          </a:p>
        </p:txBody>
      </p:sp>
      <p:sp>
        <p:nvSpPr>
          <p:cNvPr id="9" name="">
            <a:extLst xmlns:a="http://schemas.openxmlformats.org/drawingml/2006/main">
              <a:ext uri="{FF2B5EF4-FFF2-40B4-BE49-F238E27FC236}">
                <a16:creationId xmlns:a16="http://schemas.microsoft.com/office/drawing/2014/main" id="{7BF7AEBD-4B11-4554-A022-EC0EC1A2F2B5}"/>
              </a:ext>
            </a:extLst>
          </p:cNvPr>
          <p:cNvSpPr>
            <a:spLocks xmlns:a="http://schemas.openxmlformats.org/drawingml/2006/main" noGrp="1"/>
          </p:cNvSpPr>
          <p:nvPr/>
        </p:nvSpPr>
        <p:spPr>
          <a:xfrm xmlns:a="http://schemas.openxmlformats.org/drawingml/2006/main">
            <a:off x="457200" y="3895725"/>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81796F"/>
                </a:solidFill>
                <a:latin typeface="Ubuntu Condensed"/>
                <a:ea typeface="Ubuntu Condensed"/>
                <a:cs typeface="Ubuntu Condensed"/>
              </a:defRPr>
            </a:defPPr>
          </a:lstStyle>
          <a:p xmlns:a="http://schemas.openxmlformats.org/drawingml/2006/main">
            <a:pPr>
              <a:defRPr sz="1650">
                <a:solidFill>
                  <a:srgbClr val="81796F"/>
                </a:solidFill>
                <a:latin typeface="Ubuntu Condensed"/>
                <a:ea typeface="Ubuntu Condensed"/>
                <a:cs typeface="Ubuntu Condensed"/>
              </a:defRPr>
            </a:pPr>
            <a:r>
              <a:rPr sz="1650">
                <a:solidFill>
                  <a:srgbClr val="81796F"/>
                </a:solidFill>
                <a:latin typeface="Ubuntu Condensed"/>
                <a:ea typeface="Ubuntu Condensed"/>
                <a:cs typeface="Ubuntu Condensed"/>
              </a:rPr>
              <a:t>Selected Fields</a:t>
            </a:r>
          </a:p>
        </p:txBody>
      </p:sp>
      <p:sp>
        <p:nvSpPr>
          <p:cNvPr id="10" name="">
            <a:extLst xmlns:a="http://schemas.openxmlformats.org/drawingml/2006/main">
              <a:ext uri="{FF2B5EF4-FFF2-40B4-BE49-F238E27FC236}">
                <a16:creationId xmlns:a16="http://schemas.microsoft.com/office/drawing/2014/main" id="{0B5EB834-DEA0-42A7-A894-B52440F755B9}"/>
              </a:ext>
            </a:extLst>
          </p:cNvPr>
          <p:cNvSpPr>
            <a:spLocks xmlns:a="http://schemas.openxmlformats.org/drawingml/2006/main" noGrp="1"/>
          </p:cNvSpPr>
          <p:nvPr/>
        </p:nvSpPr>
        <p:spPr>
          <a:xfrm xmlns:a="http://schemas.openxmlformats.org/drawingml/2006/main">
            <a:off x="457200" y="419100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B23C50"/>
                </a:solidFill>
                <a:latin typeface="Ubuntu Condensed"/>
                <a:ea typeface="Ubuntu Condensed"/>
                <a:cs typeface="Ubuntu Condensed"/>
              </a:defRPr>
            </a:defPPr>
          </a:lstStyle>
          <a:p xmlns:a="http://schemas.openxmlformats.org/drawingml/2006/main">
            <a:pPr>
              <a:defRPr sz="2175">
                <a:solidFill>
                  <a:srgbClr val="B23C50"/>
                </a:solidFill>
                <a:latin typeface="Ubuntu Condensed"/>
                <a:ea typeface="Ubuntu Condensed"/>
                <a:cs typeface="Ubuntu Condensed"/>
              </a:defRPr>
            </a:pPr>
            <a:r>
              <a:rPr sz="2175">
                <a:solidFill>
                  <a:srgbClr val="B23C50"/>
                </a:solidFill>
                <a:latin typeface="Ubuntu Condensed"/>
                <a:ea typeface="Ubuntu Condensed"/>
                <a:cs typeface="Ubuntu Condensed"/>
              </a:rPr>
              <a:t>Country → Country</a:t>
            </a:r>
          </a:p>
        </p:txBody>
      </p:sp>
      <p:sp>
        <p:nvSpPr>
          <p:cNvPr id="11" name="">
            <a:extLst xmlns:a="http://schemas.openxmlformats.org/drawingml/2006/main">
              <a:ext uri="{FF2B5EF4-FFF2-40B4-BE49-F238E27FC236}">
                <a16:creationId xmlns:a16="http://schemas.microsoft.com/office/drawing/2014/main" id="{5E069921-CF45-49F1-91C1-D5B342833F99}"/>
              </a:ext>
            </a:extLst>
          </p:cNvPr>
          <p:cNvSpPr>
            <a:spLocks xmlns:a="http://schemas.openxmlformats.org/drawingml/2006/main" noGrp="1"/>
          </p:cNvSpPr>
          <p:nvPr/>
        </p:nvSpPr>
        <p:spPr>
          <a:xfrm xmlns:a="http://schemas.openxmlformats.org/drawingml/2006/main">
            <a:off x="457200" y="4610100"/>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81796F"/>
                </a:solidFill>
                <a:latin typeface="Ubuntu Condensed"/>
                <a:ea typeface="Ubuntu Condensed"/>
                <a:cs typeface="Ubuntu Condensed"/>
              </a:defRPr>
            </a:defPPr>
          </a:lstStyle>
          <a:p xmlns:a="http://schemas.openxmlformats.org/drawingml/2006/main">
            <a:pPr>
              <a:defRPr sz="1650">
                <a:solidFill>
                  <a:srgbClr val="81796F"/>
                </a:solidFill>
                <a:latin typeface="Ubuntu Condensed"/>
                <a:ea typeface="Ubuntu Condensed"/>
                <a:cs typeface="Ubuntu Condensed"/>
              </a:defRPr>
            </a:pPr>
            <a:r>
              <a:rPr sz="1650">
                <a:solidFill>
                  <a:srgbClr val="81796F"/>
                </a:solidFill>
                <a:latin typeface="Ubuntu Condensed"/>
                <a:ea typeface="Ubuntu Condensed"/>
                <a:cs typeface="Ubuntu Condensed"/>
              </a:rPr>
              <a:t>Clear selection</a:t>
            </a:r>
          </a:p>
        </p:txBody>
      </p:sp>
      <p:sp>
        <p:nvSpPr>
          <p:cNvPr id="12" name="">
            <a:extLst xmlns:a="http://schemas.openxmlformats.org/drawingml/2006/main">
              <a:ext uri="{FF2B5EF4-FFF2-40B4-BE49-F238E27FC236}">
                <a16:creationId xmlns:a16="http://schemas.microsoft.com/office/drawing/2014/main" id="{DF58BFC8-360F-44BD-9D0F-4D456143B484}"/>
              </a:ext>
            </a:extLst>
          </p:cNvPr>
          <p:cNvSpPr>
            <a:spLocks xmlns:a="http://schemas.openxmlformats.org/drawingml/2006/main" noGrp="1"/>
          </p:cNvSpPr>
          <p:nvPr/>
        </p:nvSpPr>
        <p:spPr>
          <a:xfrm xmlns:a="http://schemas.openxmlformats.org/drawingml/2006/main">
            <a:off x="457200" y="49053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38332E"/>
                </a:solidFill>
                <a:latin typeface="Ubuntu Condensed"/>
                <a:ea typeface="Ubuntu Condensed"/>
                <a:cs typeface="Ubuntu Condensed"/>
              </a:defRPr>
            </a:defPPr>
          </a:lstStyle>
          <a:p xmlns:a="http://schemas.openxmlformats.org/drawingml/2006/main">
            <a:pPr>
              <a:defRPr sz="2175">
                <a:solidFill>
                  <a:srgbClr val="38332E"/>
                </a:solidFill>
                <a:latin typeface="Ubuntu Condensed"/>
                <a:ea typeface="Ubuntu Condensed"/>
                <a:cs typeface="Ubuntu Condensed"/>
              </a:defRPr>
            </a:pPr>
            <a:r>
              <a:rPr sz="2175">
                <a:solidFill>
                  <a:srgbClr val="38332E"/>
                </a:solidFill>
                <a:latin typeface="Ubuntu Condensed"/>
                <a:ea typeface="Ubuntu Condensed"/>
                <a:cs typeface="Ubuntu Condensed"/>
              </a:rPr>
              <a:t>Show all values</a:t>
            </a:r>
          </a:p>
        </p:txBody>
      </p:sp>
      <p:sp>
        <p:nvSpPr>
          <p:cNvPr id="13" name="">
            <a:extLst xmlns:a="http://schemas.openxmlformats.org/drawingml/2006/main">
              <a:ext uri="{FF2B5EF4-FFF2-40B4-BE49-F238E27FC236}">
                <a16:creationId xmlns:a16="http://schemas.microsoft.com/office/drawing/2014/main" id="{0BDCA6FB-4535-4AB2-9A2B-4B71E7F9E003}"/>
              </a:ext>
            </a:extLst>
          </p:cNvPr>
          <p:cNvSpPr>
            <a:spLocks xmlns:a="http://schemas.openxmlformats.org/drawingml/2006/main" noGrp="1"/>
          </p:cNvSpPr>
          <p:nvPr/>
        </p:nvSpPr>
        <p:spPr>
          <a:xfrm xmlns:a="http://schemas.openxmlformats.org/drawingml/2006/main">
            <a:off x="457200" y="58388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a:solidFill>
                  <a:srgbClr val="B23C50"/>
                </a:solidFill>
                <a:latin typeface="Ubuntu Condensed"/>
                <a:ea typeface="Ubuntu Condensed"/>
                <a:cs typeface="Ubuntu Condensed"/>
              </a:defRPr>
            </a:defPPr>
          </a:lstStyle>
          <a:p xmlns:a="http://schemas.openxmlformats.org/drawingml/2006/main">
            <a:pPr>
              <a:defRPr sz="2025">
                <a:solidFill>
                  <a:srgbClr val="B23C50"/>
                </a:solidFill>
                <a:latin typeface="Ubuntu Condensed"/>
                <a:ea typeface="Ubuntu Condensed"/>
                <a:cs typeface="Ubuntu Condensed"/>
              </a:defRPr>
            </a:pPr>
            <a:r>
              <a:rPr sz="2025">
                <a:solidFill>
                  <a:srgbClr val="B23C50"/>
                </a:solidFill>
                <a:latin typeface="Ubuntu Condensed"/>
                <a:ea typeface="Ubuntu Condensed"/>
                <a:cs typeface="Ubuntu Condensed"/>
              </a:rPr>
              <a:t>Do not pass Year to the history sheets.</a:t>
            </a:r>
          </a:p>
        </p:txBody>
      </p:sp>
      <p:sp>
        <p:nvSpPr>
          <p:cNvPr id="14" name="">
            <a:extLst xmlns:a="http://schemas.openxmlformats.org/drawingml/2006/main">
              <a:ext uri="{FF2B5EF4-FFF2-40B4-BE49-F238E27FC236}">
                <a16:creationId xmlns:a16="http://schemas.microsoft.com/office/drawing/2014/main" id="{73C25F9E-3E97-4097-B503-5116E844879A}"/>
              </a:ext>
            </a:extLst>
          </p:cNvPr>
          <p:cNvSpPr>
            <a:spLocks xmlns:a="http://schemas.openxmlformats.org/drawingml/2006/main" noGrp="1"/>
          </p:cNvSpPr>
          <p:nvPr/>
        </p:nvSpPr>
        <p:spPr>
          <a:xfrm xmlns:a="http://schemas.openxmlformats.org/drawingml/2006/main">
            <a:off x="6534150" y="1743075"/>
            <a:ext cx="514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B23C50"/>
                </a:solidFill>
                <a:latin typeface="Ubuntu Condensed"/>
                <a:ea typeface="Ubuntu Condensed"/>
                <a:cs typeface="Ubuntu Condensed"/>
              </a:defRPr>
            </a:defPPr>
          </a:lstStyle>
          <a:p xmlns:a="http://schemas.openxmlformats.org/drawingml/2006/main">
            <a:pPr>
              <a:defRPr sz="2175">
                <a:solidFill>
                  <a:srgbClr val="B23C50"/>
                </a:solidFill>
                <a:latin typeface="Ubuntu Condensed"/>
                <a:ea typeface="Ubuntu Condensed"/>
                <a:cs typeface="Ubuntu Condensed"/>
              </a:defRPr>
            </a:pPr>
            <a:r>
              <a:rPr sz="2175">
                <a:solidFill>
                  <a:srgbClr val="B23C50"/>
                </a:solidFill>
                <a:latin typeface="Ubuntu Condensed"/>
                <a:ea typeface="Ubuntu Condensed"/>
                <a:cs typeface="Ubuntu Condensed"/>
              </a:rPr>
              <a:t>Click Japan</a:t>
            </a:r>
          </a:p>
        </p:txBody>
      </p:sp>
      <p:graphicFrame>
        <p:nvGraphicFramePr>
          <p:cNvPr id="15" name="Chart">
            <a:extLst xmlns:a="http://schemas.openxmlformats.org/drawingml/2006/main">
              <a:ext uri="{FF2B5EF4-FFF2-40B4-BE49-F238E27FC236}">
                <a16:creationId xmlns:a16="http://schemas.microsoft.com/office/drawing/2014/main" id="{068A4C5C-D339-48F5-BE27-B3827EBDC466}"/>
              </a:ext>
            </a:extLst>
          </p:cNvPr>
          <p:cNvGraphicFramePr/>
          <p:nvPr/>
        </p:nvGraphicFramePr>
        <p:xfrm>
          <a:off xmlns:a="http://schemas.openxmlformats.org/drawingml/2006/main" x="6286500" y="2228850"/>
          <a:ext xmlns:a="http://schemas.openxmlformats.org/drawingml/2006/main" cx="5524500" cy="1495425"/>
        </p:xfrm>
        <a:graphic xmlns:a="http://schemas.openxmlformats.org/drawingml/2006/main">
          <a:graphicData uri="http://schemas.openxmlformats.org/drawingml/2006/chart">
            <c:chart xmlns:r="http://schemas.openxmlformats.org/officeDocument/2006/relationships" xmlns:c="http://schemas.openxmlformats.org/drawingml/2006/chart" r:id="R6c5a540893d74c2b"/>
          </a:graphicData>
        </a:graphic>
      </p:graphicFrame>
      <p:sp>
        <p:nvSpPr>
          <p:cNvPr id="16" name="">
            <a:extLst xmlns:a="http://schemas.openxmlformats.org/drawingml/2006/main">
              <a:ext uri="{FF2B5EF4-FFF2-40B4-BE49-F238E27FC236}">
                <a16:creationId xmlns:a16="http://schemas.microsoft.com/office/drawing/2014/main" id="{AE85CCC6-D6F1-441A-9B80-07239529B3FB}"/>
              </a:ext>
            </a:extLst>
          </p:cNvPr>
          <p:cNvSpPr>
            <a:spLocks xmlns:a="http://schemas.openxmlformats.org/drawingml/2006/main" noGrp="1"/>
          </p:cNvSpPr>
          <p:nvPr/>
        </p:nvSpPr>
        <p:spPr>
          <a:xfrm xmlns:a="http://schemas.openxmlformats.org/drawingml/2006/main">
            <a:off x="6810375" y="374332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1960</a:t>
            </a:r>
          </a:p>
        </p:txBody>
      </p:sp>
      <p:sp>
        <p:nvSpPr>
          <p:cNvPr id="17" name="">
            <a:extLst xmlns:a="http://schemas.openxmlformats.org/drawingml/2006/main">
              <a:ext uri="{FF2B5EF4-FFF2-40B4-BE49-F238E27FC236}">
                <a16:creationId xmlns:a16="http://schemas.microsoft.com/office/drawing/2014/main" id="{06A8DAF9-F50A-46F9-A579-E7915572B97F}"/>
              </a:ext>
            </a:extLst>
          </p:cNvPr>
          <p:cNvSpPr>
            <a:spLocks xmlns:a="http://schemas.openxmlformats.org/drawingml/2006/main" noGrp="1"/>
          </p:cNvSpPr>
          <p:nvPr/>
        </p:nvSpPr>
        <p:spPr>
          <a:xfrm xmlns:a="http://schemas.openxmlformats.org/drawingml/2006/main">
            <a:off x="11096625" y="374332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2020</a:t>
            </a:r>
          </a:p>
        </p:txBody>
      </p:sp>
      <p:sp>
        <p:nvSpPr>
          <p:cNvPr id="18" name="">
            <a:extLst xmlns:a="http://schemas.openxmlformats.org/drawingml/2006/main">
              <a:ext uri="{FF2B5EF4-FFF2-40B4-BE49-F238E27FC236}">
                <a16:creationId xmlns:a16="http://schemas.microsoft.com/office/drawing/2014/main" id="{D2E54830-5A08-4AD5-89E7-3FE688CD33CE}"/>
              </a:ext>
            </a:extLst>
          </p:cNvPr>
          <p:cNvSpPr>
            <a:spLocks xmlns:a="http://schemas.openxmlformats.org/drawingml/2006/main" noGrp="1"/>
          </p:cNvSpPr>
          <p:nvPr/>
        </p:nvSpPr>
        <p:spPr>
          <a:xfrm xmlns:a="http://schemas.openxmlformats.org/drawingml/2006/main">
            <a:off x="6534150" y="4105275"/>
            <a:ext cx="514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a:solidFill>
                  <a:srgbClr val="457985"/>
                </a:solidFill>
                <a:latin typeface="Ubuntu Condensed"/>
                <a:ea typeface="Ubuntu Condensed"/>
                <a:cs typeface="Ubuntu Condensed"/>
              </a:defRPr>
            </a:defPPr>
          </a:lstStyle>
          <a:p xmlns:a="http://schemas.openxmlformats.org/drawingml/2006/main">
            <a:pPr>
              <a:defRPr sz="2175">
                <a:solidFill>
                  <a:srgbClr val="457985"/>
                </a:solidFill>
                <a:latin typeface="Ubuntu Condensed"/>
                <a:ea typeface="Ubuntu Condensed"/>
                <a:cs typeface="Ubuntu Condensed"/>
              </a:defRPr>
            </a:pPr>
            <a:r>
              <a:rPr sz="2175">
                <a:solidFill>
                  <a:srgbClr val="457985"/>
                </a:solidFill>
                <a:latin typeface="Ubuntu Condensed"/>
                <a:ea typeface="Ubuntu Condensed"/>
                <a:cs typeface="Ubuntu Condensed"/>
              </a:rPr>
              <a:t>Then click India</a:t>
            </a:r>
          </a:p>
        </p:txBody>
      </p:sp>
      <p:graphicFrame>
        <p:nvGraphicFramePr>
          <p:cNvPr id="19" name="Chart">
            <a:extLst xmlns:a="http://schemas.openxmlformats.org/drawingml/2006/main">
              <a:ext uri="{FF2B5EF4-FFF2-40B4-BE49-F238E27FC236}">
                <a16:creationId xmlns:a16="http://schemas.microsoft.com/office/drawing/2014/main" id="{9526678A-570E-4006-BA34-0313F6C5D59C}"/>
              </a:ext>
            </a:extLst>
          </p:cNvPr>
          <p:cNvGraphicFramePr/>
          <p:nvPr/>
        </p:nvGraphicFramePr>
        <p:xfrm>
          <a:off xmlns:a="http://schemas.openxmlformats.org/drawingml/2006/main" x="6286500" y="4572000"/>
          <a:ext xmlns:a="http://schemas.openxmlformats.org/drawingml/2006/main" cx="5524500" cy="1495425"/>
        </p:xfrm>
        <a:graphic xmlns:a="http://schemas.openxmlformats.org/drawingml/2006/main">
          <a:graphicData uri="http://schemas.openxmlformats.org/drawingml/2006/chart">
            <c:chart xmlns:r="http://schemas.openxmlformats.org/officeDocument/2006/relationships" xmlns:c="http://schemas.openxmlformats.org/drawingml/2006/chart" r:id="Rb21e99281b9349b9"/>
          </a:graphicData>
        </a:graphic>
      </p:graphicFrame>
      <p:sp>
        <p:nvSpPr>
          <p:cNvPr id="20" name="">
            <a:extLst xmlns:a="http://schemas.openxmlformats.org/drawingml/2006/main">
              <a:ext uri="{FF2B5EF4-FFF2-40B4-BE49-F238E27FC236}">
                <a16:creationId xmlns:a16="http://schemas.microsoft.com/office/drawing/2014/main" id="{D66570C9-90FB-4DAB-988D-5E2B5F1E1B76}"/>
              </a:ext>
            </a:extLst>
          </p:cNvPr>
          <p:cNvSpPr>
            <a:spLocks xmlns:a="http://schemas.openxmlformats.org/drawingml/2006/main" noGrp="1"/>
          </p:cNvSpPr>
          <p:nvPr/>
        </p:nvSpPr>
        <p:spPr>
          <a:xfrm xmlns:a="http://schemas.openxmlformats.org/drawingml/2006/main">
            <a:off x="6810375" y="6086475"/>
            <a:ext cx="95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1960</a:t>
            </a:r>
          </a:p>
        </p:txBody>
      </p:sp>
      <p:sp>
        <p:nvSpPr>
          <p:cNvPr id="21" name="">
            <a:extLst xmlns:a="http://schemas.openxmlformats.org/drawingml/2006/main">
              <a:ext uri="{FF2B5EF4-FFF2-40B4-BE49-F238E27FC236}">
                <a16:creationId xmlns:a16="http://schemas.microsoft.com/office/drawing/2014/main" id="{63EBB13E-A61E-4EAC-B4B6-6FA462BA0AFF}"/>
              </a:ext>
            </a:extLst>
          </p:cNvPr>
          <p:cNvSpPr>
            <a:spLocks xmlns:a="http://schemas.openxmlformats.org/drawingml/2006/main" noGrp="1"/>
          </p:cNvSpPr>
          <p:nvPr/>
        </p:nvSpPr>
        <p:spPr>
          <a:xfrm xmlns:a="http://schemas.openxmlformats.org/drawingml/2006/main">
            <a:off x="11096625" y="6086475"/>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a:solidFill>
                  <a:srgbClr val="81796F"/>
                </a:solidFill>
                <a:latin typeface="Ubuntu Condensed"/>
                <a:ea typeface="Ubuntu Condensed"/>
                <a:cs typeface="Ubuntu Condensed"/>
              </a:defRPr>
            </a:defPPr>
          </a:lstStyle>
          <a:p xmlns:a="http://schemas.openxmlformats.org/drawingml/2006/main">
            <a:pPr>
              <a:defRPr sz="1350">
                <a:solidFill>
                  <a:srgbClr val="81796F"/>
                </a:solidFill>
                <a:latin typeface="Ubuntu Condensed"/>
                <a:ea typeface="Ubuntu Condensed"/>
                <a:cs typeface="Ubuntu Condensed"/>
              </a:defRPr>
            </a:pPr>
            <a:r>
              <a:rPr sz="1350">
                <a:solidFill>
                  <a:srgbClr val="81796F"/>
                </a:solidFill>
                <a:latin typeface="Ubuntu Condensed"/>
                <a:ea typeface="Ubuntu Condensed"/>
                <a:cs typeface="Ubuntu Condensed"/>
              </a:rPr>
              <a:t>2020</a:t>
            </a:r>
          </a:p>
        </p:txBody>
      </p:sp>
      <p:sp>
        <p:nvSpPr>
          <p:cNvPr id="22" name="">
            <a:extLst xmlns:a="http://schemas.openxmlformats.org/drawingml/2006/main">
              <a:ext uri="{FF2B5EF4-FFF2-40B4-BE49-F238E27FC236}">
                <a16:creationId xmlns:a16="http://schemas.microsoft.com/office/drawing/2014/main" id="{BCCF1C3A-A79C-4E6A-92D2-D89D85164CDC}"/>
              </a:ext>
            </a:extLst>
          </p:cNvPr>
          <p:cNvSpPr>
            <a:spLocks xmlns:a="http://schemas.openxmlformats.org/drawingml/2006/main" noGrp="1"/>
          </p:cNvSpPr>
          <p:nvPr/>
        </p:nvSpPr>
        <p:spPr>
          <a:xfrm xmlns:a="http://schemas.openxmlformats.org/drawingml/2006/main">
            <a:off x="6534150" y="64865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a:solidFill>
                  <a:srgbClr val="81796F"/>
                </a:solidFill>
                <a:latin typeface="Ubuntu Condensed"/>
                <a:ea typeface="Ubuntu Condensed"/>
                <a:cs typeface="Ubuntu Condensed"/>
              </a:defRPr>
            </a:defPPr>
          </a:lstStyle>
          <a:p xmlns:a="http://schemas.openxmlformats.org/drawingml/2006/main">
            <a:pPr>
              <a:defRPr sz="1500">
                <a:solidFill>
                  <a:srgbClr val="81796F"/>
                </a:solidFill>
                <a:latin typeface="Ubuntu Condensed"/>
                <a:ea typeface="Ubuntu Condensed"/>
                <a:cs typeface="Ubuntu Condensed"/>
              </a:defRPr>
            </a:pPr>
            <a:r>
              <a:rPr sz="1500">
                <a:solidFill>
                  <a:srgbClr val="81796F"/>
                </a:solidFill>
                <a:latin typeface="Ubuntu Condensed"/>
                <a:ea typeface="Ubuntu Condensed"/>
                <a:cs typeface="Ubuntu Condensed"/>
              </a:rPr>
              <a:t>Life expectancy, 1960–2020</a:t>
            </a:r>
          </a:p>
        </p:txBody>
      </p:sp>
    </p:spTree>
    <p:extLst>
      <p:ext uri="{BB962C8B-B14F-4D97-AF65-F5344CB8AC3E}">
        <p14:creationId xmlns:p14="http://schemas.microsoft.com/office/powerpoint/2010/main" val="19139164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Ubuntu Condensed"/>
        <a:ea typeface=""/>
        <a:cs typeface=""/>
      </a:majorFont>
      <a:minorFont>
        <a:latin typeface="Ubuntu Condense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2026-10-15T21:51:18.8640000Z</dcterms:created>
  <dcterms:modified xsi:type="dcterms:W3CDTF">2026-10-15T21:51:18.8640000Z</dcterms:modified>
</coreProperties>
</file>