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6d630ad5b23429b" /><Relationship Type="http://schemas.openxmlformats.org/officeDocument/2006/relationships/extended-properties" Target="/docProps/app.xml" Id="Ra22de66ad8c3445e" /><Relationship Type="http://schemas.openxmlformats.org/officeDocument/2006/relationships/officeDocument" Target="/ppt/presentation.xml" Id="Ra02e9a2fc42c4ecb" /></Relationships>
</file>

<file path=ppt/presentation.xml><?xml version="1.0" encoding="utf-8"?>
<p:presentation xmlns:p="http://schemas.openxmlformats.org/presentationml/2006/main">
  <p:sldMasterIdLst>
    <p:sldMasterId xmlns:r="http://schemas.openxmlformats.org/officeDocument/2006/relationships" id="2147483648" r:id="R4b0184e94f324011"/>
  </p:sldMasterIdLst>
  <p:notesMasterIdLst>
    <p:notesMasterId xmlns:r="http://schemas.openxmlformats.org/officeDocument/2006/relationships" r:id="Rc4e4350a77c3407e"/>
  </p:notesMasterIdLst>
  <p:sldIdLst>
    <p:sldId xmlns:r="http://schemas.openxmlformats.org/officeDocument/2006/relationships" id="256" r:id="R158890375c884ef4"/>
    <p:sldId xmlns:r="http://schemas.openxmlformats.org/officeDocument/2006/relationships" id="257" r:id="Rfb32906872a44a32"/>
    <p:sldId xmlns:r="http://schemas.openxmlformats.org/officeDocument/2006/relationships" id="258" r:id="R058d2eec493d436e"/>
    <p:sldId xmlns:r="http://schemas.openxmlformats.org/officeDocument/2006/relationships" id="259" r:id="R1d7e1d581fdc47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03297916b74d9f" /><Relationship Type="http://schemas.openxmlformats.org/officeDocument/2006/relationships/slideMaster" Target="/ppt/slideMasters/slideMaster1.xml" Id="R4b0184e94f324011" /><Relationship Type="http://schemas.openxmlformats.org/officeDocument/2006/relationships/notesMaster" Target="/ppt/notesMasters/notesMaster1.xml" Id="Rc4e4350a77c3407e" /><Relationship Type="http://schemas.openxmlformats.org/officeDocument/2006/relationships/presProps" Target="/ppt/presProps.xml" Id="R61a7c905fd0d41d2" /><Relationship Type="http://schemas.openxmlformats.org/officeDocument/2006/relationships/tableStyles" Target="/ppt/tableStyles.xml" Id="R263b9ba844ac4fd9" /><Relationship Type="http://schemas.openxmlformats.org/officeDocument/2006/relationships/slide" Target="/ppt/slides/slide1.xml" Id="R158890375c884ef4" /><Relationship Type="http://schemas.openxmlformats.org/officeDocument/2006/relationships/slide" Target="/ppt/slides/slide2.xml" Id="Rfb32906872a44a32" /><Relationship Type="http://schemas.openxmlformats.org/officeDocument/2006/relationships/slide" Target="/ppt/slides/slide3.xml" Id="R058d2eec493d436e" /><Relationship Type="http://schemas.openxmlformats.org/officeDocument/2006/relationships/slide" Target="/ppt/slides/slide4.xml" Id="R1d7e1d581fdc47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de289dee4045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442d67877c4425" /><Relationship Type="http://schemas.openxmlformats.org/officeDocument/2006/relationships/notesMaster" Target="/ppt/notesMasters/notesMaster1.xml" Id="R8bb02a21f1f047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2d957eb7014977" /><Relationship Type="http://schemas.openxmlformats.org/officeDocument/2006/relationships/notesMaster" Target="/ppt/notesMasters/notesMaster1.xml" Id="R2477121b3fd64b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b3368eb2c64ff7" /><Relationship Type="http://schemas.openxmlformats.org/officeDocument/2006/relationships/notesMaster" Target="/ppt/notesMasters/notesMaster1.xml" Id="R2c4a8d41ede44a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3c6b38d0e240ca" /><Relationship Type="http://schemas.openxmlformats.org/officeDocument/2006/relationships/notesMaster" Target="/ppt/notesMasters/notesMaster1.xml" Id="Reb0024060fe846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dashboard example combines three worksheets from the same hans.csv data source. World is a 2020 snapshot. Life History and GDP History retain 1960-2020. Japan is selected in this illustrated state. Teach selecting India next, then resetting. This is a dashboard design example, not a screenshot of Tableau or a currently interactive slide.</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Rename worksheets World, Life History and GDP History. World: AVG(GDP) Columns, AVG(Life Expectancy) Rows, Country Detail, region Color, Circle marks, Year discrete filter 2020. Do not put Year on Pages for this dashboard exercise. Use equal circle sizes because Population has missing values. Life History: Year continuous number (convert numeric Year to Dimension first if needed), AVG(Life Expectancy), Country Color, Line marks; restrict years 1960-2020. GDP History: duplicate Life History and replace Life Expectancy with AVG(GDP). Country Color keeps countries separate before the action selects one. The small history previews show Japan after the final dashboard action. Never SUM life expectancy or GDP across years.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Dashboard &gt; New Dashboard. Set a fixed size of 1200 by 800 as a beginner-friendly desktop example, not a universal requirement. Use Tiled layout. Add a Horizontal layout container. Place World on the left and a Vertical container on the right. Add Life History and GDP History to the Vertical container. Give World about two thirds of the width. Fit each sheet to its available area and adjust padding; avoid shrinking labels to fit. Add a shared title and one region legend. Optional: show World Year filter as a single-value control, and apply it only to World using Apply to Worksheets &gt; Selected Worksheets. Do not apply the World Year selection to histories. Keep historical range filters local to the history sheets.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Create a Filter action. Source sheet World. Run action on Select; optionally Single-select only. Target sheets Life History and GDP History. Choose Selected Fields, then map Country to Country using the same data source. Do not use All Fields: it can pass Year=2020 and region along with Country and destroy the time series. Clearing selection: Show all values. If a generated Use as Filter action already exists, edit or remove it rather than leaving a conflicting second action. In this example the top right chart shows Japan and bottom right India, as two successive selection outcomes; the action updates both histories in the actual dashboard. Test Japan, India, then click empty space to clear. Finally publish the dashboard on Tableau Public and check the shared view in a signed-out browser. UI labels may vary by version/language.</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e351d831e148e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580293a115a43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b962a90586f4d8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7875ee6bd764e8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76c9b1f557843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97fe28521ce4ba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AF767D-9BB6-4D03-AE82-C2B690041D2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0ED7F75-2110-485C-B8C1-2845EB0EEC7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1001B9-EE78-4490-BB0C-EBBEE7A6CBE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0FC259-A504-48D9-819E-DA4BC3A512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3014FB-89FD-4FA4-A9A8-15E1065CC6F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59A4F0-9955-48C0-9E82-2BB38538B8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A63E234-C3CE-4149-B051-A7769CA018E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0010E00-CE36-4851-920D-771BBE365FC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67C61A-65A6-46F2-9F8E-6ADF9BE699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D9F7BBC-D049-4722-8B27-A8F844E4147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2d97db4abe483f" /><Relationship Type="http://schemas.openxmlformats.org/officeDocument/2006/relationships/slideLayout" Target="/ppt/slideLayouts/slideLayout1.xml" Id="R0f052d90c4ab46a3" /><Relationship Type="http://schemas.openxmlformats.org/officeDocument/2006/relationships/slideLayout" Target="/ppt/slideLayouts/slideLayout2.xml" Id="R7f4f552436be49b7" /><Relationship Type="http://schemas.openxmlformats.org/officeDocument/2006/relationships/slideLayout" Target="/ppt/slideLayouts/slideLayout3.xml" Id="Rc6c700e4fe944c29" /><Relationship Type="http://schemas.openxmlformats.org/officeDocument/2006/relationships/slideLayout" Target="/ppt/slideLayouts/slideLayout4.xml" Id="Re14965f511a94501" /><Relationship Type="http://schemas.openxmlformats.org/officeDocument/2006/relationships/slideLayout" Target="/ppt/slideLayouts/slideLayout5.xml" Id="R5738930fe2d0493b" /><Relationship Type="http://schemas.openxmlformats.org/officeDocument/2006/relationships/slideLayout" Target="/ppt/slideLayouts/slideLayout6.xml" Id="R7728253e1ed545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052d90c4ab46a3"/>
    <p:sldLayoutId xmlns:r="http://schemas.openxmlformats.org/officeDocument/2006/relationships" id="2147483650" r:id="R7f4f552436be49b7"/>
    <p:sldLayoutId xmlns:r="http://schemas.openxmlformats.org/officeDocument/2006/relationships" id="2147483651" r:id="Rc6c700e4fe944c29"/>
    <p:sldLayoutId xmlns:r="http://schemas.openxmlformats.org/officeDocument/2006/relationships" id="2147483652" r:id="Re14965f511a94501"/>
    <p:sldLayoutId xmlns:r="http://schemas.openxmlformats.org/officeDocument/2006/relationships" id="2147483653" r:id="R5738930fe2d0493b"/>
    <p:sldLayoutId xmlns:r="http://schemas.openxmlformats.org/officeDocument/2006/relationships" id="2147483654" r:id="R7728253e1ed545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5b0d4a017234537" /><Relationship Type="http://schemas.openxmlformats.org/officeDocument/2006/relationships/chart" Target="/ppt/slides/charts/chart1.xml" Id="R8d0ef4f480934bfc" /><Relationship Type="http://schemas.openxmlformats.org/officeDocument/2006/relationships/chart" Target="/ppt/slides/charts/chart2.xml" Id="Rcf519ea84c634409" /><Relationship Type="http://schemas.openxmlformats.org/officeDocument/2006/relationships/chart" Target="/ppt/slides/charts/chart3.xml" Id="R527920a1e8e449d9" /><Relationship Type="http://schemas.openxmlformats.org/officeDocument/2006/relationships/notesSlide" Target="/ppt/notesSlides/notesSlide1.xml" Id="R09c176bdc60f4f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11ca04472a48b0" /><Relationship Type="http://schemas.openxmlformats.org/officeDocument/2006/relationships/chart" Target="/ppt/slides/charts/chart4.xml" Id="R12061bf2d7ad493a" /><Relationship Type="http://schemas.openxmlformats.org/officeDocument/2006/relationships/chart" Target="/ppt/slides/charts/chart5.xml" Id="R0aa163b2ff1c418d" /><Relationship Type="http://schemas.openxmlformats.org/officeDocument/2006/relationships/chart" Target="/ppt/slides/charts/chart6.xml" Id="R242b903f4950437f" /><Relationship Type="http://schemas.openxmlformats.org/officeDocument/2006/relationships/notesSlide" Target="/ppt/notesSlides/notesSlide2.xml" Id="R3f82fbcf6cc844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7ea07cab484a36" /><Relationship Type="http://schemas.openxmlformats.org/officeDocument/2006/relationships/notesSlide" Target="/ppt/notesSlides/notesSlide3.xml" Id="Rbef6d9be8c8142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c0863dd9d0e4473" /><Relationship Type="http://schemas.openxmlformats.org/officeDocument/2006/relationships/chart" Target="/ppt/slides/charts/chart7.xml" Id="R323e3086683649fc" /><Relationship Type="http://schemas.openxmlformats.org/officeDocument/2006/relationships/chart" Target="/ppt/slides/charts/chart8.xml" Id="R2d21bf95a465423e" /><Relationship Type="http://schemas.openxmlformats.org/officeDocument/2006/relationships/notesSlide" Target="/ppt/notesSlides/notesSlide4.xml" Id="R31609598835647e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7"/>
            <c:spPr>
              <a:solidFill xmlns:a="http://schemas.openxmlformats.org/drawingml/2006/main">
                <a:srgbClr val="94A480"/>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7"/>
            <c:spPr>
              <a:solidFill xmlns:a="http://schemas.openxmlformats.org/drawingml/2006/main">
                <a:srgbClr val="B59A7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7"/>
            <c:spPr>
              <a:solidFill xmlns:a="http://schemas.openxmlformats.org/drawingml/2006/main">
                <a:srgbClr val="9CAEB0"/>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7"/>
            <c:spPr>
              <a:solidFill xmlns:a="http://schemas.openxmlformats.org/drawingml/2006/main">
                <a:srgbClr val="AE9EB0"/>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7"/>
            <c:spPr>
              <a:solidFill xmlns:a="http://schemas.openxmlformats.org/drawingml/2006/main">
                <a:srgbClr val="B1AC83"/>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7"/>
            <c:spPr>
              <a:solidFill xmlns:a="http://schemas.openxmlformats.org/drawingml/2006/main">
                <a:srgbClr val="D3CFCA"/>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7"/>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1575">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1575">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7140</c:v>
                </c:pt>
                <c:pt idx="1">
                  <c:v>10500</c:v>
                </c:pt>
                <c:pt idx="2">
                  <c:v>17000</c:v>
                </c:pt>
                <c:pt idx="3">
                  <c:v>19700</c:v>
                </c:pt>
                <c:pt idx="4">
                  <c:v>23200</c:v>
                </c:pt>
                <c:pt idx="5">
                  <c:v>26900</c:v>
                </c:pt>
                <c:pt idx="6">
                  <c:v>33100</c:v>
                </c:pt>
                <c:pt idx="7">
                  <c:v>35100</c:v>
                </c:pt>
                <c:pt idx="8">
                  <c:v>36400</c:v>
                </c:pt>
                <c:pt idx="9">
                  <c:v>38200</c:v>
                </c:pt>
                <c:pt idx="10">
                  <c:v>37900</c:v>
                </c:pt>
                <c:pt idx="11">
                  <c:v>40200</c:v>
                </c:pt>
                <c:pt idx="12">
                  <c:v>39800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450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4"/>
            <c:spPr>
              <a:solidFill xmlns:a="http://schemas.openxmlformats.org/drawingml/2006/main">
                <a:srgbClr val="94A480"/>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4"/>
            <c:spPr>
              <a:solidFill xmlns:a="http://schemas.openxmlformats.org/drawingml/2006/main">
                <a:srgbClr val="B59A7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4"/>
            <c:spPr>
              <a:solidFill xmlns:a="http://schemas.openxmlformats.org/drawingml/2006/main">
                <a:srgbClr val="9CAEB0"/>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4"/>
            <c:spPr>
              <a:solidFill xmlns:a="http://schemas.openxmlformats.org/drawingml/2006/main">
                <a:srgbClr val="AE9EB0"/>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4"/>
            <c:spPr>
              <a:solidFill xmlns:a="http://schemas.openxmlformats.org/drawingml/2006/main">
                <a:srgbClr val="B1AC83"/>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4"/>
            <c:spPr>
              <a:solidFill xmlns:a="http://schemas.openxmlformats.org/drawingml/2006/main">
                <a:srgbClr val="D3CFCA"/>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4"/>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900">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900">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7140</c:v>
                </c:pt>
                <c:pt idx="1">
                  <c:v>10500</c:v>
                </c:pt>
                <c:pt idx="2">
                  <c:v>17000</c:v>
                </c:pt>
                <c:pt idx="3">
                  <c:v>19700</c:v>
                </c:pt>
                <c:pt idx="4">
                  <c:v>23200</c:v>
                </c:pt>
                <c:pt idx="5">
                  <c:v>26900</c:v>
                </c:pt>
                <c:pt idx="6">
                  <c:v>33100</c:v>
                </c:pt>
                <c:pt idx="7">
                  <c:v>35100</c:v>
                </c:pt>
                <c:pt idx="8">
                  <c:v>36400</c:v>
                </c:pt>
                <c:pt idx="9">
                  <c:v>38200</c:v>
                </c:pt>
                <c:pt idx="10">
                  <c:v>37900</c:v>
                </c:pt>
                <c:pt idx="11">
                  <c:v>40200</c:v>
                </c:pt>
                <c:pt idx="12">
                  <c:v>39800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catAx>
      <c:valAx>
        <c:axId val="48672768"/>
        <c:scaling>
          <c:orientation val="minMax"/>
          <c:max val="450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crossBetween val="between"/>
        <c:majorUnit val="2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India</c:v>
          </c:tx>
          <c:spPr>
            <a:ln xmlns:a="http://schemas.openxmlformats.org/drawingml/2006/main" w="28575">
              <a:solidFill>
                <a:srgbClr val="457985"/>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45</c:v>
                </c:pt>
                <c:pt idx="1">
                  <c:v>45</c:v>
                </c:pt>
                <c:pt idx="2">
                  <c:v>49</c:v>
                </c:pt>
                <c:pt idx="3">
                  <c:v>51</c:v>
                </c:pt>
                <c:pt idx="4">
                  <c:v>55</c:v>
                </c:pt>
                <c:pt idx="5">
                  <c:v>57</c:v>
                </c:pt>
                <c:pt idx="6">
                  <c:v>59</c:v>
                </c:pt>
                <c:pt idx="7">
                  <c:v>61</c:v>
                </c:pt>
                <c:pt idx="8">
                  <c:v>62</c:v>
                </c:pt>
                <c:pt idx="9">
                  <c:v>65</c:v>
                </c:pt>
                <c:pt idx="10">
                  <c:v>67</c:v>
                </c:pt>
                <c:pt idx="11">
                  <c:v>69</c:v>
                </c:pt>
                <c:pt idx="12">
                  <c:v>70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DA8087-1F72-4747-9E84-21A11EA9750C}"/>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Today's tip: a Tableau dashboard</a:t>
            </a:r>
          </a:p>
        </p:txBody>
      </p:sp>
      <p:sp>
        <p:nvSpPr>
          <p:cNvPr id="2" name="">
            <a:extLst xmlns:a="http://schemas.openxmlformats.org/drawingml/2006/main">
              <a:ext uri="{FF2B5EF4-FFF2-40B4-BE49-F238E27FC236}">
                <a16:creationId xmlns:a16="http://schemas.microsoft.com/office/drawing/2014/main" id="{205A500F-33B4-42AE-BB59-6FB1A836E9D8}"/>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Last week’s Gapminder chart, connected to a country’s history</a:t>
            </a:r>
          </a:p>
        </p:txBody>
      </p:sp>
      <p:sp>
        <p:nvSpPr>
          <p:cNvPr id="3" name="">
            <a:extLst xmlns:a="http://schemas.openxmlformats.org/drawingml/2006/main">
              <a:ext uri="{FF2B5EF4-FFF2-40B4-BE49-F238E27FC236}">
                <a16:creationId xmlns:a16="http://schemas.microsoft.com/office/drawing/2014/main" id="{2D6BD526-D9FB-4BDD-BAB4-3FE2C5549D8D}"/>
              </a:ext>
            </a:extLst>
          </p:cNvPr>
          <p:cNvSpPr>
            <a:spLocks xmlns:a="http://schemas.openxmlformats.org/drawingml/2006/main" noGrp="1"/>
          </p:cNvSpPr>
          <p:nvPr/>
        </p:nvSpPr>
        <p:spPr>
          <a:xfrm xmlns:a="http://schemas.openxmlformats.org/drawingml/2006/main">
            <a:off x="457200" y="16383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WORLD IN 2020</a:t>
            </a:r>
          </a:p>
        </p:txBody>
      </p:sp>
      <p:sp>
        <p:nvSpPr>
          <p:cNvPr id="4" name="">
            <a:extLst xmlns:a="http://schemas.openxmlformats.org/drawingml/2006/main">
              <a:ext uri="{FF2B5EF4-FFF2-40B4-BE49-F238E27FC236}">
                <a16:creationId xmlns:a16="http://schemas.microsoft.com/office/drawing/2014/main" id="{0D2CE3C9-24C7-4A5F-B02F-01AE26CE5FA2}"/>
              </a:ext>
            </a:extLst>
          </p:cNvPr>
          <p:cNvSpPr>
            <a:spLocks xmlns:a="http://schemas.openxmlformats.org/drawingml/2006/main" noGrp="1"/>
          </p:cNvSpPr>
          <p:nvPr/>
        </p:nvSpPr>
        <p:spPr>
          <a:xfrm xmlns:a="http://schemas.openxmlformats.org/drawingml/2006/main">
            <a:off x="8039100" y="1638300"/>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JAPAN SELECTED</a:t>
            </a:r>
          </a:p>
        </p:txBody>
      </p:sp>
      <p:graphicFrame>
        <p:nvGraphicFramePr>
          <p:cNvPr id="5" name="Chart">
            <a:extLst xmlns:a="http://schemas.openxmlformats.org/drawingml/2006/main">
              <a:ext uri="{FF2B5EF4-FFF2-40B4-BE49-F238E27FC236}">
                <a16:creationId xmlns:a16="http://schemas.microsoft.com/office/drawing/2014/main" id="{CFBFD72C-CEFD-46B8-A9AE-521BB563B8F8}"/>
              </a:ext>
            </a:extLst>
          </p:cNvPr>
          <p:cNvGraphicFramePr/>
          <p:nvPr/>
        </p:nvGraphicFramePr>
        <p:xfrm>
          <a:off xmlns:a="http://schemas.openxmlformats.org/drawingml/2006/main" x="228600" y="2152650"/>
          <a:ext xmlns:a="http://schemas.openxmlformats.org/drawingml/2006/main" cx="7562850" cy="3829050"/>
        </p:xfrm>
        <a:graphic xmlns:a="http://schemas.openxmlformats.org/drawingml/2006/main">
          <a:graphicData uri="http://schemas.openxmlformats.org/drawingml/2006/chart">
            <c:chart xmlns:r="http://schemas.openxmlformats.org/officeDocument/2006/relationships" xmlns:c="http://schemas.openxmlformats.org/drawingml/2006/chart" r:id="R8d0ef4f480934bfc"/>
          </a:graphicData>
        </a:graphic>
      </p:graphicFrame>
      <p:sp>
        <p:nvSpPr>
          <p:cNvPr id="6" name="">
            <a:extLst xmlns:a="http://schemas.openxmlformats.org/drawingml/2006/main">
              <a:ext uri="{FF2B5EF4-FFF2-40B4-BE49-F238E27FC236}">
                <a16:creationId xmlns:a16="http://schemas.microsoft.com/office/drawing/2014/main" id="{53E38CF6-3A0E-4BED-AE65-984D44764B53}"/>
              </a:ext>
            </a:extLst>
          </p:cNvPr>
          <p:cNvSpPr>
            <a:spLocks xmlns:a="http://schemas.openxmlformats.org/drawingml/2006/main" noGrp="1"/>
          </p:cNvSpPr>
          <p:nvPr/>
        </p:nvSpPr>
        <p:spPr>
          <a:xfrm xmlns:a="http://schemas.openxmlformats.org/drawingml/2006/main">
            <a:off x="8143875" y="21526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Life expectancy</a:t>
            </a:r>
          </a:p>
        </p:txBody>
      </p:sp>
      <p:graphicFrame>
        <p:nvGraphicFramePr>
          <p:cNvPr id="7" name="Chart">
            <a:extLst xmlns:a="http://schemas.openxmlformats.org/drawingml/2006/main">
              <a:ext uri="{FF2B5EF4-FFF2-40B4-BE49-F238E27FC236}">
                <a16:creationId xmlns:a16="http://schemas.microsoft.com/office/drawing/2014/main" id="{6699D23F-41D0-4AA6-BF73-01CD5D25336B}"/>
              </a:ext>
            </a:extLst>
          </p:cNvPr>
          <p:cNvGraphicFramePr/>
          <p:nvPr/>
        </p:nvGraphicFramePr>
        <p:xfrm>
          <a:off xmlns:a="http://schemas.openxmlformats.org/drawingml/2006/main" x="7905750" y="25527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cf519ea84c634409"/>
          </a:graphicData>
        </a:graphic>
      </p:graphicFrame>
      <p:sp>
        <p:nvSpPr>
          <p:cNvPr id="8" name="">
            <a:extLst xmlns:a="http://schemas.openxmlformats.org/drawingml/2006/main">
              <a:ext uri="{FF2B5EF4-FFF2-40B4-BE49-F238E27FC236}">
                <a16:creationId xmlns:a16="http://schemas.microsoft.com/office/drawing/2014/main" id="{FBCBCEBD-4206-4D67-B080-D0115E0527C0}"/>
              </a:ext>
            </a:extLst>
          </p:cNvPr>
          <p:cNvSpPr>
            <a:spLocks xmlns:a="http://schemas.openxmlformats.org/drawingml/2006/main" noGrp="1"/>
          </p:cNvSpPr>
          <p:nvPr/>
        </p:nvSpPr>
        <p:spPr>
          <a:xfrm xmlns:a="http://schemas.openxmlformats.org/drawingml/2006/main">
            <a:off x="8143875" y="42100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GDP</a:t>
            </a:r>
          </a:p>
        </p:txBody>
      </p:sp>
      <p:graphicFrame>
        <p:nvGraphicFramePr>
          <p:cNvPr id="9" name="Chart">
            <a:extLst xmlns:a="http://schemas.openxmlformats.org/drawingml/2006/main">
              <a:ext uri="{FF2B5EF4-FFF2-40B4-BE49-F238E27FC236}">
                <a16:creationId xmlns:a16="http://schemas.microsoft.com/office/drawing/2014/main" id="{48E0AD93-82F4-4EE1-9E6F-8CA4CC4F688D}"/>
              </a:ext>
            </a:extLst>
          </p:cNvPr>
          <p:cNvGraphicFramePr/>
          <p:nvPr/>
        </p:nvGraphicFramePr>
        <p:xfrm>
          <a:off xmlns:a="http://schemas.openxmlformats.org/drawingml/2006/main" x="7905750" y="45720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527920a1e8e449d9"/>
          </a:graphicData>
        </a:graphic>
      </p:graphicFrame>
      <p:sp>
        <p:nvSpPr>
          <p:cNvPr id="10" name="">
            <a:extLst xmlns:a="http://schemas.openxmlformats.org/drawingml/2006/main">
              <a:ext uri="{FF2B5EF4-FFF2-40B4-BE49-F238E27FC236}">
                <a16:creationId xmlns:a16="http://schemas.microsoft.com/office/drawing/2014/main" id="{8453B4ED-2B6F-48CD-B9E0-4023199376CD}"/>
              </a:ext>
            </a:extLst>
          </p:cNvPr>
          <p:cNvSpPr>
            <a:spLocks xmlns:a="http://schemas.openxmlformats.org/drawingml/2006/main" noGrp="1"/>
          </p:cNvSpPr>
          <p:nvPr/>
        </p:nvSpPr>
        <p:spPr>
          <a:xfrm xmlns:a="http://schemas.openxmlformats.org/drawingml/2006/main">
            <a:off x="8458200" y="39814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1" name="">
            <a:extLst xmlns:a="http://schemas.openxmlformats.org/drawingml/2006/main">
              <a:ext uri="{FF2B5EF4-FFF2-40B4-BE49-F238E27FC236}">
                <a16:creationId xmlns:a16="http://schemas.microsoft.com/office/drawing/2014/main" id="{243354A6-EC9A-41CF-90E5-C778919ABBD3}"/>
              </a:ext>
            </a:extLst>
          </p:cNvPr>
          <p:cNvSpPr>
            <a:spLocks xmlns:a="http://schemas.openxmlformats.org/drawingml/2006/main" noGrp="1"/>
          </p:cNvSpPr>
          <p:nvPr/>
        </p:nvSpPr>
        <p:spPr>
          <a:xfrm xmlns:a="http://schemas.openxmlformats.org/drawingml/2006/main">
            <a:off x="11001375" y="39814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2" name="">
            <a:extLst xmlns:a="http://schemas.openxmlformats.org/drawingml/2006/main">
              <a:ext uri="{FF2B5EF4-FFF2-40B4-BE49-F238E27FC236}">
                <a16:creationId xmlns:a16="http://schemas.microsoft.com/office/drawing/2014/main" id="{49F4A139-31D1-455B-83C5-873C3534B7EA}"/>
              </a:ext>
            </a:extLst>
          </p:cNvPr>
          <p:cNvSpPr>
            <a:spLocks xmlns:a="http://schemas.openxmlformats.org/drawingml/2006/main" noGrp="1"/>
          </p:cNvSpPr>
          <p:nvPr/>
        </p:nvSpPr>
        <p:spPr>
          <a:xfrm xmlns:a="http://schemas.openxmlformats.org/drawingml/2006/main">
            <a:off x="8458200" y="60007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3" name="">
            <a:extLst xmlns:a="http://schemas.openxmlformats.org/drawingml/2006/main">
              <a:ext uri="{FF2B5EF4-FFF2-40B4-BE49-F238E27FC236}">
                <a16:creationId xmlns:a16="http://schemas.microsoft.com/office/drawing/2014/main" id="{4EFA9DC9-7E8B-466E-8FF3-59B9333ED78B}"/>
              </a:ext>
            </a:extLst>
          </p:cNvPr>
          <p:cNvSpPr>
            <a:spLocks xmlns:a="http://schemas.openxmlformats.org/drawingml/2006/main" noGrp="1"/>
          </p:cNvSpPr>
          <p:nvPr/>
        </p:nvSpPr>
        <p:spPr>
          <a:xfrm xmlns:a="http://schemas.openxmlformats.org/drawingml/2006/main">
            <a:off x="11001375" y="60007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4" name="">
            <a:extLst xmlns:a="http://schemas.openxmlformats.org/drawingml/2006/main">
              <a:ext uri="{FF2B5EF4-FFF2-40B4-BE49-F238E27FC236}">
                <a16:creationId xmlns:a16="http://schemas.microsoft.com/office/drawing/2014/main" id="{B017C0CC-8328-4190-AD1B-948B7556DD8B}"/>
              </a:ext>
            </a:extLst>
          </p:cNvPr>
          <p:cNvSpPr>
            <a:spLocks xmlns:a="http://schemas.openxmlformats.org/drawingml/2006/main" noGrp="1"/>
          </p:cNvSpPr>
          <p:nvPr/>
        </p:nvSpPr>
        <p:spPr>
          <a:xfrm xmlns:a="http://schemas.openxmlformats.org/drawingml/2006/main">
            <a:off x="457200" y="63627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Click a country in the overview. Explore its history on the right.</a:t>
            </a:r>
          </a:p>
        </p:txBody>
      </p:sp>
    </p:spTree>
    <p:extLst>
      <p:ext uri="{BB962C8B-B14F-4D97-AF65-F5344CB8AC3E}">
        <p14:creationId xmlns:p14="http://schemas.microsoft.com/office/powerpoint/2010/main" val="20178486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9594651-2A8C-483C-AB49-BFB8A1D89E15}"/>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three worksheets</a:t>
            </a:r>
          </a:p>
        </p:txBody>
      </p:sp>
      <p:sp>
        <p:nvSpPr>
          <p:cNvPr id="2" name="">
            <a:extLst xmlns:a="http://schemas.openxmlformats.org/drawingml/2006/main">
              <a:ext uri="{FF2B5EF4-FFF2-40B4-BE49-F238E27FC236}">
                <a16:creationId xmlns:a16="http://schemas.microsoft.com/office/drawing/2014/main" id="{4A554FE3-D740-4AFD-B368-FAB50069354E}"/>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Use the same hans.csv connection for every sheet</a:t>
            </a:r>
          </a:p>
        </p:txBody>
      </p:sp>
      <p:sp>
        <p:nvSpPr>
          <p:cNvPr id="3" name="">
            <a:extLst xmlns:a="http://schemas.openxmlformats.org/drawingml/2006/main">
              <a:ext uri="{FF2B5EF4-FFF2-40B4-BE49-F238E27FC236}">
                <a16:creationId xmlns:a16="http://schemas.microsoft.com/office/drawing/2014/main" id="{96D507E7-4F18-4694-9715-EF6F3F0ECC3C}"/>
              </a:ext>
            </a:extLst>
          </p:cNvPr>
          <p:cNvSpPr>
            <a:spLocks xmlns:a="http://schemas.openxmlformats.org/drawingml/2006/main" noGrp="1"/>
          </p:cNvSpPr>
          <p:nvPr/>
        </p:nvSpPr>
        <p:spPr>
          <a:xfrm xmlns:a="http://schemas.openxmlformats.org/drawingml/2006/main">
            <a:off x="457200" y="17335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1  World</a:t>
            </a:r>
          </a:p>
        </p:txBody>
      </p:sp>
      <p:graphicFrame>
        <p:nvGraphicFramePr>
          <p:cNvPr id="4" name="Chart">
            <a:extLst xmlns:a="http://schemas.openxmlformats.org/drawingml/2006/main">
              <a:ext uri="{FF2B5EF4-FFF2-40B4-BE49-F238E27FC236}">
                <a16:creationId xmlns:a16="http://schemas.microsoft.com/office/drawing/2014/main" id="{3C66BC94-9208-48F8-B31F-CE186C4AFB76}"/>
              </a:ext>
            </a:extLst>
          </p:cNvPr>
          <p:cNvGraphicFramePr/>
          <p:nvPr/>
        </p:nvGraphicFramePr>
        <p:xfrm>
          <a:off xmlns:a="http://schemas.openxmlformats.org/drawingml/2006/main" x="285750" y="21526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12061bf2d7ad493a"/>
          </a:graphicData>
        </a:graphic>
      </p:graphicFrame>
      <p:sp>
        <p:nvSpPr>
          <p:cNvPr id="5" name="">
            <a:extLst xmlns:a="http://schemas.openxmlformats.org/drawingml/2006/main">
              <a:ext uri="{FF2B5EF4-FFF2-40B4-BE49-F238E27FC236}">
                <a16:creationId xmlns:a16="http://schemas.microsoft.com/office/drawing/2014/main" id="{54F350FA-0D2B-4676-8DC6-985855D3F93F}"/>
              </a:ext>
            </a:extLst>
          </p:cNvPr>
          <p:cNvSpPr>
            <a:spLocks xmlns:a="http://schemas.openxmlformats.org/drawingml/2006/main" noGrp="1"/>
          </p:cNvSpPr>
          <p:nvPr/>
        </p:nvSpPr>
        <p:spPr>
          <a:xfrm xmlns:a="http://schemas.openxmlformats.org/drawingml/2006/main">
            <a:off x="3810000" y="17716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Columns  AVG(GDP)     Rows  AVG(Life Expectancy)</a:t>
            </a:r>
          </a:p>
        </p:txBody>
      </p:sp>
      <p:sp>
        <p:nvSpPr>
          <p:cNvPr id="6" name="">
            <a:extLst xmlns:a="http://schemas.openxmlformats.org/drawingml/2006/main">
              <a:ext uri="{FF2B5EF4-FFF2-40B4-BE49-F238E27FC236}">
                <a16:creationId xmlns:a16="http://schemas.microsoft.com/office/drawing/2014/main" id="{7ABD9F30-E17A-4314-96C9-B02EC01C9C2B}"/>
              </a:ext>
            </a:extLst>
          </p:cNvPr>
          <p:cNvSpPr>
            <a:spLocks xmlns:a="http://schemas.openxmlformats.org/drawingml/2006/main" noGrp="1"/>
          </p:cNvSpPr>
          <p:nvPr/>
        </p:nvSpPr>
        <p:spPr>
          <a:xfrm xmlns:a="http://schemas.openxmlformats.org/drawingml/2006/main">
            <a:off x="3810000" y="21907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Circle     Country: Detail     region: Color     Year: 2020</a:t>
            </a:r>
          </a:p>
        </p:txBody>
      </p:sp>
      <p:sp>
        <p:nvSpPr>
          <p:cNvPr id="7" name="">
            <a:extLst xmlns:a="http://schemas.openxmlformats.org/drawingml/2006/main">
              <a:ext uri="{FF2B5EF4-FFF2-40B4-BE49-F238E27FC236}">
                <a16:creationId xmlns:a16="http://schemas.microsoft.com/office/drawing/2014/main" id="{C47DD440-FE73-44CF-AF2A-DB68C1B16CB3}"/>
              </a:ext>
            </a:extLst>
          </p:cNvPr>
          <p:cNvSpPr>
            <a:spLocks xmlns:a="http://schemas.openxmlformats.org/drawingml/2006/main" noGrp="1"/>
          </p:cNvSpPr>
          <p:nvPr/>
        </p:nvSpPr>
        <p:spPr>
          <a:xfrm xmlns:a="http://schemas.openxmlformats.org/drawingml/2006/main">
            <a:off x="3810000" y="2609850"/>
            <a:ext cx="790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Year goes in Filters, not Pages. Keep one circle per country.</a:t>
            </a:r>
          </a:p>
        </p:txBody>
      </p:sp>
      <p:sp>
        <p:nvSpPr>
          <p:cNvPr id="8" name="">
            <a:extLst xmlns:a="http://schemas.openxmlformats.org/drawingml/2006/main">
              <a:ext uri="{FF2B5EF4-FFF2-40B4-BE49-F238E27FC236}">
                <a16:creationId xmlns:a16="http://schemas.microsoft.com/office/drawing/2014/main" id="{08A7EE99-C00A-4009-A315-00BAC3F73B07}"/>
              </a:ext>
            </a:extLst>
          </p:cNvPr>
          <p:cNvSpPr>
            <a:spLocks xmlns:a="http://schemas.openxmlformats.org/drawingml/2006/main" noGrp="1"/>
          </p:cNvSpPr>
          <p:nvPr/>
        </p:nvSpPr>
        <p:spPr>
          <a:xfrm xmlns:a="http://schemas.openxmlformats.org/drawingml/2006/main">
            <a:off x="457200" y="32956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2  Life History</a:t>
            </a:r>
          </a:p>
        </p:txBody>
      </p:sp>
      <p:graphicFrame>
        <p:nvGraphicFramePr>
          <p:cNvPr id="9" name="Chart">
            <a:extLst xmlns:a="http://schemas.openxmlformats.org/drawingml/2006/main">
              <a:ext uri="{FF2B5EF4-FFF2-40B4-BE49-F238E27FC236}">
                <a16:creationId xmlns:a16="http://schemas.microsoft.com/office/drawing/2014/main" id="{6C518BFA-25BF-431F-9EB8-776186859FF1}"/>
              </a:ext>
            </a:extLst>
          </p:cNvPr>
          <p:cNvGraphicFramePr/>
          <p:nvPr/>
        </p:nvGraphicFramePr>
        <p:xfrm>
          <a:off xmlns:a="http://schemas.openxmlformats.org/drawingml/2006/main" x="285750" y="36766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0aa163b2ff1c418d"/>
          </a:graphicData>
        </a:graphic>
      </p:graphicFrame>
      <p:sp>
        <p:nvSpPr>
          <p:cNvPr id="10" name="">
            <a:extLst xmlns:a="http://schemas.openxmlformats.org/drawingml/2006/main">
              <a:ext uri="{FF2B5EF4-FFF2-40B4-BE49-F238E27FC236}">
                <a16:creationId xmlns:a16="http://schemas.microsoft.com/office/drawing/2014/main" id="{68DE5FDA-259E-485D-AC83-DC4CA2510EC6}"/>
              </a:ext>
            </a:extLst>
          </p:cNvPr>
          <p:cNvSpPr>
            <a:spLocks xmlns:a="http://schemas.openxmlformats.org/drawingml/2006/main" noGrp="1"/>
          </p:cNvSpPr>
          <p:nvPr/>
        </p:nvSpPr>
        <p:spPr>
          <a:xfrm xmlns:a="http://schemas.openxmlformats.org/drawingml/2006/main">
            <a:off x="3810000" y="33337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Columns  Year (continuous)     Rows  AVG(Life Expectancy)</a:t>
            </a:r>
          </a:p>
        </p:txBody>
      </p:sp>
      <p:sp>
        <p:nvSpPr>
          <p:cNvPr id="11" name="">
            <a:extLst xmlns:a="http://schemas.openxmlformats.org/drawingml/2006/main">
              <a:ext uri="{FF2B5EF4-FFF2-40B4-BE49-F238E27FC236}">
                <a16:creationId xmlns:a16="http://schemas.microsoft.com/office/drawing/2014/main" id="{1A1305AD-672F-433F-9A12-846DD67F8F87}"/>
              </a:ext>
            </a:extLst>
          </p:cNvPr>
          <p:cNvSpPr>
            <a:spLocks xmlns:a="http://schemas.openxmlformats.org/drawingml/2006/main" noGrp="1"/>
          </p:cNvSpPr>
          <p:nvPr/>
        </p:nvSpPr>
        <p:spPr>
          <a:xfrm xmlns:a="http://schemas.openxmlformats.org/drawingml/2006/main">
            <a:off x="3810000" y="37528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Line     Country: Color     Year: 1960–2020</a:t>
            </a:r>
          </a:p>
        </p:txBody>
      </p:sp>
      <p:sp>
        <p:nvSpPr>
          <p:cNvPr id="12" name="">
            <a:extLst xmlns:a="http://schemas.openxmlformats.org/drawingml/2006/main">
              <a:ext uri="{FF2B5EF4-FFF2-40B4-BE49-F238E27FC236}">
                <a16:creationId xmlns:a16="http://schemas.microsoft.com/office/drawing/2014/main" id="{3DB405B1-3F6C-4D76-A75E-226AB03096B1}"/>
              </a:ext>
            </a:extLst>
          </p:cNvPr>
          <p:cNvSpPr>
            <a:spLocks xmlns:a="http://schemas.openxmlformats.org/drawingml/2006/main" noGrp="1"/>
          </p:cNvSpPr>
          <p:nvPr/>
        </p:nvSpPr>
        <p:spPr>
          <a:xfrm xmlns:a="http://schemas.openxmlformats.org/drawingml/2006/main">
            <a:off x="3810000" y="4171950"/>
            <a:ext cx="790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Use the full time range. Give each country its own line.</a:t>
            </a:r>
          </a:p>
        </p:txBody>
      </p:sp>
      <p:sp>
        <p:nvSpPr>
          <p:cNvPr id="13" name="">
            <a:extLst xmlns:a="http://schemas.openxmlformats.org/drawingml/2006/main">
              <a:ext uri="{FF2B5EF4-FFF2-40B4-BE49-F238E27FC236}">
                <a16:creationId xmlns:a16="http://schemas.microsoft.com/office/drawing/2014/main" id="{B853674B-A250-4D0B-9522-20E1F026F76E}"/>
              </a:ext>
            </a:extLst>
          </p:cNvPr>
          <p:cNvSpPr>
            <a:spLocks xmlns:a="http://schemas.openxmlformats.org/drawingml/2006/main" noGrp="1"/>
          </p:cNvSpPr>
          <p:nvPr/>
        </p:nvSpPr>
        <p:spPr>
          <a:xfrm xmlns:a="http://schemas.openxmlformats.org/drawingml/2006/main">
            <a:off x="457200" y="48577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3  GDP History</a:t>
            </a:r>
          </a:p>
        </p:txBody>
      </p:sp>
      <p:graphicFrame>
        <p:nvGraphicFramePr>
          <p:cNvPr id="14" name="Chart">
            <a:extLst xmlns:a="http://schemas.openxmlformats.org/drawingml/2006/main">
              <a:ext uri="{FF2B5EF4-FFF2-40B4-BE49-F238E27FC236}">
                <a16:creationId xmlns:a16="http://schemas.microsoft.com/office/drawing/2014/main" id="{BC32F1BD-CB21-4B79-8E72-35EFFBE0785D}"/>
              </a:ext>
            </a:extLst>
          </p:cNvPr>
          <p:cNvGraphicFramePr/>
          <p:nvPr/>
        </p:nvGraphicFramePr>
        <p:xfrm>
          <a:off xmlns:a="http://schemas.openxmlformats.org/drawingml/2006/main" x="285750" y="52387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242b903f4950437f"/>
          </a:graphicData>
        </a:graphic>
      </p:graphicFrame>
      <p:sp>
        <p:nvSpPr>
          <p:cNvPr id="15" name="">
            <a:extLst xmlns:a="http://schemas.openxmlformats.org/drawingml/2006/main">
              <a:ext uri="{FF2B5EF4-FFF2-40B4-BE49-F238E27FC236}">
                <a16:creationId xmlns:a16="http://schemas.microsoft.com/office/drawing/2014/main" id="{8497ECD0-FC7C-4002-B1ED-027119791695}"/>
              </a:ext>
            </a:extLst>
          </p:cNvPr>
          <p:cNvSpPr>
            <a:spLocks xmlns:a="http://schemas.openxmlformats.org/drawingml/2006/main" noGrp="1"/>
          </p:cNvSpPr>
          <p:nvPr/>
        </p:nvSpPr>
        <p:spPr>
          <a:xfrm xmlns:a="http://schemas.openxmlformats.org/drawingml/2006/main">
            <a:off x="3810000" y="4895850"/>
            <a:ext cx="790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Duplicate Life History.</a:t>
            </a:r>
          </a:p>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Replace the measure with AVG(GDP).</a:t>
            </a:r>
          </a:p>
        </p:txBody>
      </p:sp>
      <p:sp>
        <p:nvSpPr>
          <p:cNvPr id="16" name="">
            <a:extLst xmlns:a="http://schemas.openxmlformats.org/drawingml/2006/main">
              <a:ext uri="{FF2B5EF4-FFF2-40B4-BE49-F238E27FC236}">
                <a16:creationId xmlns:a16="http://schemas.microsoft.com/office/drawing/2014/main" id="{153C7A84-7237-498F-A24E-FF11F70FECB0}"/>
              </a:ext>
            </a:extLst>
          </p:cNvPr>
          <p:cNvSpPr>
            <a:spLocks xmlns:a="http://schemas.openxmlformats.org/drawingml/2006/main" noGrp="1"/>
          </p:cNvSpPr>
          <p:nvPr/>
        </p:nvSpPr>
        <p:spPr>
          <a:xfrm xmlns:a="http://schemas.openxmlformats.org/drawingml/2006/main">
            <a:off x="3810000" y="56959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Same countries. Same years. A different measure.</a:t>
            </a:r>
          </a:p>
        </p:txBody>
      </p:sp>
    </p:spTree>
    <p:extLst>
      <p:ext uri="{BB962C8B-B14F-4D97-AF65-F5344CB8AC3E}">
        <p14:creationId xmlns:p14="http://schemas.microsoft.com/office/powerpoint/2010/main" val="11973183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D94B76D-E85D-47F8-887D-DFECF5E728BC}"/>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dashboard layout</a:t>
            </a:r>
          </a:p>
        </p:txBody>
      </p:sp>
      <p:sp>
        <p:nvSpPr>
          <p:cNvPr id="2" name="">
            <a:extLst xmlns:a="http://schemas.openxmlformats.org/drawingml/2006/main">
              <a:ext uri="{FF2B5EF4-FFF2-40B4-BE49-F238E27FC236}">
                <a16:creationId xmlns:a16="http://schemas.microsoft.com/office/drawing/2014/main" id="{FCF95313-01D4-4D70-97F8-31481AC0CCCA}"/>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large overview and a smaller history column</a:t>
            </a:r>
          </a:p>
        </p:txBody>
      </p:sp>
      <p:sp>
        <p:nvSpPr>
          <p:cNvPr id="3" name="">
            <a:extLst xmlns:a="http://schemas.openxmlformats.org/drawingml/2006/main">
              <a:ext uri="{FF2B5EF4-FFF2-40B4-BE49-F238E27FC236}">
                <a16:creationId xmlns:a16="http://schemas.microsoft.com/office/drawing/2014/main" id="{1CDC89BB-D14C-47FF-9D10-2BC956409117}"/>
              </a:ext>
            </a:extLst>
          </p:cNvPr>
          <p:cNvSpPr>
            <a:spLocks xmlns:a="http://schemas.openxmlformats.org/drawingml/2006/main" noGrp="1"/>
          </p:cNvSpPr>
          <p:nvPr/>
        </p:nvSpPr>
        <p:spPr>
          <a:xfrm xmlns:a="http://schemas.openxmlformats.org/drawingml/2006/main">
            <a:off x="457200" y="1685925"/>
            <a:ext cx="619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1200 × 800</a:t>
            </a:r>
          </a:p>
        </p:txBody>
      </p:sp>
      <p:sp>
        <p:nvSpPr>
          <p:cNvPr id="4" name="">
            <a:extLst xmlns:a="http://schemas.openxmlformats.org/drawingml/2006/main">
              <a:ext uri="{FF2B5EF4-FFF2-40B4-BE49-F238E27FC236}">
                <a16:creationId xmlns:a16="http://schemas.microsoft.com/office/drawing/2014/main" id="{30164046-E821-413B-9579-6DD76043C455}"/>
              </a:ext>
            </a:extLst>
          </p:cNvPr>
          <p:cNvSpPr>
            <a:spLocks xmlns:a="http://schemas.openxmlformats.org/drawingml/2006/main" noGrp="1"/>
          </p:cNvSpPr>
          <p:nvPr/>
        </p:nvSpPr>
        <p:spPr>
          <a:xfrm xmlns:a="http://schemas.openxmlformats.org/drawingml/2006/main">
            <a:off x="457200" y="2219325"/>
            <a:ext cx="4000500" cy="3638550"/>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B8482F-27AE-4FE5-AA71-D6BBF49948D5}"/>
              </a:ext>
            </a:extLst>
          </p:cNvPr>
          <p:cNvSpPr>
            <a:spLocks xmlns:a="http://schemas.openxmlformats.org/drawingml/2006/main" noGrp="1"/>
          </p:cNvSpPr>
          <p:nvPr/>
        </p:nvSpPr>
        <p:spPr>
          <a:xfrm xmlns:a="http://schemas.openxmlformats.org/drawingml/2006/main">
            <a:off x="4610100" y="2219325"/>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944DAA-89D4-4A8C-9E03-545CAD0817E5}"/>
              </a:ext>
            </a:extLst>
          </p:cNvPr>
          <p:cNvSpPr>
            <a:spLocks xmlns:a="http://schemas.openxmlformats.org/drawingml/2006/main" noGrp="1"/>
          </p:cNvSpPr>
          <p:nvPr/>
        </p:nvSpPr>
        <p:spPr>
          <a:xfrm xmlns:a="http://schemas.openxmlformats.org/drawingml/2006/main">
            <a:off x="4610100" y="4114800"/>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820FFB8-5723-43B7-B803-5B30D32F61F8}"/>
              </a:ext>
            </a:extLst>
          </p:cNvPr>
          <p:cNvSpPr>
            <a:spLocks xmlns:a="http://schemas.openxmlformats.org/drawingml/2006/main" noGrp="1"/>
          </p:cNvSpPr>
          <p:nvPr/>
        </p:nvSpPr>
        <p:spPr>
          <a:xfrm xmlns:a="http://schemas.openxmlformats.org/drawingml/2006/main">
            <a:off x="733425" y="36195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a:solidFill>
                  <a:srgbClr val="38332E"/>
                </a:solidFill>
                <a:latin typeface="Ubuntu Condensed"/>
                <a:ea typeface="Ubuntu Condensed"/>
                <a:cs typeface="Ubuntu Condensed"/>
              </a:defRPr>
            </a:defPPr>
          </a:lstStyle>
          <a:p xmlns:a="http://schemas.openxmlformats.org/drawingml/2006/main">
            <a:pPr>
              <a:defRPr sz="3375">
                <a:solidFill>
                  <a:srgbClr val="38332E"/>
                </a:solidFill>
                <a:latin typeface="Ubuntu Condensed"/>
                <a:ea typeface="Ubuntu Condensed"/>
                <a:cs typeface="Ubuntu Condensed"/>
              </a:defRPr>
            </a:pPr>
            <a:r>
              <a:rPr sz="3375">
                <a:solidFill>
                  <a:srgbClr val="38332E"/>
                </a:solidFill>
                <a:latin typeface="Ubuntu Condensed"/>
                <a:ea typeface="Ubuntu Condensed"/>
                <a:cs typeface="Ubuntu Condensed"/>
              </a:rPr>
              <a:t>World</a:t>
            </a:r>
          </a:p>
        </p:txBody>
      </p:sp>
      <p:sp>
        <p:nvSpPr>
          <p:cNvPr id="8" name="">
            <a:extLst xmlns:a="http://schemas.openxmlformats.org/drawingml/2006/main">
              <a:ext uri="{FF2B5EF4-FFF2-40B4-BE49-F238E27FC236}">
                <a16:creationId xmlns:a16="http://schemas.microsoft.com/office/drawing/2014/main" id="{91EFA370-CF26-4C0C-AA67-B0D1A0D7ECD9}"/>
              </a:ext>
            </a:extLst>
          </p:cNvPr>
          <p:cNvSpPr>
            <a:spLocks xmlns:a="http://schemas.openxmlformats.org/drawingml/2006/main" noGrp="1"/>
          </p:cNvSpPr>
          <p:nvPr/>
        </p:nvSpPr>
        <p:spPr>
          <a:xfrm xmlns:a="http://schemas.openxmlformats.org/drawingml/2006/main">
            <a:off x="4810125" y="2619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Life</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9" name="">
            <a:extLst xmlns:a="http://schemas.openxmlformats.org/drawingml/2006/main">
              <a:ext uri="{FF2B5EF4-FFF2-40B4-BE49-F238E27FC236}">
                <a16:creationId xmlns:a16="http://schemas.microsoft.com/office/drawing/2014/main" id="{E0F27C12-EBBC-4054-8808-72DD65D58746}"/>
              </a:ext>
            </a:extLst>
          </p:cNvPr>
          <p:cNvSpPr>
            <a:spLocks xmlns:a="http://schemas.openxmlformats.org/drawingml/2006/main" noGrp="1"/>
          </p:cNvSpPr>
          <p:nvPr/>
        </p:nvSpPr>
        <p:spPr>
          <a:xfrm xmlns:a="http://schemas.openxmlformats.org/drawingml/2006/main">
            <a:off x="4810125" y="4524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GDP</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10" name="">
            <a:extLst xmlns:a="http://schemas.openxmlformats.org/drawingml/2006/main">
              <a:ext uri="{FF2B5EF4-FFF2-40B4-BE49-F238E27FC236}">
                <a16:creationId xmlns:a16="http://schemas.microsoft.com/office/drawing/2014/main" id="{20992DA9-53FF-43F4-A66E-18E252928FA5}"/>
              </a:ext>
            </a:extLst>
          </p:cNvPr>
          <p:cNvSpPr>
            <a:spLocks xmlns:a="http://schemas.openxmlformats.org/drawingml/2006/main" noGrp="1"/>
          </p:cNvSpPr>
          <p:nvPr/>
        </p:nvSpPr>
        <p:spPr>
          <a:xfrm xmlns:a="http://schemas.openxmlformats.org/drawingml/2006/main">
            <a:off x="457200" y="6067425"/>
            <a:ext cx="628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Tiled: horizontal container, with a vertical container on the right</a:t>
            </a:r>
          </a:p>
        </p:txBody>
      </p:sp>
      <p:sp>
        <p:nvSpPr>
          <p:cNvPr id="11" name="">
            <a:extLst xmlns:a="http://schemas.openxmlformats.org/drawingml/2006/main">
              <a:ext uri="{FF2B5EF4-FFF2-40B4-BE49-F238E27FC236}">
                <a16:creationId xmlns:a16="http://schemas.microsoft.com/office/drawing/2014/main" id="{341F83CB-E1A5-4401-A567-9538320B0622}"/>
              </a:ext>
            </a:extLst>
          </p:cNvPr>
          <p:cNvSpPr>
            <a:spLocks xmlns:a="http://schemas.openxmlformats.org/drawingml/2006/main" noGrp="1"/>
          </p:cNvSpPr>
          <p:nvPr/>
        </p:nvSpPr>
        <p:spPr>
          <a:xfrm xmlns:a="http://schemas.openxmlformats.org/drawingml/2006/main">
            <a:off x="7334250" y="175260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1  New Dashboard</a:t>
            </a:r>
          </a:p>
        </p:txBody>
      </p:sp>
      <p:sp>
        <p:nvSpPr>
          <p:cNvPr id="12" name="">
            <a:extLst xmlns:a="http://schemas.openxmlformats.org/drawingml/2006/main">
              <a:ext uri="{FF2B5EF4-FFF2-40B4-BE49-F238E27FC236}">
                <a16:creationId xmlns:a16="http://schemas.microsoft.com/office/drawing/2014/main" id="{C9D1D8FA-0635-4464-BD91-E0DED0821CCE}"/>
              </a:ext>
            </a:extLst>
          </p:cNvPr>
          <p:cNvSpPr>
            <a:spLocks xmlns:a="http://schemas.openxmlformats.org/drawingml/2006/main" noGrp="1"/>
          </p:cNvSpPr>
          <p:nvPr/>
        </p:nvSpPr>
        <p:spPr>
          <a:xfrm xmlns:a="http://schemas.openxmlformats.org/drawingml/2006/main">
            <a:off x="7334250" y="2228850"/>
            <a:ext cx="428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Set Size to Fixed: 1200 × 800.</a:t>
            </a:r>
          </a:p>
        </p:txBody>
      </p:sp>
      <p:sp>
        <p:nvSpPr>
          <p:cNvPr id="13" name="">
            <a:extLst xmlns:a="http://schemas.openxmlformats.org/drawingml/2006/main">
              <a:ext uri="{FF2B5EF4-FFF2-40B4-BE49-F238E27FC236}">
                <a16:creationId xmlns:a16="http://schemas.microsoft.com/office/drawing/2014/main" id="{DCD92C31-AEDA-4CD5-BFA3-1C57DE2076F6}"/>
              </a:ext>
            </a:extLst>
          </p:cNvPr>
          <p:cNvSpPr>
            <a:spLocks xmlns:a="http://schemas.openxmlformats.org/drawingml/2006/main" noGrp="1"/>
          </p:cNvSpPr>
          <p:nvPr/>
        </p:nvSpPr>
        <p:spPr>
          <a:xfrm xmlns:a="http://schemas.openxmlformats.org/drawingml/2006/main">
            <a:off x="7334250" y="30575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2  Tiled layout</a:t>
            </a:r>
          </a:p>
        </p:txBody>
      </p:sp>
      <p:sp>
        <p:nvSpPr>
          <p:cNvPr id="14" name="">
            <a:extLst xmlns:a="http://schemas.openxmlformats.org/drawingml/2006/main">
              <a:ext uri="{FF2B5EF4-FFF2-40B4-BE49-F238E27FC236}">
                <a16:creationId xmlns:a16="http://schemas.microsoft.com/office/drawing/2014/main" id="{0580B236-25D6-45DF-8F18-4A154B745764}"/>
              </a:ext>
            </a:extLst>
          </p:cNvPr>
          <p:cNvSpPr>
            <a:spLocks xmlns:a="http://schemas.openxmlformats.org/drawingml/2006/main" noGrp="1"/>
          </p:cNvSpPr>
          <p:nvPr/>
        </p:nvSpPr>
        <p:spPr>
          <a:xfrm xmlns:a="http://schemas.openxmlformats.org/drawingml/2006/main">
            <a:off x="7334250" y="3524250"/>
            <a:ext cx="4286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Drag World left. Stack both histories on the right.</a:t>
            </a:r>
          </a:p>
        </p:txBody>
      </p:sp>
      <p:sp>
        <p:nvSpPr>
          <p:cNvPr id="15" name="">
            <a:extLst xmlns:a="http://schemas.openxmlformats.org/drawingml/2006/main">
              <a:ext uri="{FF2B5EF4-FFF2-40B4-BE49-F238E27FC236}">
                <a16:creationId xmlns:a16="http://schemas.microsoft.com/office/drawing/2014/main" id="{5C63E1E0-E8E8-4C55-B11C-BF84DF5853D2}"/>
              </a:ext>
            </a:extLst>
          </p:cNvPr>
          <p:cNvSpPr>
            <a:spLocks xmlns:a="http://schemas.openxmlformats.org/drawingml/2006/main" noGrp="1"/>
          </p:cNvSpPr>
          <p:nvPr/>
        </p:nvSpPr>
        <p:spPr>
          <a:xfrm xmlns:a="http://schemas.openxmlformats.org/drawingml/2006/main">
            <a:off x="7334250" y="4619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3  One year control</a:t>
            </a:r>
          </a:p>
        </p:txBody>
      </p:sp>
      <p:sp>
        <p:nvSpPr>
          <p:cNvPr id="16" name="">
            <a:extLst xmlns:a="http://schemas.openxmlformats.org/drawingml/2006/main">
              <a:ext uri="{FF2B5EF4-FFF2-40B4-BE49-F238E27FC236}">
                <a16:creationId xmlns:a16="http://schemas.microsoft.com/office/drawing/2014/main" id="{4E652368-E363-474E-8297-88370357C989}"/>
              </a:ext>
            </a:extLst>
          </p:cNvPr>
          <p:cNvSpPr>
            <a:spLocks xmlns:a="http://schemas.openxmlformats.org/drawingml/2006/main" noGrp="1"/>
          </p:cNvSpPr>
          <p:nvPr/>
        </p:nvSpPr>
        <p:spPr>
          <a:xfrm xmlns:a="http://schemas.openxmlformats.org/drawingml/2006/main">
            <a:off x="7334250" y="510540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Year filter menu:</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Apply to Worksheets</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Selected Worksheets: World only.</a:t>
            </a:r>
          </a:p>
        </p:txBody>
      </p:sp>
      <p:sp>
        <p:nvSpPr>
          <p:cNvPr id="17" name="">
            <a:extLst xmlns:a="http://schemas.openxmlformats.org/drawingml/2006/main">
              <a:ext uri="{FF2B5EF4-FFF2-40B4-BE49-F238E27FC236}">
                <a16:creationId xmlns:a16="http://schemas.microsoft.com/office/drawing/2014/main" id="{803A9D5A-4245-4213-BAE4-E6978DD51A83}"/>
              </a:ext>
            </a:extLst>
          </p:cNvPr>
          <p:cNvSpPr>
            <a:spLocks xmlns:a="http://schemas.openxmlformats.org/drawingml/2006/main" noGrp="1"/>
          </p:cNvSpPr>
          <p:nvPr/>
        </p:nvSpPr>
        <p:spPr>
          <a:xfrm xmlns:a="http://schemas.openxmlformats.org/drawingml/2006/main">
            <a:off x="7334250" y="6229350"/>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B23C50"/>
                </a:solidFill>
                <a:latin typeface="Ubuntu Condensed"/>
                <a:ea typeface="Ubuntu Condensed"/>
                <a:cs typeface="Ubuntu Condensed"/>
              </a:defRPr>
            </a:defPPr>
          </a:lstStyle>
          <a:p xmlns:a="http://schemas.openxmlformats.org/drawingml/2006/main">
            <a:pPr>
              <a:defRPr sz="1725">
                <a:solidFill>
                  <a:srgbClr val="B23C50"/>
                </a:solidFill>
                <a:latin typeface="Ubuntu Condensed"/>
                <a:ea typeface="Ubuntu Condensed"/>
                <a:cs typeface="Ubuntu Condensed"/>
              </a:defRPr>
            </a:pPr>
            <a:r>
              <a:rPr sz="1725">
                <a:solidFill>
                  <a:srgbClr val="B23C50"/>
                </a:solidFill>
                <a:latin typeface="Ubuntu Condensed"/>
                <a:ea typeface="Ubuntu Condensed"/>
                <a:cs typeface="Ubuntu Condensed"/>
              </a:rPr>
              <a:t>Keep both histories at 1960–2020.</a:t>
            </a:r>
          </a:p>
        </p:txBody>
      </p:sp>
    </p:spTree>
    <p:extLst>
      <p:ext uri="{BB962C8B-B14F-4D97-AF65-F5344CB8AC3E}">
        <p14:creationId xmlns:p14="http://schemas.microsoft.com/office/powerpoint/2010/main" val="20373518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60B2A94-F2E0-4ED8-9392-A0F8CFAFC912}"/>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A country click keeps the whole history</a:t>
            </a:r>
          </a:p>
        </p:txBody>
      </p:sp>
      <p:sp>
        <p:nvSpPr>
          <p:cNvPr id="2" name="">
            <a:extLst xmlns:a="http://schemas.openxmlformats.org/drawingml/2006/main">
              <a:ext uri="{FF2B5EF4-FFF2-40B4-BE49-F238E27FC236}">
                <a16:creationId xmlns:a16="http://schemas.microsoft.com/office/drawing/2014/main" id="{3BE0AF23-8CA5-4F0A-8A57-AFEC855480BE}"/>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Dashboard &gt; Actions &gt; Add Action &gt; Filter</a:t>
            </a:r>
          </a:p>
        </p:txBody>
      </p:sp>
      <p:sp>
        <p:nvSpPr>
          <p:cNvPr id="3" name="">
            <a:extLst xmlns:a="http://schemas.openxmlformats.org/drawingml/2006/main">
              <a:ext uri="{FF2B5EF4-FFF2-40B4-BE49-F238E27FC236}">
                <a16:creationId xmlns:a16="http://schemas.microsoft.com/office/drawing/2014/main" id="{7AE2EB04-ED36-4750-9C67-E66F2ADF516A}"/>
              </a:ext>
            </a:extLst>
          </p:cNvPr>
          <p:cNvSpPr>
            <a:spLocks xmlns:a="http://schemas.openxmlformats.org/drawingml/2006/main" noGrp="1"/>
          </p:cNvSpPr>
          <p:nvPr/>
        </p:nvSpPr>
        <p:spPr>
          <a:xfrm xmlns:a="http://schemas.openxmlformats.org/drawingml/2006/main">
            <a:off x="457200" y="175260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Source</a:t>
            </a:r>
          </a:p>
        </p:txBody>
      </p:sp>
      <p:sp>
        <p:nvSpPr>
          <p:cNvPr id="4" name="">
            <a:extLst xmlns:a="http://schemas.openxmlformats.org/drawingml/2006/main">
              <a:ext uri="{FF2B5EF4-FFF2-40B4-BE49-F238E27FC236}">
                <a16:creationId xmlns:a16="http://schemas.microsoft.com/office/drawing/2014/main" id="{D5EB3951-2DA2-478A-96D4-283AE00F5EC5}"/>
              </a:ext>
            </a:extLst>
          </p:cNvPr>
          <p:cNvSpPr>
            <a:spLocks xmlns:a="http://schemas.openxmlformats.org/drawingml/2006/main" noGrp="1"/>
          </p:cNvSpPr>
          <p:nvPr/>
        </p:nvSpPr>
        <p:spPr>
          <a:xfrm xmlns:a="http://schemas.openxmlformats.org/drawingml/2006/main">
            <a:off x="457200" y="20478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World</a:t>
            </a:r>
          </a:p>
        </p:txBody>
      </p:sp>
      <p:sp>
        <p:nvSpPr>
          <p:cNvPr id="5" name="">
            <a:extLst xmlns:a="http://schemas.openxmlformats.org/drawingml/2006/main">
              <a:ext uri="{FF2B5EF4-FFF2-40B4-BE49-F238E27FC236}">
                <a16:creationId xmlns:a16="http://schemas.microsoft.com/office/drawing/2014/main" id="{9BFFD1CF-5CEC-467F-9AE8-6CD1EF04FA04}"/>
              </a:ext>
            </a:extLst>
          </p:cNvPr>
          <p:cNvSpPr>
            <a:spLocks xmlns:a="http://schemas.openxmlformats.org/drawingml/2006/main" noGrp="1"/>
          </p:cNvSpPr>
          <p:nvPr/>
        </p:nvSpPr>
        <p:spPr>
          <a:xfrm xmlns:a="http://schemas.openxmlformats.org/drawingml/2006/main">
            <a:off x="457200" y="24669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Run on</a:t>
            </a:r>
          </a:p>
        </p:txBody>
      </p:sp>
      <p:sp>
        <p:nvSpPr>
          <p:cNvPr id="6" name="">
            <a:extLst xmlns:a="http://schemas.openxmlformats.org/drawingml/2006/main">
              <a:ext uri="{FF2B5EF4-FFF2-40B4-BE49-F238E27FC236}">
                <a16:creationId xmlns:a16="http://schemas.microsoft.com/office/drawing/2014/main" id="{F2E9DBD0-190E-4C7A-998A-3267693C63A6}"/>
              </a:ext>
            </a:extLst>
          </p:cNvPr>
          <p:cNvSpPr>
            <a:spLocks xmlns:a="http://schemas.openxmlformats.org/drawingml/2006/main" noGrp="1"/>
          </p:cNvSpPr>
          <p:nvPr/>
        </p:nvSpPr>
        <p:spPr>
          <a:xfrm xmlns:a="http://schemas.openxmlformats.org/drawingml/2006/main">
            <a:off x="457200" y="2762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Select</a:t>
            </a:r>
          </a:p>
        </p:txBody>
      </p:sp>
      <p:sp>
        <p:nvSpPr>
          <p:cNvPr id="7" name="">
            <a:extLst xmlns:a="http://schemas.openxmlformats.org/drawingml/2006/main">
              <a:ext uri="{FF2B5EF4-FFF2-40B4-BE49-F238E27FC236}">
                <a16:creationId xmlns:a16="http://schemas.microsoft.com/office/drawing/2014/main" id="{8F477678-2513-4788-8A6E-47655329FED6}"/>
              </a:ext>
            </a:extLst>
          </p:cNvPr>
          <p:cNvSpPr>
            <a:spLocks xmlns:a="http://schemas.openxmlformats.org/drawingml/2006/main" noGrp="1"/>
          </p:cNvSpPr>
          <p:nvPr/>
        </p:nvSpPr>
        <p:spPr>
          <a:xfrm xmlns:a="http://schemas.openxmlformats.org/drawingml/2006/main">
            <a:off x="457200" y="318135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Targets</a:t>
            </a:r>
          </a:p>
        </p:txBody>
      </p:sp>
      <p:sp>
        <p:nvSpPr>
          <p:cNvPr id="8" name="">
            <a:extLst xmlns:a="http://schemas.openxmlformats.org/drawingml/2006/main">
              <a:ext uri="{FF2B5EF4-FFF2-40B4-BE49-F238E27FC236}">
                <a16:creationId xmlns:a16="http://schemas.microsoft.com/office/drawing/2014/main" id="{34669D22-3D6D-4F35-A36D-9DAECCB6CD67}"/>
              </a:ext>
            </a:extLst>
          </p:cNvPr>
          <p:cNvSpPr>
            <a:spLocks xmlns:a="http://schemas.openxmlformats.org/drawingml/2006/main" noGrp="1"/>
          </p:cNvSpPr>
          <p:nvPr/>
        </p:nvSpPr>
        <p:spPr>
          <a:xfrm xmlns:a="http://schemas.openxmlformats.org/drawingml/2006/main">
            <a:off x="457200" y="34766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Life History + GDP History</a:t>
            </a:r>
          </a:p>
        </p:txBody>
      </p:sp>
      <p:sp>
        <p:nvSpPr>
          <p:cNvPr id="9" name="">
            <a:extLst xmlns:a="http://schemas.openxmlformats.org/drawingml/2006/main">
              <a:ext uri="{FF2B5EF4-FFF2-40B4-BE49-F238E27FC236}">
                <a16:creationId xmlns:a16="http://schemas.microsoft.com/office/drawing/2014/main" id="{2255E084-E60C-4BFF-B328-55F27A520530}"/>
              </a:ext>
            </a:extLst>
          </p:cNvPr>
          <p:cNvSpPr>
            <a:spLocks xmlns:a="http://schemas.openxmlformats.org/drawingml/2006/main" noGrp="1"/>
          </p:cNvSpPr>
          <p:nvPr/>
        </p:nvSpPr>
        <p:spPr>
          <a:xfrm xmlns:a="http://schemas.openxmlformats.org/drawingml/2006/main">
            <a:off x="457200" y="389572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Selected Fields</a:t>
            </a:r>
          </a:p>
        </p:txBody>
      </p:sp>
      <p:sp>
        <p:nvSpPr>
          <p:cNvPr id="10" name="">
            <a:extLst xmlns:a="http://schemas.openxmlformats.org/drawingml/2006/main">
              <a:ext uri="{FF2B5EF4-FFF2-40B4-BE49-F238E27FC236}">
                <a16:creationId xmlns:a16="http://schemas.microsoft.com/office/drawing/2014/main" id="{72FF776A-8AC7-45E4-825E-A24CE0F06F59}"/>
              </a:ext>
            </a:extLst>
          </p:cNvPr>
          <p:cNvSpPr>
            <a:spLocks xmlns:a="http://schemas.openxmlformats.org/drawingml/2006/main" noGrp="1"/>
          </p:cNvSpPr>
          <p:nvPr/>
        </p:nvSpPr>
        <p:spPr>
          <a:xfrm xmlns:a="http://schemas.openxmlformats.org/drawingml/2006/main">
            <a:off x="457200" y="419100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Country → Country</a:t>
            </a:r>
          </a:p>
        </p:txBody>
      </p:sp>
      <p:sp>
        <p:nvSpPr>
          <p:cNvPr id="11" name="">
            <a:extLst xmlns:a="http://schemas.openxmlformats.org/drawingml/2006/main">
              <a:ext uri="{FF2B5EF4-FFF2-40B4-BE49-F238E27FC236}">
                <a16:creationId xmlns:a16="http://schemas.microsoft.com/office/drawing/2014/main" id="{EB2C7CF4-A82A-49AB-9086-55F6DE9E931F}"/>
              </a:ext>
            </a:extLst>
          </p:cNvPr>
          <p:cNvSpPr>
            <a:spLocks xmlns:a="http://schemas.openxmlformats.org/drawingml/2006/main" noGrp="1"/>
          </p:cNvSpPr>
          <p:nvPr/>
        </p:nvSpPr>
        <p:spPr>
          <a:xfrm xmlns:a="http://schemas.openxmlformats.org/drawingml/2006/main">
            <a:off x="457200" y="461010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Clear selection</a:t>
            </a:r>
          </a:p>
        </p:txBody>
      </p:sp>
      <p:sp>
        <p:nvSpPr>
          <p:cNvPr id="12" name="">
            <a:extLst xmlns:a="http://schemas.openxmlformats.org/drawingml/2006/main">
              <a:ext uri="{FF2B5EF4-FFF2-40B4-BE49-F238E27FC236}">
                <a16:creationId xmlns:a16="http://schemas.microsoft.com/office/drawing/2014/main" id="{84A7B001-1926-4302-A985-B27B79E4FC46}"/>
              </a:ext>
            </a:extLst>
          </p:cNvPr>
          <p:cNvSpPr>
            <a:spLocks xmlns:a="http://schemas.openxmlformats.org/drawingml/2006/main" noGrp="1"/>
          </p:cNvSpPr>
          <p:nvPr/>
        </p:nvSpPr>
        <p:spPr>
          <a:xfrm xmlns:a="http://schemas.openxmlformats.org/drawingml/2006/main">
            <a:off x="457200" y="49053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Show all values</a:t>
            </a:r>
          </a:p>
        </p:txBody>
      </p:sp>
      <p:sp>
        <p:nvSpPr>
          <p:cNvPr id="13" name="">
            <a:extLst xmlns:a="http://schemas.openxmlformats.org/drawingml/2006/main">
              <a:ext uri="{FF2B5EF4-FFF2-40B4-BE49-F238E27FC236}">
                <a16:creationId xmlns:a16="http://schemas.microsoft.com/office/drawing/2014/main" id="{44A3269F-59B4-4634-810C-F2DB2A1B2684}"/>
              </a:ext>
            </a:extLst>
          </p:cNvPr>
          <p:cNvSpPr>
            <a:spLocks xmlns:a="http://schemas.openxmlformats.org/drawingml/2006/main" noGrp="1"/>
          </p:cNvSpPr>
          <p:nvPr/>
        </p:nvSpPr>
        <p:spPr>
          <a:xfrm xmlns:a="http://schemas.openxmlformats.org/drawingml/2006/main">
            <a:off x="457200" y="58388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Do not pass Year to the history sheets.</a:t>
            </a:r>
          </a:p>
        </p:txBody>
      </p:sp>
      <p:sp>
        <p:nvSpPr>
          <p:cNvPr id="14" name="">
            <a:extLst xmlns:a="http://schemas.openxmlformats.org/drawingml/2006/main">
              <a:ext uri="{FF2B5EF4-FFF2-40B4-BE49-F238E27FC236}">
                <a16:creationId xmlns:a16="http://schemas.microsoft.com/office/drawing/2014/main" id="{9B6EF654-79BA-4BA9-B63A-C51EB9FA5397}"/>
              </a:ext>
            </a:extLst>
          </p:cNvPr>
          <p:cNvSpPr>
            <a:spLocks xmlns:a="http://schemas.openxmlformats.org/drawingml/2006/main" noGrp="1"/>
          </p:cNvSpPr>
          <p:nvPr/>
        </p:nvSpPr>
        <p:spPr>
          <a:xfrm xmlns:a="http://schemas.openxmlformats.org/drawingml/2006/main">
            <a:off x="6534150" y="17430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Click Japan</a:t>
            </a:r>
          </a:p>
        </p:txBody>
      </p:sp>
      <p:graphicFrame>
        <p:nvGraphicFramePr>
          <p:cNvPr id="15" name="Chart">
            <a:extLst xmlns:a="http://schemas.openxmlformats.org/drawingml/2006/main">
              <a:ext uri="{FF2B5EF4-FFF2-40B4-BE49-F238E27FC236}">
                <a16:creationId xmlns:a16="http://schemas.microsoft.com/office/drawing/2014/main" id="{02973ED1-6D1F-4568-94D6-BC98DB3024A8}"/>
              </a:ext>
            </a:extLst>
          </p:cNvPr>
          <p:cNvGraphicFramePr/>
          <p:nvPr/>
        </p:nvGraphicFramePr>
        <p:xfrm>
          <a:off xmlns:a="http://schemas.openxmlformats.org/drawingml/2006/main" x="6286500" y="222885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323e3086683649fc"/>
          </a:graphicData>
        </a:graphic>
      </p:graphicFrame>
      <p:sp>
        <p:nvSpPr>
          <p:cNvPr id="16" name="">
            <a:extLst xmlns:a="http://schemas.openxmlformats.org/drawingml/2006/main">
              <a:ext uri="{FF2B5EF4-FFF2-40B4-BE49-F238E27FC236}">
                <a16:creationId xmlns:a16="http://schemas.microsoft.com/office/drawing/2014/main" id="{C6C69265-1950-4439-884F-279150163BDD}"/>
              </a:ext>
            </a:extLst>
          </p:cNvPr>
          <p:cNvSpPr>
            <a:spLocks xmlns:a="http://schemas.openxmlformats.org/drawingml/2006/main" noGrp="1"/>
          </p:cNvSpPr>
          <p:nvPr/>
        </p:nvSpPr>
        <p:spPr>
          <a:xfrm xmlns:a="http://schemas.openxmlformats.org/drawingml/2006/main">
            <a:off x="6810375" y="374332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7" name="">
            <a:extLst xmlns:a="http://schemas.openxmlformats.org/drawingml/2006/main">
              <a:ext uri="{FF2B5EF4-FFF2-40B4-BE49-F238E27FC236}">
                <a16:creationId xmlns:a16="http://schemas.microsoft.com/office/drawing/2014/main" id="{582DB053-3C2F-4156-A25C-322D3CA82C76}"/>
              </a:ext>
            </a:extLst>
          </p:cNvPr>
          <p:cNvSpPr>
            <a:spLocks xmlns:a="http://schemas.openxmlformats.org/drawingml/2006/main" noGrp="1"/>
          </p:cNvSpPr>
          <p:nvPr/>
        </p:nvSpPr>
        <p:spPr>
          <a:xfrm xmlns:a="http://schemas.openxmlformats.org/drawingml/2006/main">
            <a:off x="11096625" y="374332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8" name="">
            <a:extLst xmlns:a="http://schemas.openxmlformats.org/drawingml/2006/main">
              <a:ext uri="{FF2B5EF4-FFF2-40B4-BE49-F238E27FC236}">
                <a16:creationId xmlns:a16="http://schemas.microsoft.com/office/drawing/2014/main" id="{19810F85-C5CB-4D27-B376-72B478429551}"/>
              </a:ext>
            </a:extLst>
          </p:cNvPr>
          <p:cNvSpPr>
            <a:spLocks xmlns:a="http://schemas.openxmlformats.org/drawingml/2006/main" noGrp="1"/>
          </p:cNvSpPr>
          <p:nvPr/>
        </p:nvSpPr>
        <p:spPr>
          <a:xfrm xmlns:a="http://schemas.openxmlformats.org/drawingml/2006/main">
            <a:off x="6534150" y="41052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457985"/>
                </a:solidFill>
                <a:latin typeface="Ubuntu Condensed"/>
                <a:ea typeface="Ubuntu Condensed"/>
                <a:cs typeface="Ubuntu Condensed"/>
              </a:defRPr>
            </a:defPPr>
          </a:lstStyle>
          <a:p xmlns:a="http://schemas.openxmlformats.org/drawingml/2006/main">
            <a:pPr>
              <a:defRPr sz="2175">
                <a:solidFill>
                  <a:srgbClr val="457985"/>
                </a:solidFill>
                <a:latin typeface="Ubuntu Condensed"/>
                <a:ea typeface="Ubuntu Condensed"/>
                <a:cs typeface="Ubuntu Condensed"/>
              </a:defRPr>
            </a:pPr>
            <a:r>
              <a:rPr sz="2175">
                <a:solidFill>
                  <a:srgbClr val="457985"/>
                </a:solidFill>
                <a:latin typeface="Ubuntu Condensed"/>
                <a:ea typeface="Ubuntu Condensed"/>
                <a:cs typeface="Ubuntu Condensed"/>
              </a:rPr>
              <a:t>Then click India</a:t>
            </a:r>
          </a:p>
        </p:txBody>
      </p:sp>
      <p:graphicFrame>
        <p:nvGraphicFramePr>
          <p:cNvPr id="19" name="Chart">
            <a:extLst xmlns:a="http://schemas.openxmlformats.org/drawingml/2006/main">
              <a:ext uri="{FF2B5EF4-FFF2-40B4-BE49-F238E27FC236}">
                <a16:creationId xmlns:a16="http://schemas.microsoft.com/office/drawing/2014/main" id="{7DB2FE0A-22F9-46D3-85A3-08A6C3866998}"/>
              </a:ext>
            </a:extLst>
          </p:cNvPr>
          <p:cNvGraphicFramePr/>
          <p:nvPr/>
        </p:nvGraphicFramePr>
        <p:xfrm>
          <a:off xmlns:a="http://schemas.openxmlformats.org/drawingml/2006/main" x="6286500" y="457200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2d21bf95a465423e"/>
          </a:graphicData>
        </a:graphic>
      </p:graphicFrame>
      <p:sp>
        <p:nvSpPr>
          <p:cNvPr id="20" name="">
            <a:extLst xmlns:a="http://schemas.openxmlformats.org/drawingml/2006/main">
              <a:ext uri="{FF2B5EF4-FFF2-40B4-BE49-F238E27FC236}">
                <a16:creationId xmlns:a16="http://schemas.microsoft.com/office/drawing/2014/main" id="{954A6D2C-A7A0-48A8-AACB-0F4D71C39B87}"/>
              </a:ext>
            </a:extLst>
          </p:cNvPr>
          <p:cNvSpPr>
            <a:spLocks xmlns:a="http://schemas.openxmlformats.org/drawingml/2006/main" noGrp="1"/>
          </p:cNvSpPr>
          <p:nvPr/>
        </p:nvSpPr>
        <p:spPr>
          <a:xfrm xmlns:a="http://schemas.openxmlformats.org/drawingml/2006/main">
            <a:off x="6810375" y="6086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21" name="">
            <a:extLst xmlns:a="http://schemas.openxmlformats.org/drawingml/2006/main">
              <a:ext uri="{FF2B5EF4-FFF2-40B4-BE49-F238E27FC236}">
                <a16:creationId xmlns:a16="http://schemas.microsoft.com/office/drawing/2014/main" id="{CE2B6FDD-CD1B-4885-9AB0-F0A417A59D50}"/>
              </a:ext>
            </a:extLst>
          </p:cNvPr>
          <p:cNvSpPr>
            <a:spLocks xmlns:a="http://schemas.openxmlformats.org/drawingml/2006/main" noGrp="1"/>
          </p:cNvSpPr>
          <p:nvPr/>
        </p:nvSpPr>
        <p:spPr>
          <a:xfrm xmlns:a="http://schemas.openxmlformats.org/drawingml/2006/main">
            <a:off x="11096625" y="60864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22" name="">
            <a:extLst xmlns:a="http://schemas.openxmlformats.org/drawingml/2006/main">
              <a:ext uri="{FF2B5EF4-FFF2-40B4-BE49-F238E27FC236}">
                <a16:creationId xmlns:a16="http://schemas.microsoft.com/office/drawing/2014/main" id="{A54AFC8A-031E-449A-89B9-B53DEC00B64B}"/>
              </a:ext>
            </a:extLst>
          </p:cNvPr>
          <p:cNvSpPr>
            <a:spLocks xmlns:a="http://schemas.openxmlformats.org/drawingml/2006/main" noGrp="1"/>
          </p:cNvSpPr>
          <p:nvPr/>
        </p:nvSpPr>
        <p:spPr>
          <a:xfrm xmlns:a="http://schemas.openxmlformats.org/drawingml/2006/main">
            <a:off x="6534150" y="64865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a:solidFill>
                  <a:srgbClr val="81796F"/>
                </a:solidFill>
                <a:latin typeface="Ubuntu Condensed"/>
                <a:ea typeface="Ubuntu Condensed"/>
                <a:cs typeface="Ubuntu Condensed"/>
              </a:defRPr>
            </a:defPPr>
          </a:lstStyle>
          <a:p xmlns:a="http://schemas.openxmlformats.org/drawingml/2006/main">
            <a:pPr>
              <a:defRPr sz="1500">
                <a:solidFill>
                  <a:srgbClr val="81796F"/>
                </a:solidFill>
                <a:latin typeface="Ubuntu Condensed"/>
                <a:ea typeface="Ubuntu Condensed"/>
                <a:cs typeface="Ubuntu Condensed"/>
              </a:defRPr>
            </a:pPr>
            <a:r>
              <a:rPr sz="1500">
                <a:solidFill>
                  <a:srgbClr val="81796F"/>
                </a:solidFill>
                <a:latin typeface="Ubuntu Condensed"/>
                <a:ea typeface="Ubuntu Condensed"/>
                <a:cs typeface="Ubuntu Condensed"/>
              </a:rPr>
              <a:t>Life expectancy, 1960–2020</a:t>
            </a:r>
          </a:p>
        </p:txBody>
      </p:sp>
    </p:spTree>
    <p:extLst>
      <p:ext uri="{BB962C8B-B14F-4D97-AF65-F5344CB8AC3E}">
        <p14:creationId xmlns:p14="http://schemas.microsoft.com/office/powerpoint/2010/main" val="19474809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2026-10-15T14:48:22.1430000Z</dcterms:created>
  <dcterms:modified xsi:type="dcterms:W3CDTF">2026-10-15T14:48:22.1430000Z</dcterms:modified>
</coreProperties>
</file>