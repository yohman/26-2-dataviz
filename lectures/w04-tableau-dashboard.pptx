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6.xml" ContentType="application/vnd.openxmlformats-officedocument.drawingml.chart+xml"/>
  <Override PartName="/ppt/notesSlides/notesSlide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2ad0355beca4f2e" /><Relationship Type="http://schemas.openxmlformats.org/officeDocument/2006/relationships/extended-properties" Target="/docProps/app.xml" Id="R5b505cff36824807" /><Relationship Type="http://schemas.openxmlformats.org/officeDocument/2006/relationships/officeDocument" Target="/ppt/presentation.xml" Id="Rf9507438bc7c496c" /></Relationships>
</file>

<file path=ppt/presentation.xml><?xml version="1.0" encoding="utf-8"?>
<p:presentation xmlns:p="http://schemas.openxmlformats.org/presentationml/2006/main">
  <p:sldMasterIdLst>
    <p:sldMasterId xmlns:r="http://schemas.openxmlformats.org/officeDocument/2006/relationships" id="2147483648" r:id="R974146abb5b94347"/>
  </p:sldMasterIdLst>
  <p:notesMasterIdLst>
    <p:notesMasterId xmlns:r="http://schemas.openxmlformats.org/officeDocument/2006/relationships" r:id="R0b24f63238a145f2"/>
  </p:notesMasterIdLst>
  <p:sldIdLst>
    <p:sldId xmlns:r="http://schemas.openxmlformats.org/officeDocument/2006/relationships" id="256" r:id="Ra3f4c2a980b44141"/>
    <p:sldId xmlns:r="http://schemas.openxmlformats.org/officeDocument/2006/relationships" id="257" r:id="R13ffc787e0da4657"/>
    <p:sldId xmlns:r="http://schemas.openxmlformats.org/officeDocument/2006/relationships" id="258" r:id="Ree8287eded2c46ba"/>
    <p:sldId xmlns:r="http://schemas.openxmlformats.org/officeDocument/2006/relationships" id="259" r:id="R05bf4635bece493b"/>
    <p:sldId xmlns:r="http://schemas.openxmlformats.org/officeDocument/2006/relationships" id="260" r:id="R181eaf8d46754c5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c37f95beeb644ca" /><Relationship Type="http://schemas.openxmlformats.org/officeDocument/2006/relationships/slideMaster" Target="/ppt/slideMasters/slideMaster1.xml" Id="R974146abb5b94347" /><Relationship Type="http://schemas.openxmlformats.org/officeDocument/2006/relationships/notesMaster" Target="/ppt/notesMasters/notesMaster1.xml" Id="R0b24f63238a145f2" /><Relationship Type="http://schemas.openxmlformats.org/officeDocument/2006/relationships/presProps" Target="/ppt/presProps.xml" Id="Re6c1d295d91a4bba" /><Relationship Type="http://schemas.openxmlformats.org/officeDocument/2006/relationships/tableStyles" Target="/ppt/tableStyles.xml" Id="R7f54bf023c8a4edb" /><Relationship Type="http://schemas.openxmlformats.org/officeDocument/2006/relationships/slide" Target="/ppt/slides/slide1.xml" Id="Ra3f4c2a980b44141" /><Relationship Type="http://schemas.openxmlformats.org/officeDocument/2006/relationships/slide" Target="/ppt/slides/slide2.xml" Id="R13ffc787e0da4657" /><Relationship Type="http://schemas.openxmlformats.org/officeDocument/2006/relationships/slide" Target="/ppt/slides/slide3.xml" Id="Ree8287eded2c46ba" /><Relationship Type="http://schemas.openxmlformats.org/officeDocument/2006/relationships/slide" Target="/ppt/slides/slide4.xml" Id="R05bf4635bece493b" /><Relationship Type="http://schemas.openxmlformats.org/officeDocument/2006/relationships/slide" Target="/ppt/slides/slide5.xml" Id="R181eaf8d46754c5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6494d8d736245a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50eb158387d438f" /><Relationship Type="http://schemas.openxmlformats.org/officeDocument/2006/relationships/notesMaster" Target="/ppt/notesMasters/notesMaster1.xml" Id="R2b01eb583ad94cb6" /></Relationships>
</file>

<file path=ppt/notesSlides/_rels/notesSlide2.xml.rels>&#65279;<?xml version="1.0" encoding="utf-8"?><Relationships xmlns="http://schemas.openxmlformats.org/package/2006/relationships"><Relationship Type="http://schemas.openxmlformats.org/officeDocument/2006/relationships/slide" Target="/ppt/slides/slide2.xml" Id="Rf9917c24cec54d8b" /><Relationship Type="http://schemas.openxmlformats.org/officeDocument/2006/relationships/notesMaster" Target="/ppt/notesMasters/notesMaster1.xml" Id="R72e9c12fe1e24946" /></Relationships>
</file>

<file path=ppt/notesSlides/_rels/notesSlide3.xml.rels>&#65279;<?xml version="1.0" encoding="utf-8"?><Relationships xmlns="http://schemas.openxmlformats.org/package/2006/relationships"><Relationship Type="http://schemas.openxmlformats.org/officeDocument/2006/relationships/slide" Target="/ppt/slides/slide3.xml" Id="R7f8f6d5d27c841fa" /><Relationship Type="http://schemas.openxmlformats.org/officeDocument/2006/relationships/notesMaster" Target="/ppt/notesMasters/notesMaster1.xml" Id="Rf6d682911a874d1e"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e1279cb08742f6" /><Relationship Type="http://schemas.openxmlformats.org/officeDocument/2006/relationships/notesMaster" Target="/ppt/notesMasters/notesMaster1.xml" Id="R5c51f39a5d714ff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a47799b9314605" /><Relationship Type="http://schemas.openxmlformats.org/officeDocument/2006/relationships/notesMaster" Target="/ppt/notesMasters/notesMaster1.xml" Id="R192cfa561b04467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dashboard example combines three worksheets from the same hans.csv data source. World is a 2020 snapshot. Life History and GDP History retain 1960-2020. Japan is selected in this illustrated state. Teach selecting India next, then resetting. This is a dashboard design example, not a screenshot of Tableau or a currently interactive slide.</a:t>
            </a:r>
          </a:p>
          <a:p xmlns:a="http://schemas.openxmlformats.org/drawingml/2006/main">
            <a:r>
              <a:t/>
            </a:r>
          </a:p>
          <a:p xmlns:a="http://schemas.openxmlformats.org/drawingml/2006/main">
            <a:r>
              <a:t>Sources: local teaching dataset data/gapminder/hans.csv. Snapshot examples use 2020, histories 1960-2020. The file includes future projections through 2100; do not present these examples as current data. GDP is the field name; its currency/per-capita definition is not established by the supplied CSV. Do not relabel as total GDP or per-capita dollars without verifying metadata. Some Population and region values are missing, so these examples use equal-sized circles and retain unknown regions. Filter out nonpositive GDP and Life Expectancy for the world sheet. Native scatter example uses a linear GDP axis; optionally switch the axis to logarithmic in Tableau.</a:t>
            </a:r>
          </a:p>
          <a:p xmlns:a="http://schemas.openxmlformats.org/drawingml/2006/main">
            <a:r>
              <a:t>https://help.tableau.com/current/pro/desktop/en-us/dashboards_create.htm</a:t>
            </a:r>
          </a:p>
          <a:p xmlns:a="http://schemas.openxmlformats.org/drawingml/2006/main">
            <a:r>
              <a:t>https://help.tableau.com/current/pro/desktop/en-us/filtering_global.htm</a:t>
            </a:r>
          </a:p>
          <a:p xmlns:a="http://schemas.openxmlformats.org/drawingml/2006/main">
            <a:r>
              <a:t>https://help.tableau.com/current/pro/desktop/en-us/actions_filter.htm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Rename worksheets World, Life History and GDP History. World: AVG(GDP) Columns, AVG(Life Expectancy) Rows, Country Detail, region Color, Circle marks, Year discrete filter 2020. Do not put Year on Pages for this dashboard exercise. Use equal circle sizes because Population has missing values. Life History: Year continuous number (convert numeric Year to Dimension first if needed), AVG(Life Expectancy), Country Color, Line marks; restrict years 1960-2020. GDP History: duplicate Life History and replace Life Expectancy with AVG(GDP). Country Color keeps countries separate before the action selects one. The small history previews show Japan after the final dashboard action. Never SUM life expectancy or GDP across years.</a:t>
            </a:r>
          </a:p>
          <a:p xmlns:a="http://schemas.openxmlformats.org/drawingml/2006/main">
            <a:r>
              <a:t/>
            </a:r>
          </a:p>
          <a:p xmlns:a="http://schemas.openxmlformats.org/drawingml/2006/main">
            <a:r>
              <a:t>Sources: local teaching dataset data/gapminder/hans.csv. Snapshot examples use 2020, histories 1960-2020. The file includes future projections through 2100; do not present these examples as current data. GDP is the field name; its currency/per-capita definition is not established by the supplied CSV. Do not relabel as total GDP or per-capita dollars without verifying metadata. Some Population and region values are missing, so these examples use equal-sized circles and retain unknown regions. Filter out nonpositive GDP and Life Expectancy for the world sheet. Native scatter example uses a linear GDP axis; optionally switch the axis to logarithmic in Tableau.</a:t>
            </a:r>
          </a:p>
          <a:p xmlns:a="http://schemas.openxmlformats.org/drawingml/2006/main">
            <a:r>
              <a:t>https://help.tableau.com/current/pro/desktop/en-us/dashboards_create.htm</a:t>
            </a:r>
          </a:p>
          <a:p xmlns:a="http://schemas.openxmlformats.org/drawingml/2006/main">
            <a:r>
              <a:t>https://help.tableau.com/current/pro/desktop/en-us/filtering_global.htm</a:t>
            </a:r>
          </a:p>
          <a:p xmlns:a="http://schemas.openxmlformats.org/drawingml/2006/main">
            <a:r>
              <a:t>https://help.tableau.com/current/pro/desktop/en-us/actions_filter.htm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Dashboard &gt; New Dashboard. Set a fixed size of 1200 by 800 as a beginner-friendly desktop example, not a universal requirement. Use Tiled layout. Add a Horizontal layout container. Place World on the left and a Vertical container on the right. Add Life History and GDP History to the Vertical container. Give World about two thirds of the width. Fit each sheet to its available area and adjust padding; avoid shrinking labels to fit. Add a shared title and one region legend. Optional: show World Year filter as a single-value control, and apply it only to World using Apply to Worksheets &gt; Selected Worksheets. Do not apply the World Year selection to histories. Keep historical range filters local to the history sheets.</a:t>
            </a:r>
          </a:p>
          <a:p xmlns:a="http://schemas.openxmlformats.org/drawingml/2006/main">
            <a:r>
              <a:t/>
            </a:r>
          </a:p>
          <a:p xmlns:a="http://schemas.openxmlformats.org/drawingml/2006/main">
            <a:r>
              <a:t>Sources: local teaching dataset data/gapminder/hans.csv. Snapshot examples use 2020, histories 1960-2020. The file includes future projections through 2100; do not present these examples as current data. GDP is the field name; its currency/per-capita definition is not established by the supplied CSV. Do not relabel as total GDP or per-capita dollars without verifying metadata. Some Population and region values are missing, so these examples use equal-sized circles and retain unknown regions. Filter out nonpositive GDP and Life Expectancy for the world sheet. Native scatter example uses a linear GDP axis; optionally switch the axis to logarithmic in Tableau.</a:t>
            </a:r>
          </a:p>
          <a:p xmlns:a="http://schemas.openxmlformats.org/drawingml/2006/main">
            <a:r>
              <a:t>https://help.tableau.com/current/pro/desktop/en-us/dashboards_create.htm</a:t>
            </a:r>
          </a:p>
          <a:p xmlns:a="http://schemas.openxmlformats.org/drawingml/2006/main">
            <a:r>
              <a:t>https://help.tableau.com/current/pro/desktop/en-us/filtering_global.htm</a:t>
            </a:r>
          </a:p>
          <a:p xmlns:a="http://schemas.openxmlformats.org/drawingml/2006/main">
            <a:r>
              <a:t>https://help.tableau.com/current/pro/desktop/en-us/actions_filter.htm</a:t>
            </a:r>
          </a:p>
          <a:p xmlns:a="http://schemas.openxmlformats.org/drawingml/2006/main">
            <a:r>
              <a:t>Sizing: build in Default, with Device Preview off. In Dashboard pane expand Size, choose Fixed size and Custom 1200x800. Desktop device preview does not itself enlarge the canvas. White area is the dashboard canvas; gray is outside it. Automatic is an optional alternative for filling the available window, preferably with Tiled layout.</a:t>
            </a:r>
          </a:p>
          <a:p xmlns:a="http://schemas.openxmlformats.org/drawingml/2006/main">
            <a:r>
              <a:t>https://help.tableau.com/current/pro/desktop/en-us/dashboards_organize_floatingandtiled.htm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the dashboard, select the World sheet to reveal its toolbar. Click the funnel icon, Use as Filter. The sheet menu also offers Use as Filter. Click Japan or India in the chart to filter the other sheets. Tableau creates a generated Filter action. In Dashboard &gt; Actions, edit that existing generated action rather than adding a second one. Confirm source World, Run on Select, target sheets Life History and GDP History. Under Target Filters choose Selected Fields and map Country to Country only. Do not pass Year=2020 to the histories. Set clearing selection to Show all values. Test that Japan and India each show 1960-2020, then click empty space to reset. The two right-hand charts illustrate successive country selections, not two different target sheets.</a:t>
            </a:r>
          </a:p>
          <a:p xmlns:a="http://schemas.openxmlformats.org/drawingml/2006/main">
            <a:r>
              <a:t>https://help.tableau.com/current/pro/desktop/en-us/actions_filter.htm</a:t>
            </a:r>
          </a:p>
          <a:p xmlns:a="http://schemas.openxmlformats.org/drawingml/2006/main">
            <a:r>
              <a:t/>
            </a:r>
          </a:p>
          <a:p xmlns:a="http://schemas.openxmlformats.org/drawingml/2006/main">
            <a:r>
              <a:t>Sources: local teaching dataset data/gapminder/hans.csv. Snapshot examples use 2020, histories 1960-2020. The file includes future projections through 2100; do not present these examples as current data. GDP is the field name; its currency/per-capita definition is not established by the supplied CSV. Do not relabel as total GDP or per-capita dollars without verifying metadata. Some Population and region values are missing, so these examples use equal-sized circles and retain unknown regions. Filter out nonpositive GDP and Life Expectancy for the world sheet. Native scatter example uses a linear GDP axis; optionally switch the axis to logarithmic in Tableau.</a:t>
            </a:r>
          </a:p>
          <a:p xmlns:a="http://schemas.openxmlformats.org/drawingml/2006/main">
            <a:r>
              <a:t>https://help.tableau.com/current/pro/desktop/en-us/dashboards_create.htm</a:t>
            </a:r>
          </a:p>
          <a:p xmlns:a="http://schemas.openxmlformats.org/drawingml/2006/main">
            <a:r>
              <a:t>https://help.tableau.com/current/pro/desktop/en-us/filtering_global.htm</a:t>
            </a:r>
          </a:p>
          <a:p xmlns:a="http://schemas.openxmlformats.org/drawingml/2006/main">
            <a:r>
              <a:t>https://help.tableau.com/current/pro/desktop/en-us/actions_filter.htm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Create a Highlight action named Highlight country. Source sheet World, Run action on Select. Target sheet World for a scatterplot highlight. Under Target Highlighting choose Selected Fields and check Country only. Country must be part of each target view. If you want to keep all history lines visible but dim the other countries, add Life History and GDP History as targets and disable the separate Filter action on those sheets. If you want only the selected country history, keep the Country filter action from the previous slide and highlight only World. Click Japan, then India. Click empty space to clear. Highlight actions preserve context by dimming other marks; filter actions remove other countries from targets.</a:t>
            </a:r>
          </a:p>
          <a:p xmlns:a="http://schemas.openxmlformats.org/drawingml/2006/main">
            <a:r>
              <a:t>https://help.tableau.com/current/pro/desktop/en-us/actions_highlight_advanced.htm</a:t>
            </a:r>
          </a:p>
          <a:p xmlns:a="http://schemas.openxmlformats.org/drawingml/2006/main">
            <a:r>
              <a:t/>
            </a:r>
          </a:p>
          <a:p xmlns:a="http://schemas.openxmlformats.org/drawingml/2006/main">
            <a:r>
              <a:t>Sources: local teaching dataset data/gapminder/hans.csv. Snapshot examples use 2020, histories 1960-2020. The file includes future projections through 2100; do not present these examples as current data. GDP is the field name; its currency/per-capita definition is not established by the supplied CSV. Do not relabel as total GDP or per-capita dollars without verifying metadata. Some Population and region values are missing, so these examples use equal-sized circles and retain unknown regions. Filter out nonpositive GDP and Life Expectancy for the world sheet. Native scatter example uses a linear GDP axis; optionally switch the axis to logarithmic in Tableau.</a:t>
            </a:r>
          </a:p>
          <a:p xmlns:a="http://schemas.openxmlformats.org/drawingml/2006/main">
            <a:r>
              <a:t>https://help.tableau.com/current/pro/desktop/en-us/dashboards_create.htm</a:t>
            </a:r>
          </a:p>
          <a:p xmlns:a="http://schemas.openxmlformats.org/drawingml/2006/main">
            <a:r>
              <a:t>https://help.tableau.com/current/pro/desktop/en-us/filtering_global.htm</a:t>
            </a:r>
          </a:p>
          <a:p xmlns:a="http://schemas.openxmlformats.org/drawingml/2006/main">
            <a:r>
              <a:t>https://help.tableau.com/current/pro/desktop/en-us/actions_filter.htm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34fdc221f1d4c6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387af189af64b0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0937894b2ea4f9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90db75c726740a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64631ac7b504c7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d41056d15da4d8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4D5C3A6-BDD0-4F20-A376-AECF000603C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B4AEBE0-A2C2-4147-9144-C4E2323F50E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E670F62-3D9C-4712-BC25-044568A3CB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74B51F-E685-47DC-A9F1-B1F88F539C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44503B7-0BB0-43F3-B8A4-3DF562B3854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C252B36-77FF-4F5B-B463-6E628E1796C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236022-97E1-4C9F-9394-212DA04FCB0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B0723CA-70EA-40DF-A969-813A390FAF5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1175EE1-8EEB-4831-97C0-23845FFCB1C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7C6FD5D-EA2F-4C4A-B235-D410B87D4CF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1311341eabf454c" /><Relationship Type="http://schemas.openxmlformats.org/officeDocument/2006/relationships/slideLayout" Target="/ppt/slideLayouts/slideLayout1.xml" Id="Reab03b29f7924fd7" /><Relationship Type="http://schemas.openxmlformats.org/officeDocument/2006/relationships/slideLayout" Target="/ppt/slideLayouts/slideLayout2.xml" Id="Rdaeafe35fd2d47a3" /><Relationship Type="http://schemas.openxmlformats.org/officeDocument/2006/relationships/slideLayout" Target="/ppt/slideLayouts/slideLayout3.xml" Id="Rd6b04119da344616" /><Relationship Type="http://schemas.openxmlformats.org/officeDocument/2006/relationships/slideLayout" Target="/ppt/slideLayouts/slideLayout4.xml" Id="R461c56dec2b740db" /><Relationship Type="http://schemas.openxmlformats.org/officeDocument/2006/relationships/slideLayout" Target="/ppt/slideLayouts/slideLayout5.xml" Id="R34b24e82bdda4861" /><Relationship Type="http://schemas.openxmlformats.org/officeDocument/2006/relationships/slideLayout" Target="/ppt/slideLayouts/slideLayout6.xml" Id="R8ce254d3aed548b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ab03b29f7924fd7"/>
    <p:sldLayoutId xmlns:r="http://schemas.openxmlformats.org/officeDocument/2006/relationships" id="2147483650" r:id="Rdaeafe35fd2d47a3"/>
    <p:sldLayoutId xmlns:r="http://schemas.openxmlformats.org/officeDocument/2006/relationships" id="2147483651" r:id="Rd6b04119da344616"/>
    <p:sldLayoutId xmlns:r="http://schemas.openxmlformats.org/officeDocument/2006/relationships" id="2147483652" r:id="R461c56dec2b740db"/>
    <p:sldLayoutId xmlns:r="http://schemas.openxmlformats.org/officeDocument/2006/relationships" id="2147483653" r:id="R34b24e82bdda4861"/>
    <p:sldLayoutId xmlns:r="http://schemas.openxmlformats.org/officeDocument/2006/relationships" id="2147483654" r:id="R8ce254d3aed548b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84762b3d49c40a5" /><Relationship Type="http://schemas.openxmlformats.org/officeDocument/2006/relationships/chart" Target="/ppt/slides/charts/chart1.xml" Id="R8589705092bf4b46" /><Relationship Type="http://schemas.openxmlformats.org/officeDocument/2006/relationships/chart" Target="/ppt/slides/charts/chart2.xml" Id="Ra43629a6f380478f" /><Relationship Type="http://schemas.openxmlformats.org/officeDocument/2006/relationships/chart" Target="/ppt/slides/charts/chart3.xml" Id="R0a3f7415c12e4ffd" /><Relationship Type="http://schemas.openxmlformats.org/officeDocument/2006/relationships/notesSlide" Target="/ppt/notesSlides/notesSlide1.xml" Id="R3c6183abdae044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5f3b857d6a24263" /><Relationship Type="http://schemas.openxmlformats.org/officeDocument/2006/relationships/notesSlide" Target="/ppt/notesSlides/notesSlide2.xml" Id="Rfba68c3c336c486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a452ce7a32a4889" /><Relationship Type="http://schemas.openxmlformats.org/officeDocument/2006/relationships/notesSlide" Target="/ppt/notesSlides/notesSlide3.xml" Id="R1624071e87e4431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3db5d2e8f084b18" /><Relationship Type="http://schemas.openxmlformats.org/officeDocument/2006/relationships/chart" Target="/ppt/slides/charts/chart4.xml" Id="Rfd0917d170854f8e" /><Relationship Type="http://schemas.openxmlformats.org/officeDocument/2006/relationships/chart" Target="/ppt/slides/charts/chart5.xml" Id="R5f07b49da28840f4" /><Relationship Type="http://schemas.openxmlformats.org/officeDocument/2006/relationships/notesSlide" Target="/ppt/notesSlides/notesSlide4.xml" Id="Rcbfb0e37fdb2493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8fa569c9aff4cf3" /><Relationship Type="http://schemas.openxmlformats.org/officeDocument/2006/relationships/chart" Target="/ppt/slides/charts/chart6.xml" Id="R6a5fb35618644d0d" /><Relationship Type="http://schemas.openxmlformats.org/officeDocument/2006/relationships/notesSlide" Target="/ppt/notesSlides/notesSlide5.xml" Id="R996b51b356a84bb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plotArea>
      <c:scatterChart>
        <c:scatterStyle val="marker"/>
        <c:varyColors val="0"/>
        <c:ser>
          <c:idx val="0"/>
          <c:order val="0"/>
          <c:tx>
            <c:v>Africa</c:v>
          </c:tx>
          <c:spPr>
            <a:ln xmlns:a="http://schemas.openxmlformats.org/drawingml/2006/main" w="0">
              <a:noFill/>
            </a:ln>
          </c:spPr>
          <c:marker>
            <c:symbol val="circle"/>
            <c:size val="7"/>
            <c:spPr>
              <a:solidFill xmlns:a="http://schemas.openxmlformats.org/drawingml/2006/main">
                <a:srgbClr val="94A480"/>
              </a:solidFill>
            </c:spPr>
          </c:marker>
          <c:xVal>
            <c:numRef>
              <c:f>'Chart Data'!$A$2:$A$53</c:f>
              <c:numCache>
                <c:formatCode>General</c:formatCode>
                <c:ptCount val="52"/>
                <c:pt idx="0">
                  <c:v>10800</c:v>
                </c:pt>
                <c:pt idx="1">
                  <c:v>6030</c:v>
                </c:pt>
                <c:pt idx="2">
                  <c:v>3190</c:v>
                </c:pt>
                <c:pt idx="3">
                  <c:v>13500</c:v>
                </c:pt>
                <c:pt idx="4">
                  <c:v>2090</c:v>
                </c:pt>
                <c:pt idx="5">
                  <c:v>711</c:v>
                </c:pt>
                <c:pt idx="6">
                  <c:v>3680</c:v>
                </c:pt>
                <c:pt idx="7">
                  <c:v>847</c:v>
                </c:pt>
                <c:pt idx="8">
                  <c:v>1490</c:v>
                </c:pt>
                <c:pt idx="9">
                  <c:v>3220</c:v>
                </c:pt>
                <c:pt idx="10">
                  <c:v>1040</c:v>
                </c:pt>
                <c:pt idx="11">
                  <c:v>5090</c:v>
                </c:pt>
                <c:pt idx="12">
                  <c:v>4770</c:v>
                </c:pt>
                <c:pt idx="13">
                  <c:v>12000</c:v>
                </c:pt>
                <c:pt idx="14">
                  <c:v>14900</c:v>
                </c:pt>
                <c:pt idx="15">
                  <c:v>1820</c:v>
                </c:pt>
                <c:pt idx="16">
                  <c:v>8080</c:v>
                </c:pt>
                <c:pt idx="17">
                  <c:v>2250</c:v>
                </c:pt>
                <c:pt idx="18">
                  <c:v>13900</c:v>
                </c:pt>
                <c:pt idx="19">
                  <c:v>2020</c:v>
                </c:pt>
                <c:pt idx="20">
                  <c:v>5280</c:v>
                </c:pt>
                <c:pt idx="21">
                  <c:v>2600</c:v>
                </c:pt>
                <c:pt idx="22">
                  <c:v>1760</c:v>
                </c:pt>
                <c:pt idx="23">
                  <c:v>4500</c:v>
                </c:pt>
                <c:pt idx="24">
                  <c:v>2280</c:v>
                </c:pt>
                <c:pt idx="25">
                  <c:v>1380</c:v>
                </c:pt>
                <c:pt idx="26">
                  <c:v>15600</c:v>
                </c:pt>
                <c:pt idx="27">
                  <c:v>1440</c:v>
                </c:pt>
                <c:pt idx="28">
                  <c:v>1490</c:v>
                </c:pt>
                <c:pt idx="29">
                  <c:v>2120</c:v>
                </c:pt>
                <c:pt idx="30">
                  <c:v>5400</c:v>
                </c:pt>
                <c:pt idx="31">
                  <c:v>20200</c:v>
                </c:pt>
                <c:pt idx="32">
                  <c:v>7540</c:v>
                </c:pt>
                <c:pt idx="33">
                  <c:v>1230</c:v>
                </c:pt>
                <c:pt idx="34">
                  <c:v>9030</c:v>
                </c:pt>
                <c:pt idx="35">
                  <c:v>1210</c:v>
                </c:pt>
                <c:pt idx="36">
                  <c:v>4870</c:v>
                </c:pt>
                <c:pt idx="37">
                  <c:v>2070</c:v>
                </c:pt>
                <c:pt idx="38">
                  <c:v>4060</c:v>
                </c:pt>
                <c:pt idx="39">
                  <c:v>3380</c:v>
                </c:pt>
                <c:pt idx="40">
                  <c:v>27700</c:v>
                </c:pt>
                <c:pt idx="41">
                  <c:v>1590</c:v>
                </c:pt>
                <c:pt idx="42">
                  <c:v>1140</c:v>
                </c:pt>
                <c:pt idx="43">
                  <c:v>12800</c:v>
                </c:pt>
                <c:pt idx="44">
                  <c:v>387</c:v>
                </c:pt>
                <c:pt idx="45">
                  <c:v>3870</c:v>
                </c:pt>
                <c:pt idx="46">
                  <c:v>2550</c:v>
                </c:pt>
                <c:pt idx="47">
                  <c:v>2060</c:v>
                </c:pt>
                <c:pt idx="48">
                  <c:v>10000</c:v>
                </c:pt>
                <c:pt idx="49">
                  <c:v>2240</c:v>
                </c:pt>
                <c:pt idx="50">
                  <c:v>3130</c:v>
                </c:pt>
                <c:pt idx="51">
                  <c:v>1990</c:v>
                </c:pt>
              </c:numCache>
            </c:numRef>
          </c:xVal>
          <c:yVal>
            <c:numRef>
              <c:f>'Chart Data'!$B$2:$B$53</c:f>
              <c:numCache>
                <c:formatCode>General</c:formatCode>
                <c:ptCount val="52"/>
                <c:pt idx="0">
                  <c:v>74</c:v>
                </c:pt>
                <c:pt idx="1">
                  <c:v>64</c:v>
                </c:pt>
                <c:pt idx="2">
                  <c:v>64</c:v>
                </c:pt>
                <c:pt idx="3">
                  <c:v>62</c:v>
                </c:pt>
                <c:pt idx="4">
                  <c:v>61</c:v>
                </c:pt>
                <c:pt idx="5">
                  <c:v>63</c:v>
                </c:pt>
                <c:pt idx="6">
                  <c:v>62</c:v>
                </c:pt>
                <c:pt idx="7">
                  <c:v>52</c:v>
                </c:pt>
                <c:pt idx="8">
                  <c:v>59</c:v>
                </c:pt>
                <c:pt idx="9">
                  <c:v>68</c:v>
                </c:pt>
                <c:pt idx="10">
                  <c:v>64</c:v>
                </c:pt>
                <c:pt idx="11">
                  <c:v>63</c:v>
                </c:pt>
                <c:pt idx="12">
                  <c:v>66</c:v>
                </c:pt>
                <c:pt idx="13">
                  <c:v>70</c:v>
                </c:pt>
                <c:pt idx="14">
                  <c:v>65</c:v>
                </c:pt>
                <c:pt idx="15">
                  <c:v>63</c:v>
                </c:pt>
                <c:pt idx="16">
                  <c:v>57</c:v>
                </c:pt>
                <c:pt idx="17">
                  <c:v>68</c:v>
                </c:pt>
                <c:pt idx="18">
                  <c:v>67</c:v>
                </c:pt>
                <c:pt idx="19">
                  <c:v>65</c:v>
                </c:pt>
                <c:pt idx="20">
                  <c:v>65</c:v>
                </c:pt>
                <c:pt idx="21">
                  <c:v>60</c:v>
                </c:pt>
                <c:pt idx="22">
                  <c:v>60</c:v>
                </c:pt>
                <c:pt idx="23">
                  <c:v>66</c:v>
                </c:pt>
                <c:pt idx="24">
                  <c:v>52</c:v>
                </c:pt>
                <c:pt idx="25">
                  <c:v>65</c:v>
                </c:pt>
                <c:pt idx="26">
                  <c:v>75</c:v>
                </c:pt>
                <c:pt idx="27">
                  <c:v>64</c:v>
                </c:pt>
                <c:pt idx="28">
                  <c:v>64</c:v>
                </c:pt>
                <c:pt idx="29">
                  <c:v>60</c:v>
                </c:pt>
                <c:pt idx="30">
                  <c:v>69</c:v>
                </c:pt>
                <c:pt idx="31">
                  <c:v>74</c:v>
                </c:pt>
                <c:pt idx="32">
                  <c:v>73</c:v>
                </c:pt>
                <c:pt idx="33">
                  <c:v>58</c:v>
                </c:pt>
                <c:pt idx="34">
                  <c:v>65</c:v>
                </c:pt>
                <c:pt idx="35">
                  <c:v>61</c:v>
                </c:pt>
                <c:pt idx="36">
                  <c:v>64</c:v>
                </c:pt>
                <c:pt idx="37">
                  <c:v>69</c:v>
                </c:pt>
                <c:pt idx="38">
                  <c:v>70</c:v>
                </c:pt>
                <c:pt idx="39">
                  <c:v>68</c:v>
                </c:pt>
                <c:pt idx="40">
                  <c:v>72</c:v>
                </c:pt>
                <c:pt idx="41">
                  <c:v>61</c:v>
                </c:pt>
                <c:pt idx="42">
                  <c:v>57</c:v>
                </c:pt>
                <c:pt idx="43">
                  <c:v>64</c:v>
                </c:pt>
                <c:pt idx="44">
                  <c:v>63</c:v>
                </c:pt>
                <c:pt idx="45">
                  <c:v>70</c:v>
                </c:pt>
                <c:pt idx="46">
                  <c:v>66</c:v>
                </c:pt>
                <c:pt idx="47">
                  <c:v>65</c:v>
                </c:pt>
                <c:pt idx="48">
                  <c:v>77</c:v>
                </c:pt>
                <c:pt idx="49">
                  <c:v>66</c:v>
                </c:pt>
                <c:pt idx="50">
                  <c:v>62</c:v>
                </c:pt>
                <c:pt idx="51">
                  <c:v>60</c:v>
                </c:pt>
              </c:numCache>
            </c:numRef>
          </c:yVal>
        </c:ser>
        <c:ser>
          <c:idx val="1"/>
          <c:order val="1"/>
          <c:tx>
            <c:v>Americas</c:v>
          </c:tx>
          <c:spPr>
            <a:ln xmlns:a="http://schemas.openxmlformats.org/drawingml/2006/main" w="0">
              <a:noFill/>
            </a:ln>
          </c:spPr>
          <c:marker>
            <c:symbol val="circle"/>
            <c:size val="7"/>
            <c:spPr>
              <a:solidFill xmlns:a="http://schemas.openxmlformats.org/drawingml/2006/main">
                <a:srgbClr val="B59A72"/>
              </a:solidFill>
            </c:spPr>
          </c:marker>
          <c:xVal>
            <c:numRef>
              <c:f>'Chart Data'!$C$2:$C$33</c:f>
              <c:numCache>
                <c:formatCode>General</c:formatCode>
                <c:ptCount val="32"/>
                <c:pt idx="0">
                  <c:v>18500</c:v>
                </c:pt>
                <c:pt idx="1">
                  <c:v>19600</c:v>
                </c:pt>
                <c:pt idx="2">
                  <c:v>26100</c:v>
                </c:pt>
                <c:pt idx="3">
                  <c:v>13900</c:v>
                </c:pt>
                <c:pt idx="4">
                  <c:v>7530</c:v>
                </c:pt>
                <c:pt idx="5">
                  <c:v>14100</c:v>
                </c:pt>
                <c:pt idx="6">
                  <c:v>46100</c:v>
                </c:pt>
                <c:pt idx="7">
                  <c:v>23100</c:v>
                </c:pt>
                <c:pt idx="8">
                  <c:v>13400</c:v>
                </c:pt>
                <c:pt idx="9">
                  <c:v>19700</c:v>
                </c:pt>
                <c:pt idx="10">
                  <c:v>8430</c:v>
                </c:pt>
                <c:pt idx="11">
                  <c:v>10300</c:v>
                </c:pt>
                <c:pt idx="12">
                  <c:v>16800</c:v>
                </c:pt>
                <c:pt idx="13">
                  <c:v>9830</c:v>
                </c:pt>
                <c:pt idx="14">
                  <c:v>8240</c:v>
                </c:pt>
                <c:pt idx="15">
                  <c:v>13200</c:v>
                </c:pt>
                <c:pt idx="16">
                  <c:v>8390</c:v>
                </c:pt>
                <c:pt idx="17">
                  <c:v>18400</c:v>
                </c:pt>
                <c:pt idx="18">
                  <c:v>2970</c:v>
                </c:pt>
                <c:pt idx="19">
                  <c:v>5030</c:v>
                </c:pt>
                <c:pt idx="20">
                  <c:v>9210</c:v>
                </c:pt>
                <c:pt idx="21">
                  <c:v>18200</c:v>
                </c:pt>
                <c:pt idx="22">
                  <c:v>5230</c:v>
                </c:pt>
                <c:pt idx="23">
                  <c:v>26600</c:v>
                </c:pt>
                <c:pt idx="24">
                  <c:v>13300</c:v>
                </c:pt>
                <c:pt idx="25">
                  <c:v>11200</c:v>
                </c:pt>
                <c:pt idx="26">
                  <c:v>11700</c:v>
                </c:pt>
                <c:pt idx="27">
                  <c:v>13700</c:v>
                </c:pt>
                <c:pt idx="28">
                  <c:v>15300</c:v>
                </c:pt>
                <c:pt idx="29">
                  <c:v>23400</c:v>
                </c:pt>
                <c:pt idx="30">
                  <c:v>22000</c:v>
                </c:pt>
                <c:pt idx="31">
                  <c:v>5440</c:v>
                </c:pt>
              </c:numCache>
            </c:numRef>
          </c:xVal>
          <c:yVal>
            <c:numRef>
              <c:f>'Chart Data'!$D$2:$D$33</c:f>
              <c:numCache>
                <c:formatCode>General</c:formatCode>
                <c:ptCount val="32"/>
                <c:pt idx="0">
                  <c:v>76</c:v>
                </c:pt>
                <c:pt idx="1">
                  <c:v>75</c:v>
                </c:pt>
                <c:pt idx="2">
                  <c:v>74</c:v>
                </c:pt>
                <c:pt idx="3">
                  <c:v>76</c:v>
                </c:pt>
                <c:pt idx="4">
                  <c:v>73</c:v>
                </c:pt>
                <c:pt idx="5">
                  <c:v>74</c:v>
                </c:pt>
                <c:pt idx="6">
                  <c:v>81</c:v>
                </c:pt>
                <c:pt idx="7">
                  <c:v>79</c:v>
                </c:pt>
                <c:pt idx="8">
                  <c:v>78</c:v>
                </c:pt>
                <c:pt idx="9">
                  <c:v>79</c:v>
                </c:pt>
                <c:pt idx="10">
                  <c:v>78</c:v>
                </c:pt>
                <c:pt idx="11">
                  <c:v>72</c:v>
                </c:pt>
                <c:pt idx="12">
                  <c:v>72</c:v>
                </c:pt>
                <c:pt idx="13">
                  <c:v>71</c:v>
                </c:pt>
                <c:pt idx="14">
                  <c:v>74</c:v>
                </c:pt>
                <c:pt idx="15">
                  <c:v>73</c:v>
                </c:pt>
                <c:pt idx="16">
                  <c:v>71</c:v>
                </c:pt>
                <c:pt idx="17">
                  <c:v>66</c:v>
                </c:pt>
                <c:pt idx="18">
                  <c:v>63</c:v>
                </c:pt>
                <c:pt idx="19">
                  <c:v>70</c:v>
                </c:pt>
                <c:pt idx="20">
                  <c:v>76</c:v>
                </c:pt>
                <c:pt idx="21">
                  <c:v>71</c:v>
                </c:pt>
                <c:pt idx="22">
                  <c:v>73</c:v>
                </c:pt>
                <c:pt idx="23">
                  <c:v>78</c:v>
                </c:pt>
                <c:pt idx="24">
                  <c:v>76</c:v>
                </c:pt>
                <c:pt idx="25">
                  <c:v>77</c:v>
                </c:pt>
                <c:pt idx="26">
                  <c:v>75</c:v>
                </c:pt>
                <c:pt idx="27">
                  <c:v>72</c:v>
                </c:pt>
                <c:pt idx="28">
                  <c:v>73</c:v>
                </c:pt>
                <c:pt idx="29">
                  <c:v>75</c:v>
                </c:pt>
                <c:pt idx="30">
                  <c:v>78</c:v>
                </c:pt>
                <c:pt idx="31">
                  <c:v>73</c:v>
                </c:pt>
              </c:numCache>
            </c:numRef>
          </c:yVal>
        </c:ser>
        <c:ser>
          <c:idx val="2"/>
          <c:order val="2"/>
          <c:tx>
            <c:v>Asia</c:v>
          </c:tx>
          <c:spPr>
            <a:ln xmlns:a="http://schemas.openxmlformats.org/drawingml/2006/main" w="0">
              <a:noFill/>
            </a:ln>
          </c:spPr>
          <c:marker>
            <c:symbol val="circle"/>
            <c:size val="7"/>
            <c:spPr>
              <a:solidFill xmlns:a="http://schemas.openxmlformats.org/drawingml/2006/main">
                <a:srgbClr val="9CAEB0"/>
              </a:solidFill>
            </c:spPr>
          </c:marker>
          <c:xVal>
            <c:numRef>
              <c:f>'Chart Data'!$E$2:$E$41</c:f>
              <c:numCache>
                <c:formatCode>General</c:formatCode>
                <c:ptCount val="40"/>
                <c:pt idx="0">
                  <c:v>1970</c:v>
                </c:pt>
                <c:pt idx="1">
                  <c:v>13300</c:v>
                </c:pt>
                <c:pt idx="2">
                  <c:v>13700</c:v>
                </c:pt>
                <c:pt idx="3">
                  <c:v>48000</c:v>
                </c:pt>
                <c:pt idx="4">
                  <c:v>5590</c:v>
                </c:pt>
                <c:pt idx="5">
                  <c:v>10500</c:v>
                </c:pt>
                <c:pt idx="6">
                  <c:v>4280</c:v>
                </c:pt>
                <c:pt idx="7">
                  <c:v>16300</c:v>
                </c:pt>
                <c:pt idx="8">
                  <c:v>38300</c:v>
                </c:pt>
                <c:pt idx="9">
                  <c:v>13900</c:v>
                </c:pt>
                <c:pt idx="10">
                  <c:v>6140</c:v>
                </c:pt>
                <c:pt idx="11">
                  <c:v>11500</c:v>
                </c:pt>
                <c:pt idx="12">
                  <c:v>8860</c:v>
                </c:pt>
                <c:pt idx="13">
                  <c:v>39700</c:v>
                </c:pt>
                <c:pt idx="14">
                  <c:v>9060</c:v>
                </c:pt>
                <c:pt idx="15">
                  <c:v>43800</c:v>
                </c:pt>
                <c:pt idx="16">
                  <c:v>4810</c:v>
                </c:pt>
                <c:pt idx="17">
                  <c:v>13800</c:v>
                </c:pt>
                <c:pt idx="18">
                  <c:v>25800</c:v>
                </c:pt>
                <c:pt idx="19">
                  <c:v>13800</c:v>
                </c:pt>
                <c:pt idx="20">
                  <c:v>11700</c:v>
                </c:pt>
                <c:pt idx="21">
                  <c:v>4620</c:v>
                </c:pt>
                <c:pt idx="22">
                  <c:v>3760</c:v>
                </c:pt>
                <c:pt idx="23">
                  <c:v>1810</c:v>
                </c:pt>
                <c:pt idx="24">
                  <c:v>33100</c:v>
                </c:pt>
                <c:pt idx="25">
                  <c:v>5000</c:v>
                </c:pt>
                <c:pt idx="26">
                  <c:v>5400</c:v>
                </c:pt>
                <c:pt idx="27">
                  <c:v>7770</c:v>
                </c:pt>
                <c:pt idx="28">
                  <c:v>89000</c:v>
                </c:pt>
                <c:pt idx="29">
                  <c:v>44300</c:v>
                </c:pt>
                <c:pt idx="30">
                  <c:v>94200</c:v>
                </c:pt>
                <c:pt idx="31">
                  <c:v>42400</c:v>
                </c:pt>
                <c:pt idx="32">
                  <c:v>12900</c:v>
                </c:pt>
                <c:pt idx="33">
                  <c:v>3520</c:v>
                </c:pt>
                <c:pt idx="34">
                  <c:v>3650</c:v>
                </c:pt>
                <c:pt idx="35">
                  <c:v>16900</c:v>
                </c:pt>
                <c:pt idx="36">
                  <c:v>4860</c:v>
                </c:pt>
                <c:pt idx="37">
                  <c:v>28500</c:v>
                </c:pt>
                <c:pt idx="38">
                  <c:v>7410</c:v>
                </c:pt>
                <c:pt idx="39">
                  <c:v>1780</c:v>
                </c:pt>
              </c:numCache>
            </c:numRef>
          </c:xVal>
          <c:yVal>
            <c:numRef>
              <c:f>'Chart Data'!$F$2:$F$41</c:f>
              <c:numCache>
                <c:formatCode>General</c:formatCode>
                <c:ptCount val="40"/>
                <c:pt idx="0">
                  <c:v>62</c:v>
                </c:pt>
                <c:pt idx="1">
                  <c:v>72</c:v>
                </c:pt>
                <c:pt idx="2">
                  <c:v>64</c:v>
                </c:pt>
                <c:pt idx="3">
                  <c:v>76</c:v>
                </c:pt>
                <c:pt idx="4">
                  <c:v>73</c:v>
                </c:pt>
                <c:pt idx="5">
                  <c:v>73</c:v>
                </c:pt>
                <c:pt idx="6">
                  <c:v>69</c:v>
                </c:pt>
                <c:pt idx="7">
                  <c:v>77</c:v>
                </c:pt>
                <c:pt idx="8">
                  <c:v>80</c:v>
                </c:pt>
                <c:pt idx="9">
                  <c:v>72</c:v>
                </c:pt>
                <c:pt idx="10">
                  <c:v>70</c:v>
                </c:pt>
                <c:pt idx="11">
                  <c:v>69</c:v>
                </c:pt>
                <c:pt idx="12">
                  <c:v>70</c:v>
                </c:pt>
                <c:pt idx="13">
                  <c:v>82</c:v>
                </c:pt>
                <c:pt idx="14">
                  <c:v>77</c:v>
                </c:pt>
                <c:pt idx="15">
                  <c:v>78</c:v>
                </c:pt>
                <c:pt idx="16">
                  <c:v>71</c:v>
                </c:pt>
                <c:pt idx="17">
                  <c:v>75</c:v>
                </c:pt>
                <c:pt idx="18">
                  <c:v>75</c:v>
                </c:pt>
                <c:pt idx="19">
                  <c:v>78</c:v>
                </c:pt>
                <c:pt idx="20">
                  <c:v>68</c:v>
                </c:pt>
                <c:pt idx="21">
                  <c:v>69</c:v>
                </c:pt>
                <c:pt idx="22">
                  <c:v>70</c:v>
                </c:pt>
                <c:pt idx="23">
                  <c:v>73</c:v>
                </c:pt>
                <c:pt idx="24">
                  <c:v>70</c:v>
                </c:pt>
                <c:pt idx="25">
                  <c:v>65</c:v>
                </c:pt>
                <c:pt idx="26">
                  <c:v>74</c:v>
                </c:pt>
                <c:pt idx="27">
                  <c:v>72</c:v>
                </c:pt>
                <c:pt idx="28">
                  <c:v>74</c:v>
                </c:pt>
                <c:pt idx="29">
                  <c:v>73</c:v>
                </c:pt>
                <c:pt idx="30">
                  <c:v>83</c:v>
                </c:pt>
                <c:pt idx="31">
                  <c:v>82</c:v>
                </c:pt>
                <c:pt idx="32">
                  <c:v>77</c:v>
                </c:pt>
                <c:pt idx="33">
                  <c:v>74</c:v>
                </c:pt>
                <c:pt idx="34">
                  <c:v>66</c:v>
                </c:pt>
                <c:pt idx="35">
                  <c:v>78</c:v>
                </c:pt>
                <c:pt idx="36">
                  <c:v>70</c:v>
                </c:pt>
                <c:pt idx="37">
                  <c:v>76</c:v>
                </c:pt>
                <c:pt idx="38">
                  <c:v>67</c:v>
                </c:pt>
                <c:pt idx="39">
                  <c:v>67</c:v>
                </c:pt>
              </c:numCache>
            </c:numRef>
          </c:yVal>
        </c:ser>
        <c:ser>
          <c:idx val="3"/>
          <c:order val="3"/>
          <c:tx>
            <c:v>Europe</c:v>
          </c:tx>
          <c:spPr>
            <a:ln xmlns:a="http://schemas.openxmlformats.org/drawingml/2006/main" w="0">
              <a:noFill/>
            </a:ln>
          </c:spPr>
          <c:marker>
            <c:symbol val="circle"/>
            <c:size val="7"/>
            <c:spPr>
              <a:solidFill xmlns:a="http://schemas.openxmlformats.org/drawingml/2006/main">
                <a:srgbClr val="AE9EB0"/>
              </a:solidFill>
            </c:spPr>
          </c:marker>
          <c:xVal>
            <c:numRef>
              <c:f>'Chart Data'!$G$2:$G$40</c:f>
              <c:numCache>
                <c:formatCode>General</c:formatCode>
                <c:ptCount val="39"/>
                <c:pt idx="0">
                  <c:v>13300</c:v>
                </c:pt>
                <c:pt idx="1">
                  <c:v>49700</c:v>
                </c:pt>
                <c:pt idx="2">
                  <c:v>52100</c:v>
                </c:pt>
                <c:pt idx="3">
                  <c:v>19200</c:v>
                </c:pt>
                <c:pt idx="4">
                  <c:v>48700</c:v>
                </c:pt>
                <c:pt idx="5">
                  <c:v>14600</c:v>
                </c:pt>
                <c:pt idx="6">
                  <c:v>22500</c:v>
                </c:pt>
                <c:pt idx="7">
                  <c:v>27000</c:v>
                </c:pt>
                <c:pt idx="8">
                  <c:v>38600</c:v>
                </c:pt>
                <c:pt idx="9">
                  <c:v>54500</c:v>
                </c:pt>
                <c:pt idx="10">
                  <c:v>36100</c:v>
                </c:pt>
                <c:pt idx="11">
                  <c:v>47500</c:v>
                </c:pt>
                <c:pt idx="12">
                  <c:v>42400</c:v>
                </c:pt>
                <c:pt idx="13">
                  <c:v>51600</c:v>
                </c:pt>
                <c:pt idx="14">
                  <c:v>26900</c:v>
                </c:pt>
                <c:pt idx="15">
                  <c:v>31300</c:v>
                </c:pt>
                <c:pt idx="16">
                  <c:v>51200</c:v>
                </c:pt>
                <c:pt idx="17">
                  <c:v>90100</c:v>
                </c:pt>
                <c:pt idx="18">
                  <c:v>38600</c:v>
                </c:pt>
                <c:pt idx="19">
                  <c:v>29800</c:v>
                </c:pt>
                <c:pt idx="20">
                  <c:v>37100</c:v>
                </c:pt>
                <c:pt idx="21">
                  <c:v>110000</c:v>
                </c:pt>
                <c:pt idx="22">
                  <c:v>40800</c:v>
                </c:pt>
                <c:pt idx="23">
                  <c:v>208000</c:v>
                </c:pt>
                <c:pt idx="24">
                  <c:v>18300</c:v>
                </c:pt>
                <c:pt idx="25">
                  <c:v>53600</c:v>
                </c:pt>
                <c:pt idx="26">
                  <c:v>63800</c:v>
                </c:pt>
                <c:pt idx="27">
                  <c:v>32500</c:v>
                </c:pt>
                <c:pt idx="28">
                  <c:v>32100</c:v>
                </c:pt>
                <c:pt idx="29">
                  <c:v>29100</c:v>
                </c:pt>
                <c:pt idx="30">
                  <c:v>26600</c:v>
                </c:pt>
                <c:pt idx="31">
                  <c:v>56400</c:v>
                </c:pt>
                <c:pt idx="32">
                  <c:v>18200</c:v>
                </c:pt>
                <c:pt idx="33">
                  <c:v>31000</c:v>
                </c:pt>
                <c:pt idx="34">
                  <c:v>37100</c:v>
                </c:pt>
                <c:pt idx="35">
                  <c:v>35700</c:v>
                </c:pt>
                <c:pt idx="36">
                  <c:v>51000</c:v>
                </c:pt>
                <c:pt idx="37">
                  <c:v>67000</c:v>
                </c:pt>
                <c:pt idx="38">
                  <c:v>12400</c:v>
                </c:pt>
              </c:numCache>
            </c:numRef>
          </c:xVal>
          <c:yVal>
            <c:numRef>
              <c:f>'Chart Data'!$H$2:$H$40</c:f>
              <c:numCache>
                <c:formatCode>General</c:formatCode>
                <c:ptCount val="39"/>
                <c:pt idx="0">
                  <c:v>76</c:v>
                </c:pt>
                <c:pt idx="1">
                  <c:v>78</c:v>
                </c:pt>
                <c:pt idx="2">
                  <c:v>81</c:v>
                </c:pt>
                <c:pt idx="3">
                  <c:v>72</c:v>
                </c:pt>
                <c:pt idx="4">
                  <c:v>80</c:v>
                </c:pt>
                <c:pt idx="5">
                  <c:v>76</c:v>
                </c:pt>
                <c:pt idx="6">
                  <c:v>72</c:v>
                </c:pt>
                <c:pt idx="7">
                  <c:v>77</c:v>
                </c:pt>
                <c:pt idx="8">
                  <c:v>78</c:v>
                </c:pt>
                <c:pt idx="9">
                  <c:v>81</c:v>
                </c:pt>
                <c:pt idx="10">
                  <c:v>77</c:v>
                </c:pt>
                <c:pt idx="11">
                  <c:v>81</c:v>
                </c:pt>
                <c:pt idx="12">
                  <c:v>82</c:v>
                </c:pt>
                <c:pt idx="13">
                  <c:v>80</c:v>
                </c:pt>
                <c:pt idx="14">
                  <c:v>80</c:v>
                </c:pt>
                <c:pt idx="15">
                  <c:v>75</c:v>
                </c:pt>
                <c:pt idx="16">
                  <c:v>84</c:v>
                </c:pt>
                <c:pt idx="17">
                  <c:v>82</c:v>
                </c:pt>
                <c:pt idx="18">
                  <c:v>82</c:v>
                </c:pt>
                <c:pt idx="19">
                  <c:v>75</c:v>
                </c:pt>
                <c:pt idx="20">
                  <c:v>75</c:v>
                </c:pt>
                <c:pt idx="21">
                  <c:v>82</c:v>
                </c:pt>
                <c:pt idx="22">
                  <c:v>82</c:v>
                </c:pt>
                <c:pt idx="23">
                  <c:v>80</c:v>
                </c:pt>
                <c:pt idx="24">
                  <c:v>75</c:v>
                </c:pt>
                <c:pt idx="25">
                  <c:v>81</c:v>
                </c:pt>
                <c:pt idx="26">
                  <c:v>83</c:v>
                </c:pt>
                <c:pt idx="27">
                  <c:v>77</c:v>
                </c:pt>
                <c:pt idx="28">
                  <c:v>81</c:v>
                </c:pt>
                <c:pt idx="29">
                  <c:v>74</c:v>
                </c:pt>
                <c:pt idx="30">
                  <c:v>70</c:v>
                </c:pt>
                <c:pt idx="31">
                  <c:v>78</c:v>
                </c:pt>
                <c:pt idx="32">
                  <c:v>74</c:v>
                </c:pt>
                <c:pt idx="33">
                  <c:v>76</c:v>
                </c:pt>
                <c:pt idx="34">
                  <c:v>80</c:v>
                </c:pt>
                <c:pt idx="35">
                  <c:v>81</c:v>
                </c:pt>
                <c:pt idx="36">
                  <c:v>82</c:v>
                </c:pt>
                <c:pt idx="37">
                  <c:v>83</c:v>
                </c:pt>
                <c:pt idx="38">
                  <c:v>71</c:v>
                </c:pt>
              </c:numCache>
            </c:numRef>
          </c:yVal>
        </c:ser>
        <c:ser>
          <c:idx val="4"/>
          <c:order val="4"/>
          <c:tx>
            <c:v>Oceania</c:v>
          </c:tx>
          <c:spPr>
            <a:ln xmlns:a="http://schemas.openxmlformats.org/drawingml/2006/main" w="0">
              <a:noFill/>
            </a:ln>
          </c:spPr>
          <c:marker>
            <c:symbol val="circle"/>
            <c:size val="7"/>
            <c:spPr>
              <a:solidFill xmlns:a="http://schemas.openxmlformats.org/drawingml/2006/main">
                <a:srgbClr val="B1AC83"/>
              </a:solidFill>
            </c:spPr>
          </c:marker>
          <c:xVal>
            <c:numRef>
              <c:f>'Chart Data'!$I$2:$I$14</c:f>
              <c:numCache>
                <c:formatCode>General</c:formatCode>
                <c:ptCount val="13"/>
                <c:pt idx="0">
                  <c:v>48800</c:v>
                </c:pt>
                <c:pt idx="1">
                  <c:v>10900</c:v>
                </c:pt>
                <c:pt idx="2">
                  <c:v>1880</c:v>
                </c:pt>
                <c:pt idx="3">
                  <c:v>5710</c:v>
                </c:pt>
                <c:pt idx="4">
                  <c:v>10400</c:v>
                </c:pt>
                <c:pt idx="5">
                  <c:v>42300</c:v>
                </c:pt>
                <c:pt idx="6">
                  <c:v>16100</c:v>
                </c:pt>
                <c:pt idx="7">
                  <c:v>3770</c:v>
                </c:pt>
                <c:pt idx="8">
                  <c:v>6060</c:v>
                </c:pt>
                <c:pt idx="9">
                  <c:v>2390</c:v>
                </c:pt>
                <c:pt idx="10">
                  <c:v>6360</c:v>
                </c:pt>
                <c:pt idx="11">
                  <c:v>4580</c:v>
                </c:pt>
                <c:pt idx="12">
                  <c:v>2910</c:v>
                </c:pt>
              </c:numCache>
            </c:numRef>
          </c:xVal>
          <c:yVal>
            <c:numRef>
              <c:f>'Chart Data'!$J$2:$J$14</c:f>
              <c:numCache>
                <c:formatCode>General</c:formatCode>
                <c:ptCount val="13"/>
                <c:pt idx="0">
                  <c:v>84</c:v>
                </c:pt>
                <c:pt idx="1">
                  <c:v>68</c:v>
                </c:pt>
                <c:pt idx="2">
                  <c:v>60</c:v>
                </c:pt>
                <c:pt idx="3">
                  <c:v>65</c:v>
                </c:pt>
                <c:pt idx="4">
                  <c:v>63</c:v>
                </c:pt>
                <c:pt idx="5">
                  <c:v>82</c:v>
                </c:pt>
                <c:pt idx="6">
                  <c:v>68</c:v>
                </c:pt>
                <c:pt idx="7">
                  <c:v>65</c:v>
                </c:pt>
                <c:pt idx="8">
                  <c:v>71</c:v>
                </c:pt>
                <c:pt idx="9">
                  <c:v>59</c:v>
                </c:pt>
                <c:pt idx="10">
                  <c:v>73</c:v>
                </c:pt>
                <c:pt idx="11">
                  <c:v>68</c:v>
                </c:pt>
                <c:pt idx="12">
                  <c:v>65</c:v>
                </c:pt>
              </c:numCache>
            </c:numRef>
          </c:yVal>
        </c:ser>
        <c:ser>
          <c:idx val="5"/>
          <c:order val="5"/>
          <c:tx>
            <c:v>Unknown</c:v>
          </c:tx>
          <c:spPr>
            <a:ln xmlns:a="http://schemas.openxmlformats.org/drawingml/2006/main" w="0">
              <a:noFill/>
            </a:ln>
          </c:spPr>
          <c:marker>
            <c:symbol val="circle"/>
            <c:size val="7"/>
            <c:spPr>
              <a:solidFill xmlns:a="http://schemas.openxmlformats.org/drawingml/2006/main">
                <a:srgbClr val="D3CFCA"/>
              </a:solidFill>
            </c:spPr>
          </c:marker>
          <c:xVal>
            <c:numRef>
              <c:f>'Chart Data'!$K$2:$K$18</c:f>
              <c:numCache>
                <c:formatCode>General</c:formatCode>
                <c:ptCount val="17"/>
                <c:pt idx="0">
                  <c:v>7680</c:v>
                </c:pt>
                <c:pt idx="1">
                  <c:v>61600</c:v>
                </c:pt>
                <c:pt idx="2">
                  <c:v>6220</c:v>
                </c:pt>
                <c:pt idx="3">
                  <c:v>3280</c:v>
                </c:pt>
                <c:pt idx="4">
                  <c:v>14400</c:v>
                </c:pt>
                <c:pt idx="5">
                  <c:v>25600</c:v>
                </c:pt>
                <c:pt idx="6">
                  <c:v>7760</c:v>
                </c:pt>
                <c:pt idx="7">
                  <c:v>3250</c:v>
                </c:pt>
                <c:pt idx="8">
                  <c:v>11800</c:v>
                </c:pt>
                <c:pt idx="9">
                  <c:v>15800</c:v>
                </c:pt>
                <c:pt idx="10">
                  <c:v>26300</c:v>
                </c:pt>
                <c:pt idx="11">
                  <c:v>53100</c:v>
                </c:pt>
                <c:pt idx="12">
                  <c:v>15200</c:v>
                </c:pt>
                <c:pt idx="13">
                  <c:v>67400</c:v>
                </c:pt>
                <c:pt idx="14">
                  <c:v>41300</c:v>
                </c:pt>
                <c:pt idx="15">
                  <c:v>60200</c:v>
                </c:pt>
                <c:pt idx="16">
                  <c:v>10500</c:v>
                </c:pt>
              </c:numCache>
            </c:numRef>
          </c:xVal>
          <c:yVal>
            <c:numRef>
              <c:f>'Chart Data'!$L$2:$L$18</c:f>
              <c:numCache>
                <c:formatCode>General</c:formatCode>
                <c:ptCount val="17"/>
                <c:pt idx="0">
                  <c:v>68</c:v>
                </c:pt>
                <c:pt idx="1">
                  <c:v>74</c:v>
                </c:pt>
                <c:pt idx="2">
                  <c:v>72</c:v>
                </c:pt>
                <c:pt idx="3">
                  <c:v>66</c:v>
                </c:pt>
                <c:pt idx="4">
                  <c:v>76</c:v>
                </c:pt>
                <c:pt idx="5">
                  <c:v>70</c:v>
                </c:pt>
                <c:pt idx="6">
                  <c:v>69</c:v>
                </c:pt>
                <c:pt idx="7">
                  <c:v>63</c:v>
                </c:pt>
                <c:pt idx="8">
                  <c:v>73</c:v>
                </c:pt>
                <c:pt idx="9">
                  <c:v>72</c:v>
                </c:pt>
                <c:pt idx="10">
                  <c:v>72</c:v>
                </c:pt>
                <c:pt idx="11">
                  <c:v>80</c:v>
                </c:pt>
                <c:pt idx="12">
                  <c:v>70</c:v>
                </c:pt>
                <c:pt idx="13">
                  <c:v>73</c:v>
                </c:pt>
                <c:pt idx="14">
                  <c:v>79</c:v>
                </c:pt>
                <c:pt idx="15">
                  <c:v>77</c:v>
                </c:pt>
                <c:pt idx="16">
                  <c:v>75</c:v>
                </c:pt>
              </c:numCache>
            </c:numRef>
          </c:yVal>
        </c:ser>
        <c:ser>
          <c:idx val="6"/>
          <c:order val="6"/>
          <c:tx>
            <c:v>Japan</c:v>
          </c:tx>
          <c:spPr>
            <a:ln xmlns:a="http://schemas.openxmlformats.org/drawingml/2006/main" w="0">
              <a:noFill/>
            </a:ln>
          </c:spPr>
          <c:marker>
            <c:symbol val="circle"/>
            <c:size val="7"/>
            <c:spPr>
              <a:solidFill xmlns:a="http://schemas.openxmlformats.org/drawingml/2006/main">
                <a:srgbClr val="B23C50"/>
              </a:solidFill>
            </c:spPr>
          </c:marker>
          <c:dLbls>
            <c:dLbl>
              <c:idx val="0"/>
              <c:tx>
                <c:rich>
                  <a:bodyPr xmlns:a="http://schemas.openxmlformats.org/drawingml/2006/main"/>
                  <a:lstStyle xmlns:a="http://schemas.openxmlformats.org/drawingml/2006/main"/>
                  <a:p xmlns:a="http://schemas.openxmlformats.org/drawingml/2006/main">
                    <a:r>
                      <a:rPr sz="1575">
                        <a:solidFill>
                          <a:srgbClr val="B23C50"/>
                        </a:solidFill>
                        <a:latin typeface="Ubuntu Condensed"/>
                        <a:ea typeface="Ubuntu Condensed"/>
                        <a:cs typeface="Ubuntu Condensed"/>
                      </a:rPr>
                      <a:t>Japan</a:t>
                    </a:r>
                  </a:p>
                </c:rich>
              </c:tx>
              <c:txPr>
                <a:bodyPr xmlns:a="http://schemas.openxmlformats.org/drawingml/2006/main" anchorCtr="1"/>
                <a:lstStyle xmlns:a="http://schemas.openxmlformats.org/drawingml/2006/main"/>
                <a:p xmlns:a="http://schemas.openxmlformats.org/drawingml/2006/main">
                  <a:pPr>
                    <a:defRPr sz="1575">
                      <a:solidFill>
                        <a:srgbClr val="B23C50"/>
                      </a:solidFill>
                      <a:latin typeface="Ubuntu Condensed"/>
                      <a:ea typeface="Ubuntu Condensed"/>
                      <a:cs typeface="Ubuntu Condensed"/>
                    </a:defRPr>
                  </a:pPr>
                </a:p>
              </c:txPr>
              <c:dLblPos val="t"/>
              <c:showVal val="0"/>
            </c:dLbl>
          </c:dLbls>
          <c:xVal>
            <c:numRef>
              <c:f>'Chart Data'!$M$2:$M$2</c:f>
              <c:numCache>
                <c:formatCode>General</c:formatCode>
                <c:ptCount val="1"/>
                <c:pt idx="0">
                  <c:v>39800</c:v>
                </c:pt>
              </c:numCache>
            </c:numRef>
          </c:xVal>
          <c:yVal>
            <c:numRef>
              <c:f>'Chart Data'!$N$2:$N$2</c:f>
              <c:numCache>
                <c:formatCode>General</c:formatCode>
                <c:ptCount val="1"/>
                <c:pt idx="0">
                  <c:v>85</c:v>
                </c:pt>
              </c:numCache>
            </c:numRef>
          </c:y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scatterChart>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75">
                    <a:solidFill>
                      <a:srgbClr val="38332E"/>
                    </a:solidFill>
                    <a:latin typeface="Ubuntu Condensed"/>
                    <a:ea typeface="Ubuntu Condensed"/>
                    <a:cs typeface="Ubuntu Condensed"/>
                  </a:rPr>
                  <a:t>Life Expectancy</a:t>
                </a:r>
              </a:p>
            </c:rich>
          </c:tx>
          <c:overlay val="0"/>
          <c:txPr>
            <a:bodyPr xmlns:a="http://schemas.openxmlformats.org/drawingml/2006/main" anchorCtr="1"/>
            <a:lstStyle xmlns:a="http://schemas.openxmlformats.org/drawingml/2006/main"/>
            <a:p xmlns:a="http://schemas.openxmlformats.org/drawingml/2006/main">
              <a:pPr>
                <a:defRPr sz="1575">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81796F"/>
                </a:solidFill>
                <a:latin typeface="Ubuntu Condensed"/>
                <a:ea typeface="Ubuntu Condensed"/>
                <a:cs typeface="Ubuntu Condensed"/>
              </a:defRPr>
            </a:pPr>
          </a:p>
        </c:txPr>
        <c:crossAx val="48650112"/>
        <c:majorUnit val="10"/>
      </c:valAx>
      <c:valAx>
        <c:axId val="48650112"/>
        <c:scaling>
          <c:orientation val="minMax"/>
          <c:max val="220000"/>
          <c:min val="0"/>
        </c:scaling>
        <c:delete val="0"/>
        <c:axPos val="b"/>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75">
                    <a:solidFill>
                      <a:srgbClr val="38332E"/>
                    </a:solidFill>
                    <a:latin typeface="Ubuntu Condensed"/>
                    <a:ea typeface="Ubuntu Condensed"/>
                    <a:cs typeface="Ubuntu Condensed"/>
                  </a:rPr>
                  <a:t>GDP</a:t>
                </a:r>
              </a:p>
            </c:rich>
          </c:tx>
          <c:overlay val="0"/>
          <c:txPr>
            <a:bodyPr xmlns:a="http://schemas.openxmlformats.org/drawingml/2006/main" anchorCtr="1"/>
            <a:lstStyle xmlns:a="http://schemas.openxmlformats.org/drawingml/2006/main"/>
            <a:p xmlns:a="http://schemas.openxmlformats.org/drawingml/2006/main">
              <a:pPr>
                <a:defRPr sz="1575">
                  <a:solidFill>
                    <a:srgbClr val="38332E"/>
                  </a:solidFill>
                  <a:latin typeface="Ubuntu Condensed"/>
                  <a:ea typeface="Ubuntu Condensed"/>
                  <a:cs typeface="Ubuntu Condensed"/>
                </a:defRPr>
              </a:pPr>
            </a:p>
          </c:txPr>
        </c:title>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81796F"/>
                </a:solidFill>
                <a:latin typeface="Ubuntu Condensed"/>
                <a:ea typeface="Ubuntu Condensed"/>
                <a:cs typeface="Ubuntu Condensed"/>
              </a:defRPr>
            </a:pPr>
          </a:p>
        </c:txPr>
        <c:crossAx val="48672768"/>
        <c:majorUnit val="10000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68</c:v>
                </c:pt>
                <c:pt idx="1">
                  <c:v>70</c:v>
                </c:pt>
                <c:pt idx="2">
                  <c:v>72</c:v>
                </c:pt>
                <c:pt idx="3">
                  <c:v>74</c:v>
                </c:pt>
                <c:pt idx="4">
                  <c:v>76</c:v>
                </c:pt>
                <c:pt idx="5">
                  <c:v>78</c:v>
                </c:pt>
                <c:pt idx="6">
                  <c:v>79</c:v>
                </c:pt>
                <c:pt idx="7">
                  <c:v>80</c:v>
                </c:pt>
                <c:pt idx="8">
                  <c:v>81</c:v>
                </c:pt>
                <c:pt idx="9">
                  <c:v>82</c:v>
                </c:pt>
                <c:pt idx="10">
                  <c:v>83</c:v>
                </c:pt>
                <c:pt idx="11">
                  <c:v>84</c:v>
                </c:pt>
                <c:pt idx="12">
                  <c:v>85</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72768"/>
      </c:catAx>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275">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1275">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50112"/>
        <c:crossBetween val="between"/>
        <c:majorUnit val="25"/>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7140</c:v>
                </c:pt>
                <c:pt idx="1">
                  <c:v>10500</c:v>
                </c:pt>
                <c:pt idx="2">
                  <c:v>17000</c:v>
                </c:pt>
                <c:pt idx="3">
                  <c:v>19700</c:v>
                </c:pt>
                <c:pt idx="4">
                  <c:v>23200</c:v>
                </c:pt>
                <c:pt idx="5">
                  <c:v>26900</c:v>
                </c:pt>
                <c:pt idx="6">
                  <c:v>33100</c:v>
                </c:pt>
                <c:pt idx="7">
                  <c:v>35100</c:v>
                </c:pt>
                <c:pt idx="8">
                  <c:v>36400</c:v>
                </c:pt>
                <c:pt idx="9">
                  <c:v>38200</c:v>
                </c:pt>
                <c:pt idx="10">
                  <c:v>37900</c:v>
                </c:pt>
                <c:pt idx="11">
                  <c:v>40200</c:v>
                </c:pt>
                <c:pt idx="12">
                  <c:v>39800</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72768"/>
      </c:catAx>
      <c:valAx>
        <c:axId val="48672768"/>
        <c:scaling>
          <c:orientation val="minMax"/>
          <c:max val="45000"/>
          <c:min val="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275">
                    <a:solidFill>
                      <a:srgbClr val="38332E"/>
                    </a:solidFill>
                    <a:latin typeface="Ubuntu Condensed"/>
                    <a:ea typeface="Ubuntu Condensed"/>
                    <a:cs typeface="Ubuntu Condensed"/>
                  </a:rPr>
                  <a:t>GDP</a:t>
                </a:r>
              </a:p>
            </c:rich>
          </c:tx>
          <c:overlay val="0"/>
          <c:txPr>
            <a:bodyPr xmlns:a="http://schemas.openxmlformats.org/drawingml/2006/main" anchorCtr="1"/>
            <a:lstStyle xmlns:a="http://schemas.openxmlformats.org/drawingml/2006/main"/>
            <a:p xmlns:a="http://schemas.openxmlformats.org/drawingml/2006/main">
              <a:pPr>
                <a:defRPr sz="1275">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50112"/>
        <c:crossBetween val="between"/>
        <c:majorUnit val="2000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68</c:v>
                </c:pt>
                <c:pt idx="1">
                  <c:v>70</c:v>
                </c:pt>
                <c:pt idx="2">
                  <c:v>72</c:v>
                </c:pt>
                <c:pt idx="3">
                  <c:v>74</c:v>
                </c:pt>
                <c:pt idx="4">
                  <c:v>76</c:v>
                </c:pt>
                <c:pt idx="5">
                  <c:v>78</c:v>
                </c:pt>
                <c:pt idx="6">
                  <c:v>79</c:v>
                </c:pt>
                <c:pt idx="7">
                  <c:v>80</c:v>
                </c:pt>
                <c:pt idx="8">
                  <c:v>81</c:v>
                </c:pt>
                <c:pt idx="9">
                  <c:v>82</c:v>
                </c:pt>
                <c:pt idx="10">
                  <c:v>83</c:v>
                </c:pt>
                <c:pt idx="11">
                  <c:v>84</c:v>
                </c:pt>
                <c:pt idx="12">
                  <c:v>85</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72768"/>
      </c:catAx>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50112"/>
        <c:crossBetween val="between"/>
        <c:majorUnit val="25"/>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lineChart>
        <c:grouping val="standard"/>
        <c:varyColors val="0"/>
        <c:ser>
          <c:idx val="0"/>
          <c:order val="0"/>
          <c:tx>
            <c:v>India</c:v>
          </c:tx>
          <c:spPr>
            <a:ln xmlns:a="http://schemas.openxmlformats.org/drawingml/2006/main" w="28575">
              <a:solidFill>
                <a:srgbClr val="457985"/>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45</c:v>
                </c:pt>
                <c:pt idx="1">
                  <c:v>45</c:v>
                </c:pt>
                <c:pt idx="2">
                  <c:v>49</c:v>
                </c:pt>
                <c:pt idx="3">
                  <c:v>51</c:v>
                </c:pt>
                <c:pt idx="4">
                  <c:v>55</c:v>
                </c:pt>
                <c:pt idx="5">
                  <c:v>57</c:v>
                </c:pt>
                <c:pt idx="6">
                  <c:v>59</c:v>
                </c:pt>
                <c:pt idx="7">
                  <c:v>61</c:v>
                </c:pt>
                <c:pt idx="8">
                  <c:v>62</c:v>
                </c:pt>
                <c:pt idx="9">
                  <c:v>65</c:v>
                </c:pt>
                <c:pt idx="10">
                  <c:v>67</c:v>
                </c:pt>
                <c:pt idx="11">
                  <c:v>69</c:v>
                </c:pt>
                <c:pt idx="12">
                  <c:v>70</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72768"/>
      </c:catAx>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50112"/>
        <c:crossBetween val="between"/>
        <c:majorUnit val="25"/>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marker"/>
        <c:varyColors val="0"/>
        <c:ser>
          <c:idx val="0"/>
          <c:order val="0"/>
          <c:tx>
            <c:v>Africa</c:v>
          </c:tx>
          <c:spPr>
            <a:ln xmlns:a="http://schemas.openxmlformats.org/drawingml/2006/main" w="0">
              <a:noFill/>
            </a:ln>
          </c:spPr>
          <c:marker>
            <c:symbol val="circle"/>
            <c:size val="7"/>
            <c:spPr>
              <a:solidFill xmlns:a="http://schemas.openxmlformats.org/drawingml/2006/main">
                <a:srgbClr val="DBD8D2"/>
              </a:solidFill>
            </c:spPr>
          </c:marker>
          <c:xVal>
            <c:numRef>
              <c:f>'Chart Data'!$A$2:$A$53</c:f>
              <c:numCache>
                <c:formatCode>General</c:formatCode>
                <c:ptCount val="52"/>
                <c:pt idx="0">
                  <c:v>10800</c:v>
                </c:pt>
                <c:pt idx="1">
                  <c:v>6030</c:v>
                </c:pt>
                <c:pt idx="2">
                  <c:v>3190</c:v>
                </c:pt>
                <c:pt idx="3">
                  <c:v>13500</c:v>
                </c:pt>
                <c:pt idx="4">
                  <c:v>2090</c:v>
                </c:pt>
                <c:pt idx="5">
                  <c:v>711</c:v>
                </c:pt>
                <c:pt idx="6">
                  <c:v>3680</c:v>
                </c:pt>
                <c:pt idx="7">
                  <c:v>847</c:v>
                </c:pt>
                <c:pt idx="8">
                  <c:v>1490</c:v>
                </c:pt>
                <c:pt idx="9">
                  <c:v>3220</c:v>
                </c:pt>
                <c:pt idx="10">
                  <c:v>1040</c:v>
                </c:pt>
                <c:pt idx="11">
                  <c:v>5090</c:v>
                </c:pt>
                <c:pt idx="12">
                  <c:v>4770</c:v>
                </c:pt>
                <c:pt idx="13">
                  <c:v>12000</c:v>
                </c:pt>
                <c:pt idx="14">
                  <c:v>14900</c:v>
                </c:pt>
                <c:pt idx="15">
                  <c:v>1820</c:v>
                </c:pt>
                <c:pt idx="16">
                  <c:v>8080</c:v>
                </c:pt>
                <c:pt idx="17">
                  <c:v>2250</c:v>
                </c:pt>
                <c:pt idx="18">
                  <c:v>13900</c:v>
                </c:pt>
                <c:pt idx="19">
                  <c:v>2020</c:v>
                </c:pt>
                <c:pt idx="20">
                  <c:v>5280</c:v>
                </c:pt>
                <c:pt idx="21">
                  <c:v>2600</c:v>
                </c:pt>
                <c:pt idx="22">
                  <c:v>1760</c:v>
                </c:pt>
                <c:pt idx="23">
                  <c:v>4500</c:v>
                </c:pt>
                <c:pt idx="24">
                  <c:v>2280</c:v>
                </c:pt>
                <c:pt idx="25">
                  <c:v>1380</c:v>
                </c:pt>
                <c:pt idx="26">
                  <c:v>15600</c:v>
                </c:pt>
                <c:pt idx="27">
                  <c:v>1440</c:v>
                </c:pt>
                <c:pt idx="28">
                  <c:v>1490</c:v>
                </c:pt>
                <c:pt idx="29">
                  <c:v>2120</c:v>
                </c:pt>
                <c:pt idx="30">
                  <c:v>5400</c:v>
                </c:pt>
                <c:pt idx="31">
                  <c:v>20200</c:v>
                </c:pt>
                <c:pt idx="32">
                  <c:v>7540</c:v>
                </c:pt>
                <c:pt idx="33">
                  <c:v>1230</c:v>
                </c:pt>
                <c:pt idx="34">
                  <c:v>9030</c:v>
                </c:pt>
                <c:pt idx="35">
                  <c:v>1210</c:v>
                </c:pt>
                <c:pt idx="36">
                  <c:v>4870</c:v>
                </c:pt>
                <c:pt idx="37">
                  <c:v>2070</c:v>
                </c:pt>
                <c:pt idx="38">
                  <c:v>4060</c:v>
                </c:pt>
                <c:pt idx="39">
                  <c:v>3380</c:v>
                </c:pt>
                <c:pt idx="40">
                  <c:v>27700</c:v>
                </c:pt>
                <c:pt idx="41">
                  <c:v>1590</c:v>
                </c:pt>
                <c:pt idx="42">
                  <c:v>1140</c:v>
                </c:pt>
                <c:pt idx="43">
                  <c:v>12800</c:v>
                </c:pt>
                <c:pt idx="44">
                  <c:v>387</c:v>
                </c:pt>
                <c:pt idx="45">
                  <c:v>3870</c:v>
                </c:pt>
                <c:pt idx="46">
                  <c:v>2550</c:v>
                </c:pt>
                <c:pt idx="47">
                  <c:v>2060</c:v>
                </c:pt>
                <c:pt idx="48">
                  <c:v>10000</c:v>
                </c:pt>
                <c:pt idx="49">
                  <c:v>2240</c:v>
                </c:pt>
                <c:pt idx="50">
                  <c:v>3130</c:v>
                </c:pt>
                <c:pt idx="51">
                  <c:v>1990</c:v>
                </c:pt>
              </c:numCache>
            </c:numRef>
          </c:xVal>
          <c:yVal>
            <c:numRef>
              <c:f>'Chart Data'!$B$2:$B$53</c:f>
              <c:numCache>
                <c:formatCode>General</c:formatCode>
                <c:ptCount val="52"/>
                <c:pt idx="0">
                  <c:v>74</c:v>
                </c:pt>
                <c:pt idx="1">
                  <c:v>64</c:v>
                </c:pt>
                <c:pt idx="2">
                  <c:v>64</c:v>
                </c:pt>
                <c:pt idx="3">
                  <c:v>62</c:v>
                </c:pt>
                <c:pt idx="4">
                  <c:v>61</c:v>
                </c:pt>
                <c:pt idx="5">
                  <c:v>63</c:v>
                </c:pt>
                <c:pt idx="6">
                  <c:v>62</c:v>
                </c:pt>
                <c:pt idx="7">
                  <c:v>52</c:v>
                </c:pt>
                <c:pt idx="8">
                  <c:v>59</c:v>
                </c:pt>
                <c:pt idx="9">
                  <c:v>68</c:v>
                </c:pt>
                <c:pt idx="10">
                  <c:v>64</c:v>
                </c:pt>
                <c:pt idx="11">
                  <c:v>63</c:v>
                </c:pt>
                <c:pt idx="12">
                  <c:v>66</c:v>
                </c:pt>
                <c:pt idx="13">
                  <c:v>70</c:v>
                </c:pt>
                <c:pt idx="14">
                  <c:v>65</c:v>
                </c:pt>
                <c:pt idx="15">
                  <c:v>63</c:v>
                </c:pt>
                <c:pt idx="16">
                  <c:v>57</c:v>
                </c:pt>
                <c:pt idx="17">
                  <c:v>68</c:v>
                </c:pt>
                <c:pt idx="18">
                  <c:v>67</c:v>
                </c:pt>
                <c:pt idx="19">
                  <c:v>65</c:v>
                </c:pt>
                <c:pt idx="20">
                  <c:v>65</c:v>
                </c:pt>
                <c:pt idx="21">
                  <c:v>60</c:v>
                </c:pt>
                <c:pt idx="22">
                  <c:v>60</c:v>
                </c:pt>
                <c:pt idx="23">
                  <c:v>66</c:v>
                </c:pt>
                <c:pt idx="24">
                  <c:v>52</c:v>
                </c:pt>
                <c:pt idx="25">
                  <c:v>65</c:v>
                </c:pt>
                <c:pt idx="26">
                  <c:v>75</c:v>
                </c:pt>
                <c:pt idx="27">
                  <c:v>64</c:v>
                </c:pt>
                <c:pt idx="28">
                  <c:v>64</c:v>
                </c:pt>
                <c:pt idx="29">
                  <c:v>60</c:v>
                </c:pt>
                <c:pt idx="30">
                  <c:v>69</c:v>
                </c:pt>
                <c:pt idx="31">
                  <c:v>74</c:v>
                </c:pt>
                <c:pt idx="32">
                  <c:v>73</c:v>
                </c:pt>
                <c:pt idx="33">
                  <c:v>58</c:v>
                </c:pt>
                <c:pt idx="34">
                  <c:v>65</c:v>
                </c:pt>
                <c:pt idx="35">
                  <c:v>61</c:v>
                </c:pt>
                <c:pt idx="36">
                  <c:v>64</c:v>
                </c:pt>
                <c:pt idx="37">
                  <c:v>69</c:v>
                </c:pt>
                <c:pt idx="38">
                  <c:v>70</c:v>
                </c:pt>
                <c:pt idx="39">
                  <c:v>68</c:v>
                </c:pt>
                <c:pt idx="40">
                  <c:v>72</c:v>
                </c:pt>
                <c:pt idx="41">
                  <c:v>61</c:v>
                </c:pt>
                <c:pt idx="42">
                  <c:v>57</c:v>
                </c:pt>
                <c:pt idx="43">
                  <c:v>64</c:v>
                </c:pt>
                <c:pt idx="44">
                  <c:v>63</c:v>
                </c:pt>
                <c:pt idx="45">
                  <c:v>70</c:v>
                </c:pt>
                <c:pt idx="46">
                  <c:v>66</c:v>
                </c:pt>
                <c:pt idx="47">
                  <c:v>65</c:v>
                </c:pt>
                <c:pt idx="48">
                  <c:v>77</c:v>
                </c:pt>
                <c:pt idx="49">
                  <c:v>66</c:v>
                </c:pt>
                <c:pt idx="50">
                  <c:v>62</c:v>
                </c:pt>
                <c:pt idx="51">
                  <c:v>60</c:v>
                </c:pt>
              </c:numCache>
            </c:numRef>
          </c:yVal>
        </c:ser>
        <c:ser>
          <c:idx val="1"/>
          <c:order val="1"/>
          <c:tx>
            <c:v>Americas</c:v>
          </c:tx>
          <c:spPr>
            <a:ln xmlns:a="http://schemas.openxmlformats.org/drawingml/2006/main" w="0">
              <a:noFill/>
            </a:ln>
          </c:spPr>
          <c:marker>
            <c:symbol val="circle"/>
            <c:size val="7"/>
            <c:spPr>
              <a:solidFill xmlns:a="http://schemas.openxmlformats.org/drawingml/2006/main">
                <a:srgbClr val="DBD8D2"/>
              </a:solidFill>
            </c:spPr>
          </c:marker>
          <c:xVal>
            <c:numRef>
              <c:f>'Chart Data'!$C$2:$C$33</c:f>
              <c:numCache>
                <c:formatCode>General</c:formatCode>
                <c:ptCount val="32"/>
                <c:pt idx="0">
                  <c:v>18500</c:v>
                </c:pt>
                <c:pt idx="1">
                  <c:v>19600</c:v>
                </c:pt>
                <c:pt idx="2">
                  <c:v>26100</c:v>
                </c:pt>
                <c:pt idx="3">
                  <c:v>13900</c:v>
                </c:pt>
                <c:pt idx="4">
                  <c:v>7530</c:v>
                </c:pt>
                <c:pt idx="5">
                  <c:v>14100</c:v>
                </c:pt>
                <c:pt idx="6">
                  <c:v>46100</c:v>
                </c:pt>
                <c:pt idx="7">
                  <c:v>23100</c:v>
                </c:pt>
                <c:pt idx="8">
                  <c:v>13400</c:v>
                </c:pt>
                <c:pt idx="9">
                  <c:v>19700</c:v>
                </c:pt>
                <c:pt idx="10">
                  <c:v>8430</c:v>
                </c:pt>
                <c:pt idx="11">
                  <c:v>10300</c:v>
                </c:pt>
                <c:pt idx="12">
                  <c:v>16800</c:v>
                </c:pt>
                <c:pt idx="13">
                  <c:v>9830</c:v>
                </c:pt>
                <c:pt idx="14">
                  <c:v>8240</c:v>
                </c:pt>
                <c:pt idx="15">
                  <c:v>13200</c:v>
                </c:pt>
                <c:pt idx="16">
                  <c:v>8390</c:v>
                </c:pt>
                <c:pt idx="17">
                  <c:v>18400</c:v>
                </c:pt>
                <c:pt idx="18">
                  <c:v>2970</c:v>
                </c:pt>
                <c:pt idx="19">
                  <c:v>5030</c:v>
                </c:pt>
                <c:pt idx="20">
                  <c:v>9210</c:v>
                </c:pt>
                <c:pt idx="21">
                  <c:v>18200</c:v>
                </c:pt>
                <c:pt idx="22">
                  <c:v>5230</c:v>
                </c:pt>
                <c:pt idx="23">
                  <c:v>26600</c:v>
                </c:pt>
                <c:pt idx="24">
                  <c:v>13300</c:v>
                </c:pt>
                <c:pt idx="25">
                  <c:v>11200</c:v>
                </c:pt>
                <c:pt idx="26">
                  <c:v>11700</c:v>
                </c:pt>
                <c:pt idx="27">
                  <c:v>13700</c:v>
                </c:pt>
                <c:pt idx="28">
                  <c:v>15300</c:v>
                </c:pt>
                <c:pt idx="29">
                  <c:v>23400</c:v>
                </c:pt>
                <c:pt idx="30">
                  <c:v>22000</c:v>
                </c:pt>
                <c:pt idx="31">
                  <c:v>5440</c:v>
                </c:pt>
              </c:numCache>
            </c:numRef>
          </c:xVal>
          <c:yVal>
            <c:numRef>
              <c:f>'Chart Data'!$D$2:$D$33</c:f>
              <c:numCache>
                <c:formatCode>General</c:formatCode>
                <c:ptCount val="32"/>
                <c:pt idx="0">
                  <c:v>76</c:v>
                </c:pt>
                <c:pt idx="1">
                  <c:v>75</c:v>
                </c:pt>
                <c:pt idx="2">
                  <c:v>74</c:v>
                </c:pt>
                <c:pt idx="3">
                  <c:v>76</c:v>
                </c:pt>
                <c:pt idx="4">
                  <c:v>73</c:v>
                </c:pt>
                <c:pt idx="5">
                  <c:v>74</c:v>
                </c:pt>
                <c:pt idx="6">
                  <c:v>81</c:v>
                </c:pt>
                <c:pt idx="7">
                  <c:v>79</c:v>
                </c:pt>
                <c:pt idx="8">
                  <c:v>78</c:v>
                </c:pt>
                <c:pt idx="9">
                  <c:v>79</c:v>
                </c:pt>
                <c:pt idx="10">
                  <c:v>78</c:v>
                </c:pt>
                <c:pt idx="11">
                  <c:v>72</c:v>
                </c:pt>
                <c:pt idx="12">
                  <c:v>72</c:v>
                </c:pt>
                <c:pt idx="13">
                  <c:v>71</c:v>
                </c:pt>
                <c:pt idx="14">
                  <c:v>74</c:v>
                </c:pt>
                <c:pt idx="15">
                  <c:v>73</c:v>
                </c:pt>
                <c:pt idx="16">
                  <c:v>71</c:v>
                </c:pt>
                <c:pt idx="17">
                  <c:v>66</c:v>
                </c:pt>
                <c:pt idx="18">
                  <c:v>63</c:v>
                </c:pt>
                <c:pt idx="19">
                  <c:v>70</c:v>
                </c:pt>
                <c:pt idx="20">
                  <c:v>76</c:v>
                </c:pt>
                <c:pt idx="21">
                  <c:v>71</c:v>
                </c:pt>
                <c:pt idx="22">
                  <c:v>73</c:v>
                </c:pt>
                <c:pt idx="23">
                  <c:v>78</c:v>
                </c:pt>
                <c:pt idx="24">
                  <c:v>76</c:v>
                </c:pt>
                <c:pt idx="25">
                  <c:v>77</c:v>
                </c:pt>
                <c:pt idx="26">
                  <c:v>75</c:v>
                </c:pt>
                <c:pt idx="27">
                  <c:v>72</c:v>
                </c:pt>
                <c:pt idx="28">
                  <c:v>73</c:v>
                </c:pt>
                <c:pt idx="29">
                  <c:v>75</c:v>
                </c:pt>
                <c:pt idx="30">
                  <c:v>78</c:v>
                </c:pt>
                <c:pt idx="31">
                  <c:v>73</c:v>
                </c:pt>
              </c:numCache>
            </c:numRef>
          </c:yVal>
        </c:ser>
        <c:ser>
          <c:idx val="2"/>
          <c:order val="2"/>
          <c:tx>
            <c:v>Asia</c:v>
          </c:tx>
          <c:spPr>
            <a:ln xmlns:a="http://schemas.openxmlformats.org/drawingml/2006/main" w="0">
              <a:noFill/>
            </a:ln>
          </c:spPr>
          <c:marker>
            <c:symbol val="circle"/>
            <c:size val="7"/>
            <c:spPr>
              <a:solidFill xmlns:a="http://schemas.openxmlformats.org/drawingml/2006/main">
                <a:srgbClr val="DBD8D2"/>
              </a:solidFill>
            </c:spPr>
          </c:marker>
          <c:xVal>
            <c:numRef>
              <c:f>'Chart Data'!$E$2:$E$41</c:f>
              <c:numCache>
                <c:formatCode>General</c:formatCode>
                <c:ptCount val="40"/>
                <c:pt idx="0">
                  <c:v>1970</c:v>
                </c:pt>
                <c:pt idx="1">
                  <c:v>13300</c:v>
                </c:pt>
                <c:pt idx="2">
                  <c:v>13700</c:v>
                </c:pt>
                <c:pt idx="3">
                  <c:v>48000</c:v>
                </c:pt>
                <c:pt idx="4">
                  <c:v>5590</c:v>
                </c:pt>
                <c:pt idx="5">
                  <c:v>10500</c:v>
                </c:pt>
                <c:pt idx="6">
                  <c:v>4280</c:v>
                </c:pt>
                <c:pt idx="7">
                  <c:v>16300</c:v>
                </c:pt>
                <c:pt idx="8">
                  <c:v>38300</c:v>
                </c:pt>
                <c:pt idx="9">
                  <c:v>13900</c:v>
                </c:pt>
                <c:pt idx="10">
                  <c:v>6140</c:v>
                </c:pt>
                <c:pt idx="11">
                  <c:v>11500</c:v>
                </c:pt>
                <c:pt idx="12">
                  <c:v>8860</c:v>
                </c:pt>
                <c:pt idx="13">
                  <c:v>39700</c:v>
                </c:pt>
                <c:pt idx="14">
                  <c:v>9060</c:v>
                </c:pt>
                <c:pt idx="15">
                  <c:v>43800</c:v>
                </c:pt>
                <c:pt idx="16">
                  <c:v>4810</c:v>
                </c:pt>
                <c:pt idx="17">
                  <c:v>13800</c:v>
                </c:pt>
                <c:pt idx="18">
                  <c:v>25800</c:v>
                </c:pt>
                <c:pt idx="19">
                  <c:v>13800</c:v>
                </c:pt>
                <c:pt idx="20">
                  <c:v>11700</c:v>
                </c:pt>
                <c:pt idx="21">
                  <c:v>4620</c:v>
                </c:pt>
                <c:pt idx="22">
                  <c:v>3760</c:v>
                </c:pt>
                <c:pt idx="23">
                  <c:v>1810</c:v>
                </c:pt>
                <c:pt idx="24">
                  <c:v>33100</c:v>
                </c:pt>
                <c:pt idx="25">
                  <c:v>5000</c:v>
                </c:pt>
                <c:pt idx="26">
                  <c:v>5400</c:v>
                </c:pt>
                <c:pt idx="27">
                  <c:v>7770</c:v>
                </c:pt>
                <c:pt idx="28">
                  <c:v>89000</c:v>
                </c:pt>
                <c:pt idx="29">
                  <c:v>44300</c:v>
                </c:pt>
                <c:pt idx="30">
                  <c:v>94200</c:v>
                </c:pt>
                <c:pt idx="31">
                  <c:v>42400</c:v>
                </c:pt>
                <c:pt idx="32">
                  <c:v>12900</c:v>
                </c:pt>
                <c:pt idx="33">
                  <c:v>3520</c:v>
                </c:pt>
                <c:pt idx="34">
                  <c:v>3650</c:v>
                </c:pt>
                <c:pt idx="35">
                  <c:v>16900</c:v>
                </c:pt>
                <c:pt idx="36">
                  <c:v>4860</c:v>
                </c:pt>
                <c:pt idx="37">
                  <c:v>28500</c:v>
                </c:pt>
                <c:pt idx="38">
                  <c:v>7410</c:v>
                </c:pt>
                <c:pt idx="39">
                  <c:v>1780</c:v>
                </c:pt>
              </c:numCache>
            </c:numRef>
          </c:xVal>
          <c:yVal>
            <c:numRef>
              <c:f>'Chart Data'!$F$2:$F$41</c:f>
              <c:numCache>
                <c:formatCode>General</c:formatCode>
                <c:ptCount val="40"/>
                <c:pt idx="0">
                  <c:v>62</c:v>
                </c:pt>
                <c:pt idx="1">
                  <c:v>72</c:v>
                </c:pt>
                <c:pt idx="2">
                  <c:v>64</c:v>
                </c:pt>
                <c:pt idx="3">
                  <c:v>76</c:v>
                </c:pt>
                <c:pt idx="4">
                  <c:v>73</c:v>
                </c:pt>
                <c:pt idx="5">
                  <c:v>73</c:v>
                </c:pt>
                <c:pt idx="6">
                  <c:v>69</c:v>
                </c:pt>
                <c:pt idx="7">
                  <c:v>77</c:v>
                </c:pt>
                <c:pt idx="8">
                  <c:v>80</c:v>
                </c:pt>
                <c:pt idx="9">
                  <c:v>72</c:v>
                </c:pt>
                <c:pt idx="10">
                  <c:v>70</c:v>
                </c:pt>
                <c:pt idx="11">
                  <c:v>69</c:v>
                </c:pt>
                <c:pt idx="12">
                  <c:v>70</c:v>
                </c:pt>
                <c:pt idx="13">
                  <c:v>82</c:v>
                </c:pt>
                <c:pt idx="14">
                  <c:v>77</c:v>
                </c:pt>
                <c:pt idx="15">
                  <c:v>78</c:v>
                </c:pt>
                <c:pt idx="16">
                  <c:v>71</c:v>
                </c:pt>
                <c:pt idx="17">
                  <c:v>75</c:v>
                </c:pt>
                <c:pt idx="18">
                  <c:v>75</c:v>
                </c:pt>
                <c:pt idx="19">
                  <c:v>78</c:v>
                </c:pt>
                <c:pt idx="20">
                  <c:v>68</c:v>
                </c:pt>
                <c:pt idx="21">
                  <c:v>69</c:v>
                </c:pt>
                <c:pt idx="22">
                  <c:v>70</c:v>
                </c:pt>
                <c:pt idx="23">
                  <c:v>73</c:v>
                </c:pt>
                <c:pt idx="24">
                  <c:v>70</c:v>
                </c:pt>
                <c:pt idx="25">
                  <c:v>65</c:v>
                </c:pt>
                <c:pt idx="26">
                  <c:v>74</c:v>
                </c:pt>
                <c:pt idx="27">
                  <c:v>72</c:v>
                </c:pt>
                <c:pt idx="28">
                  <c:v>74</c:v>
                </c:pt>
                <c:pt idx="29">
                  <c:v>73</c:v>
                </c:pt>
                <c:pt idx="30">
                  <c:v>83</c:v>
                </c:pt>
                <c:pt idx="31">
                  <c:v>82</c:v>
                </c:pt>
                <c:pt idx="32">
                  <c:v>77</c:v>
                </c:pt>
                <c:pt idx="33">
                  <c:v>74</c:v>
                </c:pt>
                <c:pt idx="34">
                  <c:v>66</c:v>
                </c:pt>
                <c:pt idx="35">
                  <c:v>78</c:v>
                </c:pt>
                <c:pt idx="36">
                  <c:v>70</c:v>
                </c:pt>
                <c:pt idx="37">
                  <c:v>76</c:v>
                </c:pt>
                <c:pt idx="38">
                  <c:v>67</c:v>
                </c:pt>
                <c:pt idx="39">
                  <c:v>67</c:v>
                </c:pt>
              </c:numCache>
            </c:numRef>
          </c:yVal>
        </c:ser>
        <c:ser>
          <c:idx val="3"/>
          <c:order val="3"/>
          <c:tx>
            <c:v>Europe</c:v>
          </c:tx>
          <c:spPr>
            <a:ln xmlns:a="http://schemas.openxmlformats.org/drawingml/2006/main" w="0">
              <a:noFill/>
            </a:ln>
          </c:spPr>
          <c:marker>
            <c:symbol val="circle"/>
            <c:size val="7"/>
            <c:spPr>
              <a:solidFill xmlns:a="http://schemas.openxmlformats.org/drawingml/2006/main">
                <a:srgbClr val="DBD8D2"/>
              </a:solidFill>
            </c:spPr>
          </c:marker>
          <c:xVal>
            <c:numRef>
              <c:f>'Chart Data'!$G$2:$G$40</c:f>
              <c:numCache>
                <c:formatCode>General</c:formatCode>
                <c:ptCount val="39"/>
                <c:pt idx="0">
                  <c:v>13300</c:v>
                </c:pt>
                <c:pt idx="1">
                  <c:v>49700</c:v>
                </c:pt>
                <c:pt idx="2">
                  <c:v>52100</c:v>
                </c:pt>
                <c:pt idx="3">
                  <c:v>19200</c:v>
                </c:pt>
                <c:pt idx="4">
                  <c:v>48700</c:v>
                </c:pt>
                <c:pt idx="5">
                  <c:v>14600</c:v>
                </c:pt>
                <c:pt idx="6">
                  <c:v>22500</c:v>
                </c:pt>
                <c:pt idx="7">
                  <c:v>27000</c:v>
                </c:pt>
                <c:pt idx="8">
                  <c:v>38600</c:v>
                </c:pt>
                <c:pt idx="9">
                  <c:v>54500</c:v>
                </c:pt>
                <c:pt idx="10">
                  <c:v>36100</c:v>
                </c:pt>
                <c:pt idx="11">
                  <c:v>47500</c:v>
                </c:pt>
                <c:pt idx="12">
                  <c:v>42400</c:v>
                </c:pt>
                <c:pt idx="13">
                  <c:v>51600</c:v>
                </c:pt>
                <c:pt idx="14">
                  <c:v>26900</c:v>
                </c:pt>
                <c:pt idx="15">
                  <c:v>31300</c:v>
                </c:pt>
                <c:pt idx="16">
                  <c:v>51200</c:v>
                </c:pt>
                <c:pt idx="17">
                  <c:v>90100</c:v>
                </c:pt>
                <c:pt idx="18">
                  <c:v>38600</c:v>
                </c:pt>
                <c:pt idx="19">
                  <c:v>29800</c:v>
                </c:pt>
                <c:pt idx="20">
                  <c:v>37100</c:v>
                </c:pt>
                <c:pt idx="21">
                  <c:v>110000</c:v>
                </c:pt>
                <c:pt idx="22">
                  <c:v>40800</c:v>
                </c:pt>
                <c:pt idx="23">
                  <c:v>208000</c:v>
                </c:pt>
                <c:pt idx="24">
                  <c:v>18300</c:v>
                </c:pt>
                <c:pt idx="25">
                  <c:v>53600</c:v>
                </c:pt>
                <c:pt idx="26">
                  <c:v>63800</c:v>
                </c:pt>
                <c:pt idx="27">
                  <c:v>32500</c:v>
                </c:pt>
                <c:pt idx="28">
                  <c:v>32100</c:v>
                </c:pt>
                <c:pt idx="29">
                  <c:v>29100</c:v>
                </c:pt>
                <c:pt idx="30">
                  <c:v>26600</c:v>
                </c:pt>
                <c:pt idx="31">
                  <c:v>56400</c:v>
                </c:pt>
                <c:pt idx="32">
                  <c:v>18200</c:v>
                </c:pt>
                <c:pt idx="33">
                  <c:v>31000</c:v>
                </c:pt>
                <c:pt idx="34">
                  <c:v>37100</c:v>
                </c:pt>
                <c:pt idx="35">
                  <c:v>35700</c:v>
                </c:pt>
                <c:pt idx="36">
                  <c:v>51000</c:v>
                </c:pt>
                <c:pt idx="37">
                  <c:v>67000</c:v>
                </c:pt>
                <c:pt idx="38">
                  <c:v>12400</c:v>
                </c:pt>
              </c:numCache>
            </c:numRef>
          </c:xVal>
          <c:yVal>
            <c:numRef>
              <c:f>'Chart Data'!$H$2:$H$40</c:f>
              <c:numCache>
                <c:formatCode>General</c:formatCode>
                <c:ptCount val="39"/>
                <c:pt idx="0">
                  <c:v>76</c:v>
                </c:pt>
                <c:pt idx="1">
                  <c:v>78</c:v>
                </c:pt>
                <c:pt idx="2">
                  <c:v>81</c:v>
                </c:pt>
                <c:pt idx="3">
                  <c:v>72</c:v>
                </c:pt>
                <c:pt idx="4">
                  <c:v>80</c:v>
                </c:pt>
                <c:pt idx="5">
                  <c:v>76</c:v>
                </c:pt>
                <c:pt idx="6">
                  <c:v>72</c:v>
                </c:pt>
                <c:pt idx="7">
                  <c:v>77</c:v>
                </c:pt>
                <c:pt idx="8">
                  <c:v>78</c:v>
                </c:pt>
                <c:pt idx="9">
                  <c:v>81</c:v>
                </c:pt>
                <c:pt idx="10">
                  <c:v>77</c:v>
                </c:pt>
                <c:pt idx="11">
                  <c:v>81</c:v>
                </c:pt>
                <c:pt idx="12">
                  <c:v>82</c:v>
                </c:pt>
                <c:pt idx="13">
                  <c:v>80</c:v>
                </c:pt>
                <c:pt idx="14">
                  <c:v>80</c:v>
                </c:pt>
                <c:pt idx="15">
                  <c:v>75</c:v>
                </c:pt>
                <c:pt idx="16">
                  <c:v>84</c:v>
                </c:pt>
                <c:pt idx="17">
                  <c:v>82</c:v>
                </c:pt>
                <c:pt idx="18">
                  <c:v>82</c:v>
                </c:pt>
                <c:pt idx="19">
                  <c:v>75</c:v>
                </c:pt>
                <c:pt idx="20">
                  <c:v>75</c:v>
                </c:pt>
                <c:pt idx="21">
                  <c:v>82</c:v>
                </c:pt>
                <c:pt idx="22">
                  <c:v>82</c:v>
                </c:pt>
                <c:pt idx="23">
                  <c:v>80</c:v>
                </c:pt>
                <c:pt idx="24">
                  <c:v>75</c:v>
                </c:pt>
                <c:pt idx="25">
                  <c:v>81</c:v>
                </c:pt>
                <c:pt idx="26">
                  <c:v>83</c:v>
                </c:pt>
                <c:pt idx="27">
                  <c:v>77</c:v>
                </c:pt>
                <c:pt idx="28">
                  <c:v>81</c:v>
                </c:pt>
                <c:pt idx="29">
                  <c:v>74</c:v>
                </c:pt>
                <c:pt idx="30">
                  <c:v>70</c:v>
                </c:pt>
                <c:pt idx="31">
                  <c:v>78</c:v>
                </c:pt>
                <c:pt idx="32">
                  <c:v>74</c:v>
                </c:pt>
                <c:pt idx="33">
                  <c:v>76</c:v>
                </c:pt>
                <c:pt idx="34">
                  <c:v>80</c:v>
                </c:pt>
                <c:pt idx="35">
                  <c:v>81</c:v>
                </c:pt>
                <c:pt idx="36">
                  <c:v>82</c:v>
                </c:pt>
                <c:pt idx="37">
                  <c:v>83</c:v>
                </c:pt>
                <c:pt idx="38">
                  <c:v>71</c:v>
                </c:pt>
              </c:numCache>
            </c:numRef>
          </c:yVal>
        </c:ser>
        <c:ser>
          <c:idx val="4"/>
          <c:order val="4"/>
          <c:tx>
            <c:v>Oceania</c:v>
          </c:tx>
          <c:spPr>
            <a:ln xmlns:a="http://schemas.openxmlformats.org/drawingml/2006/main" w="0">
              <a:noFill/>
            </a:ln>
          </c:spPr>
          <c:marker>
            <c:symbol val="circle"/>
            <c:size val="7"/>
            <c:spPr>
              <a:solidFill xmlns:a="http://schemas.openxmlformats.org/drawingml/2006/main">
                <a:srgbClr val="DBD8D2"/>
              </a:solidFill>
            </c:spPr>
          </c:marker>
          <c:xVal>
            <c:numRef>
              <c:f>'Chart Data'!$I$2:$I$14</c:f>
              <c:numCache>
                <c:formatCode>General</c:formatCode>
                <c:ptCount val="13"/>
                <c:pt idx="0">
                  <c:v>48800</c:v>
                </c:pt>
                <c:pt idx="1">
                  <c:v>10900</c:v>
                </c:pt>
                <c:pt idx="2">
                  <c:v>1880</c:v>
                </c:pt>
                <c:pt idx="3">
                  <c:v>5710</c:v>
                </c:pt>
                <c:pt idx="4">
                  <c:v>10400</c:v>
                </c:pt>
                <c:pt idx="5">
                  <c:v>42300</c:v>
                </c:pt>
                <c:pt idx="6">
                  <c:v>16100</c:v>
                </c:pt>
                <c:pt idx="7">
                  <c:v>3770</c:v>
                </c:pt>
                <c:pt idx="8">
                  <c:v>6060</c:v>
                </c:pt>
                <c:pt idx="9">
                  <c:v>2390</c:v>
                </c:pt>
                <c:pt idx="10">
                  <c:v>6360</c:v>
                </c:pt>
                <c:pt idx="11">
                  <c:v>4580</c:v>
                </c:pt>
                <c:pt idx="12">
                  <c:v>2910</c:v>
                </c:pt>
              </c:numCache>
            </c:numRef>
          </c:xVal>
          <c:yVal>
            <c:numRef>
              <c:f>'Chart Data'!$J$2:$J$14</c:f>
              <c:numCache>
                <c:formatCode>General</c:formatCode>
                <c:ptCount val="13"/>
                <c:pt idx="0">
                  <c:v>84</c:v>
                </c:pt>
                <c:pt idx="1">
                  <c:v>68</c:v>
                </c:pt>
                <c:pt idx="2">
                  <c:v>60</c:v>
                </c:pt>
                <c:pt idx="3">
                  <c:v>65</c:v>
                </c:pt>
                <c:pt idx="4">
                  <c:v>63</c:v>
                </c:pt>
                <c:pt idx="5">
                  <c:v>82</c:v>
                </c:pt>
                <c:pt idx="6">
                  <c:v>68</c:v>
                </c:pt>
                <c:pt idx="7">
                  <c:v>65</c:v>
                </c:pt>
                <c:pt idx="8">
                  <c:v>71</c:v>
                </c:pt>
                <c:pt idx="9">
                  <c:v>59</c:v>
                </c:pt>
                <c:pt idx="10">
                  <c:v>73</c:v>
                </c:pt>
                <c:pt idx="11">
                  <c:v>68</c:v>
                </c:pt>
                <c:pt idx="12">
                  <c:v>65</c:v>
                </c:pt>
              </c:numCache>
            </c:numRef>
          </c:yVal>
        </c:ser>
        <c:ser>
          <c:idx val="5"/>
          <c:order val="5"/>
          <c:tx>
            <c:v>Unknown</c:v>
          </c:tx>
          <c:spPr>
            <a:ln xmlns:a="http://schemas.openxmlformats.org/drawingml/2006/main" w="0">
              <a:noFill/>
            </a:ln>
          </c:spPr>
          <c:marker>
            <c:symbol val="circle"/>
            <c:size val="7"/>
            <c:spPr>
              <a:solidFill xmlns:a="http://schemas.openxmlformats.org/drawingml/2006/main">
                <a:srgbClr val="DBD8D2"/>
              </a:solidFill>
            </c:spPr>
          </c:marker>
          <c:xVal>
            <c:numRef>
              <c:f>'Chart Data'!$K$2:$K$18</c:f>
              <c:numCache>
                <c:formatCode>General</c:formatCode>
                <c:ptCount val="17"/>
                <c:pt idx="0">
                  <c:v>7680</c:v>
                </c:pt>
                <c:pt idx="1">
                  <c:v>61600</c:v>
                </c:pt>
                <c:pt idx="2">
                  <c:v>6220</c:v>
                </c:pt>
                <c:pt idx="3">
                  <c:v>3280</c:v>
                </c:pt>
                <c:pt idx="4">
                  <c:v>14400</c:v>
                </c:pt>
                <c:pt idx="5">
                  <c:v>25600</c:v>
                </c:pt>
                <c:pt idx="6">
                  <c:v>7760</c:v>
                </c:pt>
                <c:pt idx="7">
                  <c:v>3250</c:v>
                </c:pt>
                <c:pt idx="8">
                  <c:v>11800</c:v>
                </c:pt>
                <c:pt idx="9">
                  <c:v>15800</c:v>
                </c:pt>
                <c:pt idx="10">
                  <c:v>26300</c:v>
                </c:pt>
                <c:pt idx="11">
                  <c:v>53100</c:v>
                </c:pt>
                <c:pt idx="12">
                  <c:v>15200</c:v>
                </c:pt>
                <c:pt idx="13">
                  <c:v>67400</c:v>
                </c:pt>
                <c:pt idx="14">
                  <c:v>41300</c:v>
                </c:pt>
                <c:pt idx="15">
                  <c:v>60200</c:v>
                </c:pt>
                <c:pt idx="16">
                  <c:v>10500</c:v>
                </c:pt>
              </c:numCache>
            </c:numRef>
          </c:xVal>
          <c:yVal>
            <c:numRef>
              <c:f>'Chart Data'!$L$2:$L$18</c:f>
              <c:numCache>
                <c:formatCode>General</c:formatCode>
                <c:ptCount val="17"/>
                <c:pt idx="0">
                  <c:v>68</c:v>
                </c:pt>
                <c:pt idx="1">
                  <c:v>74</c:v>
                </c:pt>
                <c:pt idx="2">
                  <c:v>72</c:v>
                </c:pt>
                <c:pt idx="3">
                  <c:v>66</c:v>
                </c:pt>
                <c:pt idx="4">
                  <c:v>76</c:v>
                </c:pt>
                <c:pt idx="5">
                  <c:v>70</c:v>
                </c:pt>
                <c:pt idx="6">
                  <c:v>69</c:v>
                </c:pt>
                <c:pt idx="7">
                  <c:v>63</c:v>
                </c:pt>
                <c:pt idx="8">
                  <c:v>73</c:v>
                </c:pt>
                <c:pt idx="9">
                  <c:v>72</c:v>
                </c:pt>
                <c:pt idx="10">
                  <c:v>72</c:v>
                </c:pt>
                <c:pt idx="11">
                  <c:v>80</c:v>
                </c:pt>
                <c:pt idx="12">
                  <c:v>70</c:v>
                </c:pt>
                <c:pt idx="13">
                  <c:v>73</c:v>
                </c:pt>
                <c:pt idx="14">
                  <c:v>79</c:v>
                </c:pt>
                <c:pt idx="15">
                  <c:v>77</c:v>
                </c:pt>
                <c:pt idx="16">
                  <c:v>75</c:v>
                </c:pt>
              </c:numCache>
            </c:numRef>
          </c:yVal>
        </c:ser>
        <c:ser>
          <c:idx val="6"/>
          <c:order val="6"/>
          <c:tx>
            <c:v>Japan</c:v>
          </c:tx>
          <c:spPr>
            <a:ln xmlns:a="http://schemas.openxmlformats.org/drawingml/2006/main" w="0">
              <a:noFill/>
            </a:ln>
          </c:spPr>
          <c:marker>
            <c:symbol val="circle"/>
            <c:size val="7"/>
            <c:spPr>
              <a:solidFill xmlns:a="http://schemas.openxmlformats.org/drawingml/2006/main">
                <a:srgbClr val="B23C50"/>
              </a:solidFill>
            </c:spPr>
          </c:marker>
          <c:dLbls>
            <c:dLbl>
              <c:idx val="0"/>
              <c:tx>
                <c:rich>
                  <a:bodyPr xmlns:a="http://schemas.openxmlformats.org/drawingml/2006/main"/>
                  <a:lstStyle xmlns:a="http://schemas.openxmlformats.org/drawingml/2006/main"/>
                  <a:p xmlns:a="http://schemas.openxmlformats.org/drawingml/2006/main">
                    <a:r>
                      <a:rPr sz="1425">
                        <a:solidFill>
                          <a:srgbClr val="B23C50"/>
                        </a:solidFill>
                        <a:latin typeface="Ubuntu Condensed"/>
                        <a:ea typeface="Ubuntu Condensed"/>
                        <a:cs typeface="Ubuntu Condensed"/>
                      </a:rPr>
                      <a:t>Japan</a:t>
                    </a:r>
                  </a:p>
                </c:rich>
              </c:tx>
              <c:txPr>
                <a:bodyPr xmlns:a="http://schemas.openxmlformats.org/drawingml/2006/main" anchorCtr="1"/>
                <a:lstStyle xmlns:a="http://schemas.openxmlformats.org/drawingml/2006/main"/>
                <a:p xmlns:a="http://schemas.openxmlformats.org/drawingml/2006/main">
                  <a:pPr>
                    <a:defRPr sz="1425">
                      <a:solidFill>
                        <a:srgbClr val="B23C50"/>
                      </a:solidFill>
                      <a:latin typeface="Ubuntu Condensed"/>
                      <a:ea typeface="Ubuntu Condensed"/>
                      <a:cs typeface="Ubuntu Condensed"/>
                    </a:defRPr>
                  </a:pPr>
                </a:p>
              </c:txPr>
              <c:dLblPos val="t"/>
              <c:showVal val="0"/>
            </c:dLbl>
          </c:dLbls>
          <c:xVal>
            <c:numRef>
              <c:f>'Chart Data'!$M$2:$M$2</c:f>
              <c:numCache>
                <c:formatCode>General</c:formatCode>
                <c:ptCount val="1"/>
                <c:pt idx="0">
                  <c:v>39800</c:v>
                </c:pt>
              </c:numCache>
            </c:numRef>
          </c:xVal>
          <c:yVal>
            <c:numRef>
              <c:f>'Chart Data'!$N$2:$N$2</c:f>
              <c:numCache>
                <c:formatCode>General</c:formatCode>
                <c:ptCount val="1"/>
                <c:pt idx="0">
                  <c:v>85</c:v>
                </c:pt>
              </c:numCache>
            </c:numRef>
          </c:y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scatterChart>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425">
                    <a:solidFill>
                      <a:srgbClr val="38332E"/>
                    </a:solidFill>
                    <a:latin typeface="Ubuntu Condensed"/>
                    <a:ea typeface="Ubuntu Condensed"/>
                    <a:cs typeface="Ubuntu Condensed"/>
                  </a:rPr>
                  <a:t>Life Expectancy</a:t>
                </a:r>
              </a:p>
            </c:rich>
          </c:tx>
          <c:overlay val="0"/>
          <c:txPr>
            <a:bodyPr xmlns:a="http://schemas.openxmlformats.org/drawingml/2006/main" anchorCtr="1"/>
            <a:lstStyle xmlns:a="http://schemas.openxmlformats.org/drawingml/2006/main"/>
            <a:p xmlns:a="http://schemas.openxmlformats.org/drawingml/2006/main">
              <a:pPr>
                <a:defRPr sz="1425">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425">
                <a:solidFill>
                  <a:srgbClr val="81796F"/>
                </a:solidFill>
                <a:latin typeface="Ubuntu Condensed"/>
                <a:ea typeface="Ubuntu Condensed"/>
                <a:cs typeface="Ubuntu Condensed"/>
              </a:defRPr>
            </a:pPr>
          </a:p>
        </c:txPr>
        <c:crossAx val="48650112"/>
        <c:majorUnit val="10"/>
      </c:valAx>
      <c:valAx>
        <c:axId val="48650112"/>
        <c:scaling>
          <c:orientation val="minMax"/>
          <c:max val="220000"/>
          <c:min val="0"/>
        </c:scaling>
        <c:delete val="0"/>
        <c:axPos val="b"/>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425">
                    <a:solidFill>
                      <a:srgbClr val="38332E"/>
                    </a:solidFill>
                    <a:latin typeface="Ubuntu Condensed"/>
                    <a:ea typeface="Ubuntu Condensed"/>
                    <a:cs typeface="Ubuntu Condensed"/>
                  </a:rPr>
                  <a:t>GDP</a:t>
                </a:r>
              </a:p>
            </c:rich>
          </c:tx>
          <c:overlay val="0"/>
          <c:txPr>
            <a:bodyPr xmlns:a="http://schemas.openxmlformats.org/drawingml/2006/main" anchorCtr="1"/>
            <a:lstStyle xmlns:a="http://schemas.openxmlformats.org/drawingml/2006/main"/>
            <a:p xmlns:a="http://schemas.openxmlformats.org/drawingml/2006/main">
              <a:pPr>
                <a:defRPr sz="1425">
                  <a:solidFill>
                    <a:srgbClr val="38332E"/>
                  </a:solidFill>
                  <a:latin typeface="Ubuntu Condensed"/>
                  <a:ea typeface="Ubuntu Condensed"/>
                  <a:cs typeface="Ubuntu Condensed"/>
                </a:defRPr>
              </a:pPr>
            </a:p>
          </c:txPr>
        </c:title>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425">
                <a:solidFill>
                  <a:srgbClr val="81796F"/>
                </a:solidFill>
                <a:latin typeface="Ubuntu Condensed"/>
                <a:ea typeface="Ubuntu Condensed"/>
                <a:cs typeface="Ubuntu Condensed"/>
              </a:defRPr>
            </a:pPr>
          </a:p>
        </c:txPr>
        <c:crossAx val="48672768"/>
        <c:majorUnit val="10000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249D605-71B9-4C62-B4CF-A9AADE0D2F33}"/>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Today's tip: a Tableau dashboard</a:t>
            </a:r>
          </a:p>
        </p:txBody>
      </p:sp>
      <p:sp>
        <p:nvSpPr>
          <p:cNvPr id="2" name="">
            <a:extLst xmlns:a="http://schemas.openxmlformats.org/drawingml/2006/main">
              <a:ext uri="{FF2B5EF4-FFF2-40B4-BE49-F238E27FC236}">
                <a16:creationId xmlns:a16="http://schemas.microsoft.com/office/drawing/2014/main" id="{2D39E979-7536-4CEB-BB3D-C645E489BE3E}"/>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Last week’s Gapminder chart, connected to a country’s history</a:t>
            </a:r>
          </a:p>
        </p:txBody>
      </p:sp>
      <p:sp>
        <p:nvSpPr>
          <p:cNvPr id="3" name="">
            <a:extLst xmlns:a="http://schemas.openxmlformats.org/drawingml/2006/main">
              <a:ext uri="{FF2B5EF4-FFF2-40B4-BE49-F238E27FC236}">
                <a16:creationId xmlns:a16="http://schemas.microsoft.com/office/drawing/2014/main" id="{6349A6F6-C46D-44CE-8137-BF01CB716AD1}"/>
              </a:ext>
            </a:extLst>
          </p:cNvPr>
          <p:cNvSpPr>
            <a:spLocks xmlns:a="http://schemas.openxmlformats.org/drawingml/2006/main" noGrp="1"/>
          </p:cNvSpPr>
          <p:nvPr/>
        </p:nvSpPr>
        <p:spPr>
          <a:xfrm xmlns:a="http://schemas.openxmlformats.org/drawingml/2006/main">
            <a:off x="457200" y="1638300"/>
            <a:ext cx="657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38332E"/>
                </a:solidFill>
                <a:latin typeface="Ubuntu Condensed"/>
                <a:ea typeface="Ubuntu Condensed"/>
                <a:cs typeface="Ubuntu Condensed"/>
              </a:defRPr>
            </a:defPPr>
          </a:lstStyle>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WORLD IN 2020</a:t>
            </a:r>
          </a:p>
        </p:txBody>
      </p:sp>
      <p:sp>
        <p:nvSpPr>
          <p:cNvPr id="4" name="">
            <a:extLst xmlns:a="http://schemas.openxmlformats.org/drawingml/2006/main">
              <a:ext uri="{FF2B5EF4-FFF2-40B4-BE49-F238E27FC236}">
                <a16:creationId xmlns:a16="http://schemas.microsoft.com/office/drawing/2014/main" id="{6D4C1F8E-C0D8-4D2E-99A1-6F236A49E4F4}"/>
              </a:ext>
            </a:extLst>
          </p:cNvPr>
          <p:cNvSpPr>
            <a:spLocks xmlns:a="http://schemas.openxmlformats.org/drawingml/2006/main" noGrp="1"/>
          </p:cNvSpPr>
          <p:nvPr/>
        </p:nvSpPr>
        <p:spPr>
          <a:xfrm xmlns:a="http://schemas.openxmlformats.org/drawingml/2006/main">
            <a:off x="8039100" y="1638300"/>
            <a:ext cx="3714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JAPAN SELECTED</a:t>
            </a:r>
          </a:p>
        </p:txBody>
      </p:sp>
      <p:graphicFrame>
        <p:nvGraphicFramePr>
          <p:cNvPr id="5" name="Chart">
            <a:extLst xmlns:a="http://schemas.openxmlformats.org/drawingml/2006/main">
              <a:ext uri="{FF2B5EF4-FFF2-40B4-BE49-F238E27FC236}">
                <a16:creationId xmlns:a16="http://schemas.microsoft.com/office/drawing/2014/main" id="{E4DDA5A4-1BF0-437C-8CC0-EB39E8D0A82E}"/>
              </a:ext>
            </a:extLst>
          </p:cNvPr>
          <p:cNvGraphicFramePr/>
          <p:nvPr/>
        </p:nvGraphicFramePr>
        <p:xfrm>
          <a:off xmlns:a="http://schemas.openxmlformats.org/drawingml/2006/main" x="228600" y="2152650"/>
          <a:ext xmlns:a="http://schemas.openxmlformats.org/drawingml/2006/main" cx="7562850" cy="3829050"/>
        </p:xfrm>
        <a:graphic xmlns:a="http://schemas.openxmlformats.org/drawingml/2006/main">
          <a:graphicData uri="http://schemas.openxmlformats.org/drawingml/2006/chart">
            <c:chart xmlns:r="http://schemas.openxmlformats.org/officeDocument/2006/relationships" xmlns:c="http://schemas.openxmlformats.org/drawingml/2006/chart" r:id="R8589705092bf4b46"/>
          </a:graphicData>
        </a:graphic>
      </p:graphicFrame>
      <p:sp>
        <p:nvSpPr>
          <p:cNvPr id="6" name="">
            <a:extLst xmlns:a="http://schemas.openxmlformats.org/drawingml/2006/main">
              <a:ext uri="{FF2B5EF4-FFF2-40B4-BE49-F238E27FC236}">
                <a16:creationId xmlns:a16="http://schemas.microsoft.com/office/drawing/2014/main" id="{E5A5731C-D0CE-403A-85C8-C430219DDC52}"/>
              </a:ext>
            </a:extLst>
          </p:cNvPr>
          <p:cNvSpPr>
            <a:spLocks xmlns:a="http://schemas.openxmlformats.org/drawingml/2006/main" noGrp="1"/>
          </p:cNvSpPr>
          <p:nvPr/>
        </p:nvSpPr>
        <p:spPr>
          <a:xfrm xmlns:a="http://schemas.openxmlformats.org/drawingml/2006/main">
            <a:off x="8143875" y="2152650"/>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a:solidFill>
                  <a:srgbClr val="38332E"/>
                </a:solidFill>
                <a:latin typeface="Ubuntu Condensed"/>
                <a:ea typeface="Ubuntu Condensed"/>
                <a:cs typeface="Ubuntu Condensed"/>
              </a:defRPr>
            </a:defPPr>
          </a:lstStyle>
          <a:p xmlns:a="http://schemas.openxmlformats.org/drawingml/2006/main">
            <a:pP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Life expectancy</a:t>
            </a:r>
          </a:p>
        </p:txBody>
      </p:sp>
      <p:graphicFrame>
        <p:nvGraphicFramePr>
          <p:cNvPr id="7" name="Chart">
            <a:extLst xmlns:a="http://schemas.openxmlformats.org/drawingml/2006/main">
              <a:ext uri="{FF2B5EF4-FFF2-40B4-BE49-F238E27FC236}">
                <a16:creationId xmlns:a16="http://schemas.microsoft.com/office/drawing/2014/main" id="{5B22A62D-B6A8-454B-94E8-A7FDD60C3A45}"/>
              </a:ext>
            </a:extLst>
          </p:cNvPr>
          <p:cNvGraphicFramePr/>
          <p:nvPr/>
        </p:nvGraphicFramePr>
        <p:xfrm>
          <a:off xmlns:a="http://schemas.openxmlformats.org/drawingml/2006/main" x="7905750" y="2552700"/>
          <a:ext xmlns:a="http://schemas.openxmlformats.org/drawingml/2006/main" cx="3810000" cy="1381125"/>
        </p:xfrm>
        <a:graphic xmlns:a="http://schemas.openxmlformats.org/drawingml/2006/main">
          <a:graphicData uri="http://schemas.openxmlformats.org/drawingml/2006/chart">
            <c:chart xmlns:r="http://schemas.openxmlformats.org/officeDocument/2006/relationships" xmlns:c="http://schemas.openxmlformats.org/drawingml/2006/chart" r:id="Ra43629a6f380478f"/>
          </a:graphicData>
        </a:graphic>
      </p:graphicFrame>
      <p:sp>
        <p:nvSpPr>
          <p:cNvPr id="8" name="">
            <a:extLst xmlns:a="http://schemas.openxmlformats.org/drawingml/2006/main">
              <a:ext uri="{FF2B5EF4-FFF2-40B4-BE49-F238E27FC236}">
                <a16:creationId xmlns:a16="http://schemas.microsoft.com/office/drawing/2014/main" id="{1C89F9F8-F1D6-44EE-AE01-BCCEEDA37D2E}"/>
              </a:ext>
            </a:extLst>
          </p:cNvPr>
          <p:cNvSpPr>
            <a:spLocks xmlns:a="http://schemas.openxmlformats.org/drawingml/2006/main" noGrp="1"/>
          </p:cNvSpPr>
          <p:nvPr/>
        </p:nvSpPr>
        <p:spPr>
          <a:xfrm xmlns:a="http://schemas.openxmlformats.org/drawingml/2006/main">
            <a:off x="8143875" y="4210050"/>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a:solidFill>
                  <a:srgbClr val="38332E"/>
                </a:solidFill>
                <a:latin typeface="Ubuntu Condensed"/>
                <a:ea typeface="Ubuntu Condensed"/>
                <a:cs typeface="Ubuntu Condensed"/>
              </a:defRPr>
            </a:defPPr>
          </a:lstStyle>
          <a:p xmlns:a="http://schemas.openxmlformats.org/drawingml/2006/main">
            <a:pP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GDP</a:t>
            </a:r>
          </a:p>
        </p:txBody>
      </p:sp>
      <p:graphicFrame>
        <p:nvGraphicFramePr>
          <p:cNvPr id="9" name="Chart">
            <a:extLst xmlns:a="http://schemas.openxmlformats.org/drawingml/2006/main">
              <a:ext uri="{FF2B5EF4-FFF2-40B4-BE49-F238E27FC236}">
                <a16:creationId xmlns:a16="http://schemas.microsoft.com/office/drawing/2014/main" id="{3B19A254-7CC8-49D9-8258-A3F991B4A239}"/>
              </a:ext>
            </a:extLst>
          </p:cNvPr>
          <p:cNvGraphicFramePr/>
          <p:nvPr/>
        </p:nvGraphicFramePr>
        <p:xfrm>
          <a:off xmlns:a="http://schemas.openxmlformats.org/drawingml/2006/main" x="7905750" y="4572000"/>
          <a:ext xmlns:a="http://schemas.openxmlformats.org/drawingml/2006/main" cx="3810000" cy="1381125"/>
        </p:xfrm>
        <a:graphic xmlns:a="http://schemas.openxmlformats.org/drawingml/2006/main">
          <a:graphicData uri="http://schemas.openxmlformats.org/drawingml/2006/chart">
            <c:chart xmlns:r="http://schemas.openxmlformats.org/officeDocument/2006/relationships" xmlns:c="http://schemas.openxmlformats.org/drawingml/2006/chart" r:id="R0a3f7415c12e4ffd"/>
          </a:graphicData>
        </a:graphic>
      </p:graphicFrame>
      <p:sp>
        <p:nvSpPr>
          <p:cNvPr id="10" name="">
            <a:extLst xmlns:a="http://schemas.openxmlformats.org/drawingml/2006/main">
              <a:ext uri="{FF2B5EF4-FFF2-40B4-BE49-F238E27FC236}">
                <a16:creationId xmlns:a16="http://schemas.microsoft.com/office/drawing/2014/main" id="{5112435A-3FB6-457E-85E6-E77D2B99A39D}"/>
              </a:ext>
            </a:extLst>
          </p:cNvPr>
          <p:cNvSpPr>
            <a:spLocks xmlns:a="http://schemas.openxmlformats.org/drawingml/2006/main" noGrp="1"/>
          </p:cNvSpPr>
          <p:nvPr/>
        </p:nvSpPr>
        <p:spPr>
          <a:xfrm xmlns:a="http://schemas.openxmlformats.org/drawingml/2006/main">
            <a:off x="8458200" y="3981450"/>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1960</a:t>
            </a:r>
          </a:p>
        </p:txBody>
      </p:sp>
      <p:sp>
        <p:nvSpPr>
          <p:cNvPr id="11" name="">
            <a:extLst xmlns:a="http://schemas.openxmlformats.org/drawingml/2006/main">
              <a:ext uri="{FF2B5EF4-FFF2-40B4-BE49-F238E27FC236}">
                <a16:creationId xmlns:a16="http://schemas.microsoft.com/office/drawing/2014/main" id="{3F75F268-C625-4B9B-BEB9-74AB1FD44AC7}"/>
              </a:ext>
            </a:extLst>
          </p:cNvPr>
          <p:cNvSpPr>
            <a:spLocks xmlns:a="http://schemas.openxmlformats.org/drawingml/2006/main" noGrp="1"/>
          </p:cNvSpPr>
          <p:nvPr/>
        </p:nvSpPr>
        <p:spPr>
          <a:xfrm xmlns:a="http://schemas.openxmlformats.org/drawingml/2006/main">
            <a:off x="11001375" y="398145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2020</a:t>
            </a:r>
          </a:p>
        </p:txBody>
      </p:sp>
      <p:sp>
        <p:nvSpPr>
          <p:cNvPr id="12" name="">
            <a:extLst xmlns:a="http://schemas.openxmlformats.org/drawingml/2006/main">
              <a:ext uri="{FF2B5EF4-FFF2-40B4-BE49-F238E27FC236}">
                <a16:creationId xmlns:a16="http://schemas.microsoft.com/office/drawing/2014/main" id="{0C87B709-E85E-4F9B-87F2-B56FF91B6AF7}"/>
              </a:ext>
            </a:extLst>
          </p:cNvPr>
          <p:cNvSpPr>
            <a:spLocks xmlns:a="http://schemas.openxmlformats.org/drawingml/2006/main" noGrp="1"/>
          </p:cNvSpPr>
          <p:nvPr/>
        </p:nvSpPr>
        <p:spPr>
          <a:xfrm xmlns:a="http://schemas.openxmlformats.org/drawingml/2006/main">
            <a:off x="8458200" y="6000750"/>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1960</a:t>
            </a:r>
          </a:p>
        </p:txBody>
      </p:sp>
      <p:sp>
        <p:nvSpPr>
          <p:cNvPr id="13" name="">
            <a:extLst xmlns:a="http://schemas.openxmlformats.org/drawingml/2006/main">
              <a:ext uri="{FF2B5EF4-FFF2-40B4-BE49-F238E27FC236}">
                <a16:creationId xmlns:a16="http://schemas.microsoft.com/office/drawing/2014/main" id="{EF752CDD-3B75-4131-B0C8-AEE01848B420}"/>
              </a:ext>
            </a:extLst>
          </p:cNvPr>
          <p:cNvSpPr>
            <a:spLocks xmlns:a="http://schemas.openxmlformats.org/drawingml/2006/main" noGrp="1"/>
          </p:cNvSpPr>
          <p:nvPr/>
        </p:nvSpPr>
        <p:spPr>
          <a:xfrm xmlns:a="http://schemas.openxmlformats.org/drawingml/2006/main">
            <a:off x="11001375" y="600075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2020</a:t>
            </a:r>
          </a:p>
        </p:txBody>
      </p:sp>
      <p:sp>
        <p:nvSpPr>
          <p:cNvPr id="14" name="">
            <a:extLst xmlns:a="http://schemas.openxmlformats.org/drawingml/2006/main">
              <a:ext uri="{FF2B5EF4-FFF2-40B4-BE49-F238E27FC236}">
                <a16:creationId xmlns:a16="http://schemas.microsoft.com/office/drawing/2014/main" id="{A7F11816-B373-480F-9A21-CEE15BCCC392}"/>
              </a:ext>
            </a:extLst>
          </p:cNvPr>
          <p:cNvSpPr>
            <a:spLocks xmlns:a="http://schemas.openxmlformats.org/drawingml/2006/main" noGrp="1"/>
          </p:cNvSpPr>
          <p:nvPr/>
        </p:nvSpPr>
        <p:spPr>
          <a:xfrm xmlns:a="http://schemas.openxmlformats.org/drawingml/2006/main">
            <a:off x="457200" y="6362700"/>
            <a:ext cx="1133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B23C50"/>
                </a:solidFill>
                <a:latin typeface="Ubuntu Condensed"/>
                <a:ea typeface="Ubuntu Condensed"/>
                <a:cs typeface="Ubuntu Condensed"/>
              </a:defRPr>
            </a:defPPr>
          </a:lstStyle>
          <a:p xmlns:a="http://schemas.openxmlformats.org/drawingml/2006/main">
            <a:pPr>
              <a:defRPr sz="1875">
                <a:solidFill>
                  <a:srgbClr val="B23C50"/>
                </a:solidFill>
                <a:latin typeface="Ubuntu Condensed"/>
                <a:ea typeface="Ubuntu Condensed"/>
                <a:cs typeface="Ubuntu Condensed"/>
              </a:defRPr>
            </a:pPr>
            <a:r>
              <a:rPr sz="1875">
                <a:solidFill>
                  <a:srgbClr val="B23C50"/>
                </a:solidFill>
                <a:latin typeface="Ubuntu Condensed"/>
                <a:ea typeface="Ubuntu Condensed"/>
                <a:cs typeface="Ubuntu Condensed"/>
              </a:rPr>
              <a:t>Click a country in the overview. Explore its history on the right.</a:t>
            </a:r>
          </a:p>
        </p:txBody>
      </p:sp>
    </p:spTree>
    <p:extLst>
      <p:ext uri="{BB962C8B-B14F-4D97-AF65-F5344CB8AC3E}">
        <p14:creationId xmlns:p14="http://schemas.microsoft.com/office/powerpoint/2010/main" val="55457777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064FFDBC-E867-4D0F-BDB8-F811DE900EED}"/>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The three worksheets</a:t>
            </a:r>
          </a:p>
        </p:txBody>
      </p:sp>
      <p:sp>
        <p:nvSpPr>
          <p:cNvPr id="2" name="">
            <a:extLst xmlns:a="http://schemas.openxmlformats.org/drawingml/2006/main">
              <a:ext uri="{FF2B5EF4-FFF2-40B4-BE49-F238E27FC236}">
                <a16:creationId xmlns:a16="http://schemas.microsoft.com/office/drawing/2014/main" id="{2801327F-4278-40C0-B047-1D6B9DE02F6C}"/>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Right-click Year in the Data pane: Convert to Dimension</a:t>
            </a:r>
          </a:p>
        </p:txBody>
      </p:sp>
      <p:sp>
        <p:nvSpPr>
          <p:cNvPr id="3" name="">
            <a:extLst xmlns:a="http://schemas.openxmlformats.org/drawingml/2006/main">
              <a:ext uri="{FF2B5EF4-FFF2-40B4-BE49-F238E27FC236}">
                <a16:creationId xmlns:a16="http://schemas.microsoft.com/office/drawing/2014/main" id="{534862A8-963A-43E0-9658-A2BBE09A5FD6}"/>
              </a:ext>
            </a:extLst>
          </p:cNvPr>
          <p:cNvSpPr>
            <a:spLocks xmlns:a="http://schemas.openxmlformats.org/drawingml/2006/main" noGrp="1"/>
          </p:cNvSpPr>
          <p:nvPr/>
        </p:nvSpPr>
        <p:spPr>
          <a:xfrm xmlns:a="http://schemas.openxmlformats.org/drawingml/2006/main">
            <a:off x="457200" y="171450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1  World</a:t>
            </a:r>
          </a:p>
        </p:txBody>
      </p:sp>
      <p:sp>
        <p:nvSpPr>
          <p:cNvPr id="4" name="">
            <a:extLst xmlns:a="http://schemas.openxmlformats.org/drawingml/2006/main">
              <a:ext uri="{FF2B5EF4-FFF2-40B4-BE49-F238E27FC236}">
                <a16:creationId xmlns:a16="http://schemas.microsoft.com/office/drawing/2014/main" id="{41CF9541-4321-42FC-956D-CD799FBBD3F0}"/>
              </a:ext>
            </a:extLst>
          </p:cNvPr>
          <p:cNvSpPr>
            <a:spLocks xmlns:a="http://schemas.openxmlformats.org/drawingml/2006/main" noGrp="1"/>
          </p:cNvSpPr>
          <p:nvPr/>
        </p:nvSpPr>
        <p:spPr>
          <a:xfrm xmlns:a="http://schemas.openxmlformats.org/drawingml/2006/main">
            <a:off x="457200" y="24193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81796F"/>
                </a:solidFill>
                <a:latin typeface="Ubuntu Condensed"/>
                <a:ea typeface="Ubuntu Condensed"/>
                <a:cs typeface="Ubuntu Condensed"/>
              </a:defRPr>
            </a:defPPr>
          </a:lstStyle>
          <a:p xmlns:a="http://schemas.openxmlformats.org/drawingml/2006/main">
            <a:pPr>
              <a:defRPr sz="1575">
                <a:solidFill>
                  <a:srgbClr val="81796F"/>
                </a:solidFill>
                <a:latin typeface="Ubuntu Condensed"/>
                <a:ea typeface="Ubuntu Condensed"/>
                <a:cs typeface="Ubuntu Condensed"/>
              </a:defRPr>
            </a:pPr>
            <a:r>
              <a:rPr sz="1575">
                <a:solidFill>
                  <a:srgbClr val="81796F"/>
                </a:solidFill>
                <a:latin typeface="Ubuntu Condensed"/>
                <a:ea typeface="Ubuntu Condensed"/>
                <a:cs typeface="Ubuntu Condensed"/>
              </a:rPr>
              <a:t>Columns</a:t>
            </a:r>
          </a:p>
        </p:txBody>
      </p:sp>
      <p:sp>
        <p:nvSpPr>
          <p:cNvPr id="5" name="">
            <a:extLst xmlns:a="http://schemas.openxmlformats.org/drawingml/2006/main">
              <a:ext uri="{FF2B5EF4-FFF2-40B4-BE49-F238E27FC236}">
                <a16:creationId xmlns:a16="http://schemas.microsoft.com/office/drawing/2014/main" id="{95C51C02-A617-4F9D-A8CE-07B25D9DFA41}"/>
              </a:ext>
            </a:extLst>
          </p:cNvPr>
          <p:cNvSpPr>
            <a:spLocks xmlns:a="http://schemas.openxmlformats.org/drawingml/2006/main" noGrp="1"/>
          </p:cNvSpPr>
          <p:nvPr/>
        </p:nvSpPr>
        <p:spPr>
          <a:xfrm xmlns:a="http://schemas.openxmlformats.org/drawingml/2006/main">
            <a:off x="1419225" y="2381250"/>
            <a:ext cx="2400300" cy="333375"/>
          </a:xfrm>
          <a:prstGeom xmlns:a="http://schemas.openxmlformats.org/drawingml/2006/main" prst="rect">
            <a:avLst/>
          </a:prstGeom>
          <a:solidFill xmlns:a="http://schemas.openxmlformats.org/drawingml/2006/main">
            <a:srgbClr val="647545"/>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85AC045-2A38-4658-9152-7B02BF552D9C}"/>
              </a:ext>
            </a:extLst>
          </p:cNvPr>
          <p:cNvSpPr>
            <a:spLocks xmlns:a="http://schemas.openxmlformats.org/drawingml/2006/main" noGrp="1"/>
          </p:cNvSpPr>
          <p:nvPr/>
        </p:nvSpPr>
        <p:spPr>
          <a:xfrm xmlns:a="http://schemas.openxmlformats.org/drawingml/2006/main">
            <a:off x="1504950" y="2419350"/>
            <a:ext cx="2228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575">
                <a:solidFill>
                  <a:srgbClr val="FFFFFF"/>
                </a:solidFill>
                <a:latin typeface="Ubuntu Condensed"/>
                <a:ea typeface="Ubuntu Condensed"/>
                <a:cs typeface="Ubuntu Condensed"/>
              </a:defRPr>
            </a:defPPr>
          </a:lstStyle>
          <a:p xmlns:a="http://schemas.openxmlformats.org/drawingml/2006/main">
            <a:pPr algn="ctr">
              <a:defRPr sz="1575">
                <a:solidFill>
                  <a:srgbClr val="FFFFFF"/>
                </a:solidFill>
                <a:latin typeface="Ubuntu Condensed"/>
                <a:ea typeface="Ubuntu Condensed"/>
                <a:cs typeface="Ubuntu Condensed"/>
              </a:defRPr>
            </a:pPr>
            <a:r>
              <a:rPr sz="1575">
                <a:solidFill>
                  <a:srgbClr val="FFFFFF"/>
                </a:solidFill>
                <a:latin typeface="Ubuntu Condensed"/>
                <a:ea typeface="Ubuntu Condensed"/>
                <a:cs typeface="Ubuntu Condensed"/>
              </a:rPr>
              <a:t>AVG(GDP)</a:t>
            </a:r>
          </a:p>
        </p:txBody>
      </p:sp>
      <p:sp>
        <p:nvSpPr>
          <p:cNvPr id="7" name="">
            <a:extLst xmlns:a="http://schemas.openxmlformats.org/drawingml/2006/main">
              <a:ext uri="{FF2B5EF4-FFF2-40B4-BE49-F238E27FC236}">
                <a16:creationId xmlns:a16="http://schemas.microsoft.com/office/drawing/2014/main" id="{7529F99E-28A8-4999-BF26-CCB965D445D2}"/>
              </a:ext>
            </a:extLst>
          </p:cNvPr>
          <p:cNvSpPr>
            <a:spLocks xmlns:a="http://schemas.openxmlformats.org/drawingml/2006/main" noGrp="1"/>
          </p:cNvSpPr>
          <p:nvPr/>
        </p:nvSpPr>
        <p:spPr>
          <a:xfrm xmlns:a="http://schemas.openxmlformats.org/drawingml/2006/main">
            <a:off x="457200" y="28765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81796F"/>
                </a:solidFill>
                <a:latin typeface="Ubuntu Condensed"/>
                <a:ea typeface="Ubuntu Condensed"/>
                <a:cs typeface="Ubuntu Condensed"/>
              </a:defRPr>
            </a:defPPr>
          </a:lstStyle>
          <a:p xmlns:a="http://schemas.openxmlformats.org/drawingml/2006/main">
            <a:pPr>
              <a:defRPr sz="1575">
                <a:solidFill>
                  <a:srgbClr val="81796F"/>
                </a:solidFill>
                <a:latin typeface="Ubuntu Condensed"/>
                <a:ea typeface="Ubuntu Condensed"/>
                <a:cs typeface="Ubuntu Condensed"/>
              </a:defRPr>
            </a:pPr>
            <a:r>
              <a:rPr sz="1575">
                <a:solidFill>
                  <a:srgbClr val="81796F"/>
                </a:solidFill>
                <a:latin typeface="Ubuntu Condensed"/>
                <a:ea typeface="Ubuntu Condensed"/>
                <a:cs typeface="Ubuntu Condensed"/>
              </a:rPr>
              <a:t>Rows</a:t>
            </a:r>
          </a:p>
        </p:txBody>
      </p:sp>
      <p:sp>
        <p:nvSpPr>
          <p:cNvPr id="8" name="">
            <a:extLst xmlns:a="http://schemas.openxmlformats.org/drawingml/2006/main">
              <a:ext uri="{FF2B5EF4-FFF2-40B4-BE49-F238E27FC236}">
                <a16:creationId xmlns:a16="http://schemas.microsoft.com/office/drawing/2014/main" id="{C3B2495C-1658-4A06-9D10-455CBE361CE1}"/>
              </a:ext>
            </a:extLst>
          </p:cNvPr>
          <p:cNvSpPr>
            <a:spLocks xmlns:a="http://schemas.openxmlformats.org/drawingml/2006/main" noGrp="1"/>
          </p:cNvSpPr>
          <p:nvPr/>
        </p:nvSpPr>
        <p:spPr>
          <a:xfrm xmlns:a="http://schemas.openxmlformats.org/drawingml/2006/main">
            <a:off x="1419225" y="2838450"/>
            <a:ext cx="2400300" cy="333375"/>
          </a:xfrm>
          <a:prstGeom xmlns:a="http://schemas.openxmlformats.org/drawingml/2006/main" prst="rect">
            <a:avLst/>
          </a:prstGeom>
          <a:solidFill xmlns:a="http://schemas.openxmlformats.org/drawingml/2006/main">
            <a:srgbClr val="647545"/>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60D085B-2023-4537-B04E-05BA05E8673E}"/>
              </a:ext>
            </a:extLst>
          </p:cNvPr>
          <p:cNvSpPr>
            <a:spLocks xmlns:a="http://schemas.openxmlformats.org/drawingml/2006/main" noGrp="1"/>
          </p:cNvSpPr>
          <p:nvPr/>
        </p:nvSpPr>
        <p:spPr>
          <a:xfrm xmlns:a="http://schemas.openxmlformats.org/drawingml/2006/main">
            <a:off x="1504950" y="2876550"/>
            <a:ext cx="2228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575">
                <a:solidFill>
                  <a:srgbClr val="FFFFFF"/>
                </a:solidFill>
                <a:latin typeface="Ubuntu Condensed"/>
                <a:ea typeface="Ubuntu Condensed"/>
                <a:cs typeface="Ubuntu Condensed"/>
              </a:defRPr>
            </a:defPPr>
          </a:lstStyle>
          <a:p xmlns:a="http://schemas.openxmlformats.org/drawingml/2006/main">
            <a:pPr algn="ctr">
              <a:defRPr sz="1575">
                <a:solidFill>
                  <a:srgbClr val="FFFFFF"/>
                </a:solidFill>
                <a:latin typeface="Ubuntu Condensed"/>
                <a:ea typeface="Ubuntu Condensed"/>
                <a:cs typeface="Ubuntu Condensed"/>
              </a:defRPr>
            </a:pPr>
            <a:r>
              <a:rPr sz="1575">
                <a:solidFill>
                  <a:srgbClr val="FFFFFF"/>
                </a:solidFill>
                <a:latin typeface="Ubuntu Condensed"/>
                <a:ea typeface="Ubuntu Condensed"/>
                <a:cs typeface="Ubuntu Condensed"/>
              </a:rPr>
              <a:t>AVG(Life Expectancy)</a:t>
            </a:r>
          </a:p>
        </p:txBody>
      </p:sp>
      <p:sp>
        <p:nvSpPr>
          <p:cNvPr id="10" name="">
            <a:extLst xmlns:a="http://schemas.openxmlformats.org/drawingml/2006/main">
              <a:ext uri="{FF2B5EF4-FFF2-40B4-BE49-F238E27FC236}">
                <a16:creationId xmlns:a16="http://schemas.microsoft.com/office/drawing/2014/main" id="{D8175B9E-1DAD-4EEC-92B7-71968E3B30D9}"/>
              </a:ext>
            </a:extLst>
          </p:cNvPr>
          <p:cNvSpPr>
            <a:spLocks xmlns:a="http://schemas.openxmlformats.org/drawingml/2006/main" noGrp="1"/>
          </p:cNvSpPr>
          <p:nvPr/>
        </p:nvSpPr>
        <p:spPr>
          <a:xfrm xmlns:a="http://schemas.openxmlformats.org/drawingml/2006/main">
            <a:off x="457200" y="33337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81796F"/>
                </a:solidFill>
                <a:latin typeface="Ubuntu Condensed"/>
                <a:ea typeface="Ubuntu Condensed"/>
                <a:cs typeface="Ubuntu Condensed"/>
              </a:defRPr>
            </a:defPPr>
          </a:lstStyle>
          <a:p xmlns:a="http://schemas.openxmlformats.org/drawingml/2006/main">
            <a:pPr>
              <a:defRPr sz="1575">
                <a:solidFill>
                  <a:srgbClr val="81796F"/>
                </a:solidFill>
                <a:latin typeface="Ubuntu Condensed"/>
                <a:ea typeface="Ubuntu Condensed"/>
                <a:cs typeface="Ubuntu Condensed"/>
              </a:defRPr>
            </a:pPr>
            <a:r>
              <a:rPr sz="1575">
                <a:solidFill>
                  <a:srgbClr val="81796F"/>
                </a:solidFill>
                <a:latin typeface="Ubuntu Condensed"/>
                <a:ea typeface="Ubuntu Condensed"/>
                <a:cs typeface="Ubuntu Condensed"/>
              </a:rPr>
              <a:t>Filters</a:t>
            </a:r>
          </a:p>
        </p:txBody>
      </p:sp>
      <p:sp>
        <p:nvSpPr>
          <p:cNvPr id="11" name="">
            <a:extLst xmlns:a="http://schemas.openxmlformats.org/drawingml/2006/main">
              <a:ext uri="{FF2B5EF4-FFF2-40B4-BE49-F238E27FC236}">
                <a16:creationId xmlns:a16="http://schemas.microsoft.com/office/drawing/2014/main" id="{CD771732-8B7E-40F4-8BD4-A62604FE1DDC}"/>
              </a:ext>
            </a:extLst>
          </p:cNvPr>
          <p:cNvSpPr>
            <a:spLocks xmlns:a="http://schemas.openxmlformats.org/drawingml/2006/main" noGrp="1"/>
          </p:cNvSpPr>
          <p:nvPr/>
        </p:nvSpPr>
        <p:spPr>
          <a:xfrm xmlns:a="http://schemas.openxmlformats.org/drawingml/2006/main">
            <a:off x="1419225" y="3295650"/>
            <a:ext cx="2400300" cy="333375"/>
          </a:xfrm>
          <a:prstGeom xmlns:a="http://schemas.openxmlformats.org/drawingml/2006/main" prst="rect">
            <a:avLst/>
          </a:prstGeom>
          <a:solidFill xmlns:a="http://schemas.openxmlformats.org/drawingml/2006/main">
            <a:srgbClr val="45798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25D3106-F49E-4395-9E80-9AC3873206E8}"/>
              </a:ext>
            </a:extLst>
          </p:cNvPr>
          <p:cNvSpPr>
            <a:spLocks xmlns:a="http://schemas.openxmlformats.org/drawingml/2006/main" noGrp="1"/>
          </p:cNvSpPr>
          <p:nvPr/>
        </p:nvSpPr>
        <p:spPr>
          <a:xfrm xmlns:a="http://schemas.openxmlformats.org/drawingml/2006/main">
            <a:off x="1504950" y="3333750"/>
            <a:ext cx="2228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575">
                <a:solidFill>
                  <a:srgbClr val="FFFFFF"/>
                </a:solidFill>
                <a:latin typeface="Ubuntu Condensed"/>
                <a:ea typeface="Ubuntu Condensed"/>
                <a:cs typeface="Ubuntu Condensed"/>
              </a:defRPr>
            </a:defPPr>
          </a:lstStyle>
          <a:p xmlns:a="http://schemas.openxmlformats.org/drawingml/2006/main">
            <a:pPr algn="ctr">
              <a:defRPr sz="1575">
                <a:solidFill>
                  <a:srgbClr val="FFFFFF"/>
                </a:solidFill>
                <a:latin typeface="Ubuntu Condensed"/>
                <a:ea typeface="Ubuntu Condensed"/>
                <a:cs typeface="Ubuntu Condensed"/>
              </a:defRPr>
            </a:pPr>
            <a:r>
              <a:rPr sz="1575">
                <a:solidFill>
                  <a:srgbClr val="FFFFFF"/>
                </a:solidFill>
                <a:latin typeface="Ubuntu Condensed"/>
                <a:ea typeface="Ubuntu Condensed"/>
                <a:cs typeface="Ubuntu Condensed"/>
              </a:rPr>
              <a:t>Year: 2020</a:t>
            </a:r>
          </a:p>
        </p:txBody>
      </p:sp>
      <p:sp>
        <p:nvSpPr>
          <p:cNvPr id="13" name="">
            <a:extLst xmlns:a="http://schemas.openxmlformats.org/drawingml/2006/main">
              <a:ext uri="{FF2B5EF4-FFF2-40B4-BE49-F238E27FC236}">
                <a16:creationId xmlns:a16="http://schemas.microsoft.com/office/drawing/2014/main" id="{A0B466CD-043F-45EA-A3E5-0F76E331C475}"/>
              </a:ext>
            </a:extLst>
          </p:cNvPr>
          <p:cNvSpPr>
            <a:spLocks xmlns:a="http://schemas.openxmlformats.org/drawingml/2006/main" noGrp="1"/>
          </p:cNvSpPr>
          <p:nvPr/>
        </p:nvSpPr>
        <p:spPr>
          <a:xfrm xmlns:a="http://schemas.openxmlformats.org/drawingml/2006/main">
            <a:off x="457200" y="3962400"/>
            <a:ext cx="95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Marks</a:t>
            </a:r>
          </a:p>
        </p:txBody>
      </p:sp>
      <p:sp>
        <p:nvSpPr>
          <p:cNvPr id="14" name="">
            <a:extLst xmlns:a="http://schemas.openxmlformats.org/drawingml/2006/main">
              <a:ext uri="{FF2B5EF4-FFF2-40B4-BE49-F238E27FC236}">
                <a16:creationId xmlns:a16="http://schemas.microsoft.com/office/drawing/2014/main" id="{5A9A4DF5-0DF4-4DCA-A82F-CC2926416510}"/>
              </a:ext>
            </a:extLst>
          </p:cNvPr>
          <p:cNvSpPr>
            <a:spLocks xmlns:a="http://schemas.openxmlformats.org/drawingml/2006/main" noGrp="1"/>
          </p:cNvSpPr>
          <p:nvPr/>
        </p:nvSpPr>
        <p:spPr>
          <a:xfrm xmlns:a="http://schemas.openxmlformats.org/drawingml/2006/main">
            <a:off x="1419225" y="3914775"/>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a:solidFill>
                  <a:srgbClr val="38332E"/>
                </a:solidFill>
                <a:latin typeface="Ubuntu Condensed"/>
                <a:ea typeface="Ubuntu Condensed"/>
                <a:cs typeface="Ubuntu Condensed"/>
              </a:defRPr>
            </a:defPPr>
          </a:lstStyle>
          <a:p xmlns:a="http://schemas.openxmlformats.org/drawingml/2006/main">
            <a:pPr>
              <a:defRPr sz="2100">
                <a:solidFill>
                  <a:srgbClr val="38332E"/>
                </a:solidFill>
                <a:latin typeface="Ubuntu Condensed"/>
                <a:ea typeface="Ubuntu Condensed"/>
                <a:cs typeface="Ubuntu Condensed"/>
              </a:defRPr>
            </a:pPr>
            <a:r>
              <a:rPr sz="2100">
                <a:solidFill>
                  <a:srgbClr val="38332E"/>
                </a:solidFill>
                <a:latin typeface="Ubuntu Condensed"/>
                <a:ea typeface="Ubuntu Condensed"/>
                <a:cs typeface="Ubuntu Condensed"/>
              </a:rPr>
              <a:t>Circle</a:t>
            </a:r>
          </a:p>
        </p:txBody>
      </p:sp>
      <p:sp>
        <p:nvSpPr>
          <p:cNvPr id="15" name="">
            <a:extLst xmlns:a="http://schemas.openxmlformats.org/drawingml/2006/main">
              <a:ext uri="{FF2B5EF4-FFF2-40B4-BE49-F238E27FC236}">
                <a16:creationId xmlns:a16="http://schemas.microsoft.com/office/drawing/2014/main" id="{2C6D095E-9A5B-4E4B-98E9-38338B0277F2}"/>
              </a:ext>
            </a:extLst>
          </p:cNvPr>
          <p:cNvSpPr>
            <a:spLocks xmlns:a="http://schemas.openxmlformats.org/drawingml/2006/main" noGrp="1"/>
          </p:cNvSpPr>
          <p:nvPr/>
        </p:nvSpPr>
        <p:spPr>
          <a:xfrm xmlns:a="http://schemas.openxmlformats.org/drawingml/2006/main">
            <a:off x="457200" y="4448175"/>
            <a:ext cx="342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a:solidFill>
                  <a:srgbClr val="38332E"/>
                </a:solidFill>
                <a:latin typeface="Ubuntu Condensed"/>
                <a:ea typeface="Ubuntu Condensed"/>
                <a:cs typeface="Ubuntu Condensed"/>
              </a:defRPr>
            </a:defPPr>
          </a:lstStyle>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Country on Detail</a:t>
            </a:r>
          </a:p>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Region on Color</a:t>
            </a:r>
          </a:p>
        </p:txBody>
      </p:sp>
      <p:sp>
        <p:nvSpPr>
          <p:cNvPr id="16" name="">
            <a:extLst xmlns:a="http://schemas.openxmlformats.org/drawingml/2006/main">
              <a:ext uri="{FF2B5EF4-FFF2-40B4-BE49-F238E27FC236}">
                <a16:creationId xmlns:a16="http://schemas.microsoft.com/office/drawing/2014/main" id="{F06F628D-F2A9-4018-A0DE-46197BA96F0F}"/>
              </a:ext>
            </a:extLst>
          </p:cNvPr>
          <p:cNvSpPr>
            <a:spLocks xmlns:a="http://schemas.openxmlformats.org/drawingml/2006/main" noGrp="1"/>
          </p:cNvSpPr>
          <p:nvPr/>
        </p:nvSpPr>
        <p:spPr>
          <a:xfrm xmlns:a="http://schemas.openxmlformats.org/drawingml/2006/main">
            <a:off x="457200" y="5391150"/>
            <a:ext cx="3429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Filters: GDP &gt; 0</a:t>
            </a:r>
          </a:p>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Life Expectancy &gt; 0</a:t>
            </a:r>
          </a:p>
        </p:txBody>
      </p:sp>
      <p:sp>
        <p:nvSpPr>
          <p:cNvPr id="17" name="">
            <a:extLst xmlns:a="http://schemas.openxmlformats.org/drawingml/2006/main">
              <a:ext uri="{FF2B5EF4-FFF2-40B4-BE49-F238E27FC236}">
                <a16:creationId xmlns:a16="http://schemas.microsoft.com/office/drawing/2014/main" id="{814CDD95-03BE-4A47-A6CA-ED4764EB1C2F}"/>
              </a:ext>
            </a:extLst>
          </p:cNvPr>
          <p:cNvSpPr>
            <a:spLocks xmlns:a="http://schemas.openxmlformats.org/drawingml/2006/main" noGrp="1"/>
          </p:cNvSpPr>
          <p:nvPr/>
        </p:nvSpPr>
        <p:spPr>
          <a:xfrm xmlns:a="http://schemas.openxmlformats.org/drawingml/2006/main">
            <a:off x="4343400" y="171450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2  Life History</a:t>
            </a:r>
          </a:p>
        </p:txBody>
      </p:sp>
      <p:sp>
        <p:nvSpPr>
          <p:cNvPr id="18" name="">
            <a:extLst xmlns:a="http://schemas.openxmlformats.org/drawingml/2006/main">
              <a:ext uri="{FF2B5EF4-FFF2-40B4-BE49-F238E27FC236}">
                <a16:creationId xmlns:a16="http://schemas.microsoft.com/office/drawing/2014/main" id="{67309E44-1166-42DE-9603-9E2EC85D1378}"/>
              </a:ext>
            </a:extLst>
          </p:cNvPr>
          <p:cNvSpPr>
            <a:spLocks xmlns:a="http://schemas.openxmlformats.org/drawingml/2006/main" noGrp="1"/>
          </p:cNvSpPr>
          <p:nvPr/>
        </p:nvSpPr>
        <p:spPr>
          <a:xfrm xmlns:a="http://schemas.openxmlformats.org/drawingml/2006/main">
            <a:off x="4343400" y="24193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81796F"/>
                </a:solidFill>
                <a:latin typeface="Ubuntu Condensed"/>
                <a:ea typeface="Ubuntu Condensed"/>
                <a:cs typeface="Ubuntu Condensed"/>
              </a:defRPr>
            </a:defPPr>
          </a:lstStyle>
          <a:p xmlns:a="http://schemas.openxmlformats.org/drawingml/2006/main">
            <a:pPr>
              <a:defRPr sz="1575">
                <a:solidFill>
                  <a:srgbClr val="81796F"/>
                </a:solidFill>
                <a:latin typeface="Ubuntu Condensed"/>
                <a:ea typeface="Ubuntu Condensed"/>
                <a:cs typeface="Ubuntu Condensed"/>
              </a:defRPr>
            </a:pPr>
            <a:r>
              <a:rPr sz="1575">
                <a:solidFill>
                  <a:srgbClr val="81796F"/>
                </a:solidFill>
                <a:latin typeface="Ubuntu Condensed"/>
                <a:ea typeface="Ubuntu Condensed"/>
                <a:cs typeface="Ubuntu Condensed"/>
              </a:rPr>
              <a:t>Columns</a:t>
            </a:r>
          </a:p>
        </p:txBody>
      </p:sp>
      <p:sp>
        <p:nvSpPr>
          <p:cNvPr id="19" name="">
            <a:extLst xmlns:a="http://schemas.openxmlformats.org/drawingml/2006/main">
              <a:ext uri="{FF2B5EF4-FFF2-40B4-BE49-F238E27FC236}">
                <a16:creationId xmlns:a16="http://schemas.microsoft.com/office/drawing/2014/main" id="{BEB323F4-A7CF-43B5-8625-6A4F41BE40EF}"/>
              </a:ext>
            </a:extLst>
          </p:cNvPr>
          <p:cNvSpPr>
            <a:spLocks xmlns:a="http://schemas.openxmlformats.org/drawingml/2006/main" noGrp="1"/>
          </p:cNvSpPr>
          <p:nvPr/>
        </p:nvSpPr>
        <p:spPr>
          <a:xfrm xmlns:a="http://schemas.openxmlformats.org/drawingml/2006/main">
            <a:off x="5305425" y="2381250"/>
            <a:ext cx="2400300" cy="333375"/>
          </a:xfrm>
          <a:prstGeom xmlns:a="http://schemas.openxmlformats.org/drawingml/2006/main" prst="rect">
            <a:avLst/>
          </a:prstGeom>
          <a:solidFill xmlns:a="http://schemas.openxmlformats.org/drawingml/2006/main">
            <a:srgbClr val="64754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53B452C-D30C-4454-8118-09668E374503}"/>
              </a:ext>
            </a:extLst>
          </p:cNvPr>
          <p:cNvSpPr>
            <a:spLocks xmlns:a="http://schemas.openxmlformats.org/drawingml/2006/main" noGrp="1"/>
          </p:cNvSpPr>
          <p:nvPr/>
        </p:nvSpPr>
        <p:spPr>
          <a:xfrm xmlns:a="http://schemas.openxmlformats.org/drawingml/2006/main">
            <a:off x="5391150" y="2419350"/>
            <a:ext cx="2228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575">
                <a:solidFill>
                  <a:srgbClr val="FFFFFF"/>
                </a:solidFill>
                <a:latin typeface="Ubuntu Condensed"/>
                <a:ea typeface="Ubuntu Condensed"/>
                <a:cs typeface="Ubuntu Condensed"/>
              </a:defRPr>
            </a:defPPr>
          </a:lstStyle>
          <a:p xmlns:a="http://schemas.openxmlformats.org/drawingml/2006/main">
            <a:pPr algn="ctr">
              <a:defRPr sz="1575">
                <a:solidFill>
                  <a:srgbClr val="FFFFFF"/>
                </a:solidFill>
                <a:latin typeface="Ubuntu Condensed"/>
                <a:ea typeface="Ubuntu Condensed"/>
                <a:cs typeface="Ubuntu Condensed"/>
              </a:defRPr>
            </a:pPr>
            <a:r>
              <a:rPr sz="1575">
                <a:solidFill>
                  <a:srgbClr val="FFFFFF"/>
                </a:solidFill>
                <a:latin typeface="Ubuntu Condensed"/>
                <a:ea typeface="Ubuntu Condensed"/>
                <a:cs typeface="Ubuntu Condensed"/>
              </a:rPr>
              <a:t>Year</a:t>
            </a:r>
          </a:p>
        </p:txBody>
      </p:sp>
      <p:sp>
        <p:nvSpPr>
          <p:cNvPr id="21" name="">
            <a:extLst xmlns:a="http://schemas.openxmlformats.org/drawingml/2006/main">
              <a:ext uri="{FF2B5EF4-FFF2-40B4-BE49-F238E27FC236}">
                <a16:creationId xmlns:a16="http://schemas.microsoft.com/office/drawing/2014/main" id="{71BCF337-D09E-4C1C-8019-E2CAB80C4BF7}"/>
              </a:ext>
            </a:extLst>
          </p:cNvPr>
          <p:cNvSpPr>
            <a:spLocks xmlns:a="http://schemas.openxmlformats.org/drawingml/2006/main" noGrp="1"/>
          </p:cNvSpPr>
          <p:nvPr/>
        </p:nvSpPr>
        <p:spPr>
          <a:xfrm xmlns:a="http://schemas.openxmlformats.org/drawingml/2006/main">
            <a:off x="4343400" y="28765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81796F"/>
                </a:solidFill>
                <a:latin typeface="Ubuntu Condensed"/>
                <a:ea typeface="Ubuntu Condensed"/>
                <a:cs typeface="Ubuntu Condensed"/>
              </a:defRPr>
            </a:defPPr>
          </a:lstStyle>
          <a:p xmlns:a="http://schemas.openxmlformats.org/drawingml/2006/main">
            <a:pPr>
              <a:defRPr sz="1575">
                <a:solidFill>
                  <a:srgbClr val="81796F"/>
                </a:solidFill>
                <a:latin typeface="Ubuntu Condensed"/>
                <a:ea typeface="Ubuntu Condensed"/>
                <a:cs typeface="Ubuntu Condensed"/>
              </a:defRPr>
            </a:pPr>
            <a:r>
              <a:rPr sz="1575">
                <a:solidFill>
                  <a:srgbClr val="81796F"/>
                </a:solidFill>
                <a:latin typeface="Ubuntu Condensed"/>
                <a:ea typeface="Ubuntu Condensed"/>
                <a:cs typeface="Ubuntu Condensed"/>
              </a:rPr>
              <a:t>Rows</a:t>
            </a:r>
          </a:p>
        </p:txBody>
      </p:sp>
      <p:sp>
        <p:nvSpPr>
          <p:cNvPr id="22" name="">
            <a:extLst xmlns:a="http://schemas.openxmlformats.org/drawingml/2006/main">
              <a:ext uri="{FF2B5EF4-FFF2-40B4-BE49-F238E27FC236}">
                <a16:creationId xmlns:a16="http://schemas.microsoft.com/office/drawing/2014/main" id="{DD869E50-5C78-4D38-B1AF-A9D8AE8A9CF2}"/>
              </a:ext>
            </a:extLst>
          </p:cNvPr>
          <p:cNvSpPr>
            <a:spLocks xmlns:a="http://schemas.openxmlformats.org/drawingml/2006/main" noGrp="1"/>
          </p:cNvSpPr>
          <p:nvPr/>
        </p:nvSpPr>
        <p:spPr>
          <a:xfrm xmlns:a="http://schemas.openxmlformats.org/drawingml/2006/main">
            <a:off x="5305425" y="2838450"/>
            <a:ext cx="2400300" cy="333375"/>
          </a:xfrm>
          <a:prstGeom xmlns:a="http://schemas.openxmlformats.org/drawingml/2006/main" prst="rect">
            <a:avLst/>
          </a:prstGeom>
          <a:solidFill xmlns:a="http://schemas.openxmlformats.org/drawingml/2006/main">
            <a:srgbClr val="64754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9C9E3FB-6FCA-4BFA-8F43-811B94A1E75B}"/>
              </a:ext>
            </a:extLst>
          </p:cNvPr>
          <p:cNvSpPr>
            <a:spLocks xmlns:a="http://schemas.openxmlformats.org/drawingml/2006/main" noGrp="1"/>
          </p:cNvSpPr>
          <p:nvPr/>
        </p:nvSpPr>
        <p:spPr>
          <a:xfrm xmlns:a="http://schemas.openxmlformats.org/drawingml/2006/main">
            <a:off x="5391150" y="2876550"/>
            <a:ext cx="2228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575">
                <a:solidFill>
                  <a:srgbClr val="FFFFFF"/>
                </a:solidFill>
                <a:latin typeface="Ubuntu Condensed"/>
                <a:ea typeface="Ubuntu Condensed"/>
                <a:cs typeface="Ubuntu Condensed"/>
              </a:defRPr>
            </a:defPPr>
          </a:lstStyle>
          <a:p xmlns:a="http://schemas.openxmlformats.org/drawingml/2006/main">
            <a:pPr algn="ctr">
              <a:defRPr sz="1575">
                <a:solidFill>
                  <a:srgbClr val="FFFFFF"/>
                </a:solidFill>
                <a:latin typeface="Ubuntu Condensed"/>
                <a:ea typeface="Ubuntu Condensed"/>
                <a:cs typeface="Ubuntu Condensed"/>
              </a:defRPr>
            </a:pPr>
            <a:r>
              <a:rPr sz="1575">
                <a:solidFill>
                  <a:srgbClr val="FFFFFF"/>
                </a:solidFill>
                <a:latin typeface="Ubuntu Condensed"/>
                <a:ea typeface="Ubuntu Condensed"/>
                <a:cs typeface="Ubuntu Condensed"/>
              </a:rPr>
              <a:t>AVG(Life Expectancy)</a:t>
            </a:r>
          </a:p>
        </p:txBody>
      </p:sp>
      <p:sp>
        <p:nvSpPr>
          <p:cNvPr id="24" name="">
            <a:extLst xmlns:a="http://schemas.openxmlformats.org/drawingml/2006/main">
              <a:ext uri="{FF2B5EF4-FFF2-40B4-BE49-F238E27FC236}">
                <a16:creationId xmlns:a16="http://schemas.microsoft.com/office/drawing/2014/main" id="{54CC0FAD-607C-409D-93C4-3BF36C135ACD}"/>
              </a:ext>
            </a:extLst>
          </p:cNvPr>
          <p:cNvSpPr>
            <a:spLocks xmlns:a="http://schemas.openxmlformats.org/drawingml/2006/main" noGrp="1"/>
          </p:cNvSpPr>
          <p:nvPr/>
        </p:nvSpPr>
        <p:spPr>
          <a:xfrm xmlns:a="http://schemas.openxmlformats.org/drawingml/2006/main">
            <a:off x="4343400" y="33337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81796F"/>
                </a:solidFill>
                <a:latin typeface="Ubuntu Condensed"/>
                <a:ea typeface="Ubuntu Condensed"/>
                <a:cs typeface="Ubuntu Condensed"/>
              </a:defRPr>
            </a:defPPr>
          </a:lstStyle>
          <a:p xmlns:a="http://schemas.openxmlformats.org/drawingml/2006/main">
            <a:pPr>
              <a:defRPr sz="1575">
                <a:solidFill>
                  <a:srgbClr val="81796F"/>
                </a:solidFill>
                <a:latin typeface="Ubuntu Condensed"/>
                <a:ea typeface="Ubuntu Condensed"/>
                <a:cs typeface="Ubuntu Condensed"/>
              </a:defRPr>
            </a:pPr>
            <a:r>
              <a:rPr sz="1575">
                <a:solidFill>
                  <a:srgbClr val="81796F"/>
                </a:solidFill>
                <a:latin typeface="Ubuntu Condensed"/>
                <a:ea typeface="Ubuntu Condensed"/>
                <a:cs typeface="Ubuntu Condensed"/>
              </a:rPr>
              <a:t>Filters</a:t>
            </a:r>
          </a:p>
        </p:txBody>
      </p:sp>
      <p:sp>
        <p:nvSpPr>
          <p:cNvPr id="25" name="">
            <a:extLst xmlns:a="http://schemas.openxmlformats.org/drawingml/2006/main">
              <a:ext uri="{FF2B5EF4-FFF2-40B4-BE49-F238E27FC236}">
                <a16:creationId xmlns:a16="http://schemas.microsoft.com/office/drawing/2014/main" id="{1A47F730-137D-4944-9540-14C4E9A68A83}"/>
              </a:ext>
            </a:extLst>
          </p:cNvPr>
          <p:cNvSpPr>
            <a:spLocks xmlns:a="http://schemas.openxmlformats.org/drawingml/2006/main" noGrp="1"/>
          </p:cNvSpPr>
          <p:nvPr/>
        </p:nvSpPr>
        <p:spPr>
          <a:xfrm xmlns:a="http://schemas.openxmlformats.org/drawingml/2006/main">
            <a:off x="5305425" y="3295650"/>
            <a:ext cx="2400300" cy="333375"/>
          </a:xfrm>
          <a:prstGeom xmlns:a="http://schemas.openxmlformats.org/drawingml/2006/main" prst="rect">
            <a:avLst/>
          </a:prstGeom>
          <a:solidFill xmlns:a="http://schemas.openxmlformats.org/drawingml/2006/main">
            <a:srgbClr val="457985"/>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0A939E-97BC-4275-A028-C25FB0F619E1}"/>
              </a:ext>
            </a:extLst>
          </p:cNvPr>
          <p:cNvSpPr>
            <a:spLocks xmlns:a="http://schemas.openxmlformats.org/drawingml/2006/main" noGrp="1"/>
          </p:cNvSpPr>
          <p:nvPr/>
        </p:nvSpPr>
        <p:spPr>
          <a:xfrm xmlns:a="http://schemas.openxmlformats.org/drawingml/2006/main">
            <a:off x="5391150" y="3333750"/>
            <a:ext cx="2228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575">
                <a:solidFill>
                  <a:srgbClr val="FFFFFF"/>
                </a:solidFill>
                <a:latin typeface="Ubuntu Condensed"/>
                <a:ea typeface="Ubuntu Condensed"/>
                <a:cs typeface="Ubuntu Condensed"/>
              </a:defRPr>
            </a:defPPr>
          </a:lstStyle>
          <a:p xmlns:a="http://schemas.openxmlformats.org/drawingml/2006/main">
            <a:pPr algn="ctr">
              <a:defRPr sz="1575">
                <a:solidFill>
                  <a:srgbClr val="FFFFFF"/>
                </a:solidFill>
                <a:latin typeface="Ubuntu Condensed"/>
                <a:ea typeface="Ubuntu Condensed"/>
                <a:cs typeface="Ubuntu Condensed"/>
              </a:defRPr>
            </a:pPr>
            <a:r>
              <a:rPr sz="1575">
                <a:solidFill>
                  <a:srgbClr val="FFFFFF"/>
                </a:solidFill>
                <a:latin typeface="Ubuntu Condensed"/>
                <a:ea typeface="Ubuntu Condensed"/>
                <a:cs typeface="Ubuntu Condensed"/>
              </a:rPr>
              <a:t>Year: 1960–2020</a:t>
            </a:r>
          </a:p>
        </p:txBody>
      </p:sp>
      <p:sp>
        <p:nvSpPr>
          <p:cNvPr id="27" name="">
            <a:extLst xmlns:a="http://schemas.openxmlformats.org/drawingml/2006/main">
              <a:ext uri="{FF2B5EF4-FFF2-40B4-BE49-F238E27FC236}">
                <a16:creationId xmlns:a16="http://schemas.microsoft.com/office/drawing/2014/main" id="{5B3E7846-F689-47C0-B9DD-C8C726D4910C}"/>
              </a:ext>
            </a:extLst>
          </p:cNvPr>
          <p:cNvSpPr>
            <a:spLocks xmlns:a="http://schemas.openxmlformats.org/drawingml/2006/main" noGrp="1"/>
          </p:cNvSpPr>
          <p:nvPr/>
        </p:nvSpPr>
        <p:spPr>
          <a:xfrm xmlns:a="http://schemas.openxmlformats.org/drawingml/2006/main">
            <a:off x="4343400" y="3962400"/>
            <a:ext cx="95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Marks</a:t>
            </a:r>
          </a:p>
        </p:txBody>
      </p:sp>
      <p:sp>
        <p:nvSpPr>
          <p:cNvPr id="28" name="">
            <a:extLst xmlns:a="http://schemas.openxmlformats.org/drawingml/2006/main">
              <a:ext uri="{FF2B5EF4-FFF2-40B4-BE49-F238E27FC236}">
                <a16:creationId xmlns:a16="http://schemas.microsoft.com/office/drawing/2014/main" id="{BDF50E81-D17E-4E1E-9635-9AAB66DE837F}"/>
              </a:ext>
            </a:extLst>
          </p:cNvPr>
          <p:cNvSpPr>
            <a:spLocks xmlns:a="http://schemas.openxmlformats.org/drawingml/2006/main" noGrp="1"/>
          </p:cNvSpPr>
          <p:nvPr/>
        </p:nvSpPr>
        <p:spPr>
          <a:xfrm xmlns:a="http://schemas.openxmlformats.org/drawingml/2006/main">
            <a:off x="5305425" y="3914775"/>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a:solidFill>
                  <a:srgbClr val="38332E"/>
                </a:solidFill>
                <a:latin typeface="Ubuntu Condensed"/>
                <a:ea typeface="Ubuntu Condensed"/>
                <a:cs typeface="Ubuntu Condensed"/>
              </a:defRPr>
            </a:defPPr>
          </a:lstStyle>
          <a:p xmlns:a="http://schemas.openxmlformats.org/drawingml/2006/main">
            <a:pPr>
              <a:defRPr sz="2100">
                <a:solidFill>
                  <a:srgbClr val="38332E"/>
                </a:solidFill>
                <a:latin typeface="Ubuntu Condensed"/>
                <a:ea typeface="Ubuntu Condensed"/>
                <a:cs typeface="Ubuntu Condensed"/>
              </a:defRPr>
            </a:pPr>
            <a:r>
              <a:rPr sz="2100">
                <a:solidFill>
                  <a:srgbClr val="38332E"/>
                </a:solidFill>
                <a:latin typeface="Ubuntu Condensed"/>
                <a:ea typeface="Ubuntu Condensed"/>
                <a:cs typeface="Ubuntu Condensed"/>
              </a:rPr>
              <a:t>Line</a:t>
            </a:r>
          </a:p>
        </p:txBody>
      </p:sp>
      <p:sp>
        <p:nvSpPr>
          <p:cNvPr id="29" name="">
            <a:extLst xmlns:a="http://schemas.openxmlformats.org/drawingml/2006/main">
              <a:ext uri="{FF2B5EF4-FFF2-40B4-BE49-F238E27FC236}">
                <a16:creationId xmlns:a16="http://schemas.microsoft.com/office/drawing/2014/main" id="{ADEA972A-52BC-4373-B6C8-332B876F0E6A}"/>
              </a:ext>
            </a:extLst>
          </p:cNvPr>
          <p:cNvSpPr>
            <a:spLocks xmlns:a="http://schemas.openxmlformats.org/drawingml/2006/main" noGrp="1"/>
          </p:cNvSpPr>
          <p:nvPr/>
        </p:nvSpPr>
        <p:spPr>
          <a:xfrm xmlns:a="http://schemas.openxmlformats.org/drawingml/2006/main">
            <a:off x="4343400" y="4448175"/>
            <a:ext cx="342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a:solidFill>
                  <a:srgbClr val="38332E"/>
                </a:solidFill>
                <a:latin typeface="Ubuntu Condensed"/>
                <a:ea typeface="Ubuntu Condensed"/>
                <a:cs typeface="Ubuntu Condensed"/>
              </a:defRPr>
            </a:defPPr>
          </a:lstStyle>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Country on Color</a:t>
            </a:r>
          </a:p>
        </p:txBody>
      </p:sp>
      <p:sp>
        <p:nvSpPr>
          <p:cNvPr id="30" name="">
            <a:extLst xmlns:a="http://schemas.openxmlformats.org/drawingml/2006/main">
              <a:ext uri="{FF2B5EF4-FFF2-40B4-BE49-F238E27FC236}">
                <a16:creationId xmlns:a16="http://schemas.microsoft.com/office/drawing/2014/main" id="{20C091B4-B8D9-4F0C-9BFF-CB8E395544E5}"/>
              </a:ext>
            </a:extLst>
          </p:cNvPr>
          <p:cNvSpPr>
            <a:spLocks xmlns:a="http://schemas.openxmlformats.org/drawingml/2006/main" noGrp="1"/>
          </p:cNvSpPr>
          <p:nvPr/>
        </p:nvSpPr>
        <p:spPr>
          <a:xfrm xmlns:a="http://schemas.openxmlformats.org/drawingml/2006/main">
            <a:off x="4343400" y="5391150"/>
            <a:ext cx="3429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Year pill menu: Continuous</a:t>
            </a:r>
          </a:p>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Keep the full year range.</a:t>
            </a:r>
          </a:p>
        </p:txBody>
      </p:sp>
      <p:sp>
        <p:nvSpPr>
          <p:cNvPr id="31" name="">
            <a:extLst xmlns:a="http://schemas.openxmlformats.org/drawingml/2006/main">
              <a:ext uri="{FF2B5EF4-FFF2-40B4-BE49-F238E27FC236}">
                <a16:creationId xmlns:a16="http://schemas.microsoft.com/office/drawing/2014/main" id="{47ACD623-F133-40B8-8BAA-54D00A328566}"/>
              </a:ext>
            </a:extLst>
          </p:cNvPr>
          <p:cNvSpPr>
            <a:spLocks xmlns:a="http://schemas.openxmlformats.org/drawingml/2006/main" noGrp="1"/>
          </p:cNvSpPr>
          <p:nvPr/>
        </p:nvSpPr>
        <p:spPr>
          <a:xfrm xmlns:a="http://schemas.openxmlformats.org/drawingml/2006/main">
            <a:off x="8229600" y="171450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3  GDP History</a:t>
            </a:r>
          </a:p>
        </p:txBody>
      </p:sp>
      <p:sp>
        <p:nvSpPr>
          <p:cNvPr id="32" name="">
            <a:extLst xmlns:a="http://schemas.openxmlformats.org/drawingml/2006/main">
              <a:ext uri="{FF2B5EF4-FFF2-40B4-BE49-F238E27FC236}">
                <a16:creationId xmlns:a16="http://schemas.microsoft.com/office/drawing/2014/main" id="{12E86B50-E83B-4228-B563-E1F542170011}"/>
              </a:ext>
            </a:extLst>
          </p:cNvPr>
          <p:cNvSpPr>
            <a:spLocks xmlns:a="http://schemas.openxmlformats.org/drawingml/2006/main" noGrp="1"/>
          </p:cNvSpPr>
          <p:nvPr/>
        </p:nvSpPr>
        <p:spPr>
          <a:xfrm xmlns:a="http://schemas.openxmlformats.org/drawingml/2006/main">
            <a:off x="8229600" y="24193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81796F"/>
                </a:solidFill>
                <a:latin typeface="Ubuntu Condensed"/>
                <a:ea typeface="Ubuntu Condensed"/>
                <a:cs typeface="Ubuntu Condensed"/>
              </a:defRPr>
            </a:defPPr>
          </a:lstStyle>
          <a:p xmlns:a="http://schemas.openxmlformats.org/drawingml/2006/main">
            <a:pPr>
              <a:defRPr sz="1575">
                <a:solidFill>
                  <a:srgbClr val="81796F"/>
                </a:solidFill>
                <a:latin typeface="Ubuntu Condensed"/>
                <a:ea typeface="Ubuntu Condensed"/>
                <a:cs typeface="Ubuntu Condensed"/>
              </a:defRPr>
            </a:pPr>
            <a:r>
              <a:rPr sz="1575">
                <a:solidFill>
                  <a:srgbClr val="81796F"/>
                </a:solidFill>
                <a:latin typeface="Ubuntu Condensed"/>
                <a:ea typeface="Ubuntu Condensed"/>
                <a:cs typeface="Ubuntu Condensed"/>
              </a:rPr>
              <a:t>Columns</a:t>
            </a:r>
          </a:p>
        </p:txBody>
      </p:sp>
      <p:sp>
        <p:nvSpPr>
          <p:cNvPr id="33" name="">
            <a:extLst xmlns:a="http://schemas.openxmlformats.org/drawingml/2006/main">
              <a:ext uri="{FF2B5EF4-FFF2-40B4-BE49-F238E27FC236}">
                <a16:creationId xmlns:a16="http://schemas.microsoft.com/office/drawing/2014/main" id="{70CAA674-A640-4B63-91B7-EB906DF52713}"/>
              </a:ext>
            </a:extLst>
          </p:cNvPr>
          <p:cNvSpPr>
            <a:spLocks xmlns:a="http://schemas.openxmlformats.org/drawingml/2006/main" noGrp="1"/>
          </p:cNvSpPr>
          <p:nvPr/>
        </p:nvSpPr>
        <p:spPr>
          <a:xfrm xmlns:a="http://schemas.openxmlformats.org/drawingml/2006/main">
            <a:off x="9191625" y="2381250"/>
            <a:ext cx="2400300" cy="333375"/>
          </a:xfrm>
          <a:prstGeom xmlns:a="http://schemas.openxmlformats.org/drawingml/2006/main" prst="rect">
            <a:avLst/>
          </a:prstGeom>
          <a:solidFill xmlns:a="http://schemas.openxmlformats.org/drawingml/2006/main">
            <a:srgbClr val="647545"/>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EE6F5C79-EB35-479C-97DD-7AE8E132B029}"/>
              </a:ext>
            </a:extLst>
          </p:cNvPr>
          <p:cNvSpPr>
            <a:spLocks xmlns:a="http://schemas.openxmlformats.org/drawingml/2006/main" noGrp="1"/>
          </p:cNvSpPr>
          <p:nvPr/>
        </p:nvSpPr>
        <p:spPr>
          <a:xfrm xmlns:a="http://schemas.openxmlformats.org/drawingml/2006/main">
            <a:off x="9277350" y="2419350"/>
            <a:ext cx="2228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575">
                <a:solidFill>
                  <a:srgbClr val="FFFFFF"/>
                </a:solidFill>
                <a:latin typeface="Ubuntu Condensed"/>
                <a:ea typeface="Ubuntu Condensed"/>
                <a:cs typeface="Ubuntu Condensed"/>
              </a:defRPr>
            </a:defPPr>
          </a:lstStyle>
          <a:p xmlns:a="http://schemas.openxmlformats.org/drawingml/2006/main">
            <a:pPr algn="ctr">
              <a:defRPr sz="1575">
                <a:solidFill>
                  <a:srgbClr val="FFFFFF"/>
                </a:solidFill>
                <a:latin typeface="Ubuntu Condensed"/>
                <a:ea typeface="Ubuntu Condensed"/>
                <a:cs typeface="Ubuntu Condensed"/>
              </a:defRPr>
            </a:pPr>
            <a:r>
              <a:rPr sz="1575">
                <a:solidFill>
                  <a:srgbClr val="FFFFFF"/>
                </a:solidFill>
                <a:latin typeface="Ubuntu Condensed"/>
                <a:ea typeface="Ubuntu Condensed"/>
                <a:cs typeface="Ubuntu Condensed"/>
              </a:rPr>
              <a:t>Year</a:t>
            </a:r>
          </a:p>
        </p:txBody>
      </p:sp>
      <p:sp>
        <p:nvSpPr>
          <p:cNvPr id="35" name="">
            <a:extLst xmlns:a="http://schemas.openxmlformats.org/drawingml/2006/main">
              <a:ext uri="{FF2B5EF4-FFF2-40B4-BE49-F238E27FC236}">
                <a16:creationId xmlns:a16="http://schemas.microsoft.com/office/drawing/2014/main" id="{79164A59-DE52-41BC-9DD7-DB149C82095E}"/>
              </a:ext>
            </a:extLst>
          </p:cNvPr>
          <p:cNvSpPr>
            <a:spLocks xmlns:a="http://schemas.openxmlformats.org/drawingml/2006/main" noGrp="1"/>
          </p:cNvSpPr>
          <p:nvPr/>
        </p:nvSpPr>
        <p:spPr>
          <a:xfrm xmlns:a="http://schemas.openxmlformats.org/drawingml/2006/main">
            <a:off x="8229600" y="28765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81796F"/>
                </a:solidFill>
                <a:latin typeface="Ubuntu Condensed"/>
                <a:ea typeface="Ubuntu Condensed"/>
                <a:cs typeface="Ubuntu Condensed"/>
              </a:defRPr>
            </a:defPPr>
          </a:lstStyle>
          <a:p xmlns:a="http://schemas.openxmlformats.org/drawingml/2006/main">
            <a:pPr>
              <a:defRPr sz="1575">
                <a:solidFill>
                  <a:srgbClr val="81796F"/>
                </a:solidFill>
                <a:latin typeface="Ubuntu Condensed"/>
                <a:ea typeface="Ubuntu Condensed"/>
                <a:cs typeface="Ubuntu Condensed"/>
              </a:defRPr>
            </a:pPr>
            <a:r>
              <a:rPr sz="1575">
                <a:solidFill>
                  <a:srgbClr val="81796F"/>
                </a:solidFill>
                <a:latin typeface="Ubuntu Condensed"/>
                <a:ea typeface="Ubuntu Condensed"/>
                <a:cs typeface="Ubuntu Condensed"/>
              </a:rPr>
              <a:t>Rows</a:t>
            </a:r>
          </a:p>
        </p:txBody>
      </p:sp>
      <p:sp>
        <p:nvSpPr>
          <p:cNvPr id="36" name="">
            <a:extLst xmlns:a="http://schemas.openxmlformats.org/drawingml/2006/main">
              <a:ext uri="{FF2B5EF4-FFF2-40B4-BE49-F238E27FC236}">
                <a16:creationId xmlns:a16="http://schemas.microsoft.com/office/drawing/2014/main" id="{257FC9AF-9AD0-4DB7-91A7-CF3816806D56}"/>
              </a:ext>
            </a:extLst>
          </p:cNvPr>
          <p:cNvSpPr>
            <a:spLocks xmlns:a="http://schemas.openxmlformats.org/drawingml/2006/main" noGrp="1"/>
          </p:cNvSpPr>
          <p:nvPr/>
        </p:nvSpPr>
        <p:spPr>
          <a:xfrm xmlns:a="http://schemas.openxmlformats.org/drawingml/2006/main">
            <a:off x="9191625" y="2838450"/>
            <a:ext cx="2400300" cy="333375"/>
          </a:xfrm>
          <a:prstGeom xmlns:a="http://schemas.openxmlformats.org/drawingml/2006/main" prst="rect">
            <a:avLst/>
          </a:prstGeom>
          <a:solidFill xmlns:a="http://schemas.openxmlformats.org/drawingml/2006/main">
            <a:srgbClr val="647545"/>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4830F0BA-AA3F-4C68-9263-7BF71C0E30C5}"/>
              </a:ext>
            </a:extLst>
          </p:cNvPr>
          <p:cNvSpPr>
            <a:spLocks xmlns:a="http://schemas.openxmlformats.org/drawingml/2006/main" noGrp="1"/>
          </p:cNvSpPr>
          <p:nvPr/>
        </p:nvSpPr>
        <p:spPr>
          <a:xfrm xmlns:a="http://schemas.openxmlformats.org/drawingml/2006/main">
            <a:off x="9277350" y="2876550"/>
            <a:ext cx="2228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575">
                <a:solidFill>
                  <a:srgbClr val="FFFFFF"/>
                </a:solidFill>
                <a:latin typeface="Ubuntu Condensed"/>
                <a:ea typeface="Ubuntu Condensed"/>
                <a:cs typeface="Ubuntu Condensed"/>
              </a:defRPr>
            </a:defPPr>
          </a:lstStyle>
          <a:p xmlns:a="http://schemas.openxmlformats.org/drawingml/2006/main">
            <a:pPr algn="ctr">
              <a:defRPr sz="1575">
                <a:solidFill>
                  <a:srgbClr val="FFFFFF"/>
                </a:solidFill>
                <a:latin typeface="Ubuntu Condensed"/>
                <a:ea typeface="Ubuntu Condensed"/>
                <a:cs typeface="Ubuntu Condensed"/>
              </a:defRPr>
            </a:pPr>
            <a:r>
              <a:rPr sz="1575">
                <a:solidFill>
                  <a:srgbClr val="FFFFFF"/>
                </a:solidFill>
                <a:latin typeface="Ubuntu Condensed"/>
                <a:ea typeface="Ubuntu Condensed"/>
                <a:cs typeface="Ubuntu Condensed"/>
              </a:rPr>
              <a:t>AVG(GDP)</a:t>
            </a:r>
          </a:p>
        </p:txBody>
      </p:sp>
      <p:sp>
        <p:nvSpPr>
          <p:cNvPr id="38" name="">
            <a:extLst xmlns:a="http://schemas.openxmlformats.org/drawingml/2006/main">
              <a:ext uri="{FF2B5EF4-FFF2-40B4-BE49-F238E27FC236}">
                <a16:creationId xmlns:a16="http://schemas.microsoft.com/office/drawing/2014/main" id="{E212829D-62C0-4248-B28E-3B3ECEE89AF9}"/>
              </a:ext>
            </a:extLst>
          </p:cNvPr>
          <p:cNvSpPr>
            <a:spLocks xmlns:a="http://schemas.openxmlformats.org/drawingml/2006/main" noGrp="1"/>
          </p:cNvSpPr>
          <p:nvPr/>
        </p:nvSpPr>
        <p:spPr>
          <a:xfrm xmlns:a="http://schemas.openxmlformats.org/drawingml/2006/main">
            <a:off x="8229600" y="3333750"/>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81796F"/>
                </a:solidFill>
                <a:latin typeface="Ubuntu Condensed"/>
                <a:ea typeface="Ubuntu Condensed"/>
                <a:cs typeface="Ubuntu Condensed"/>
              </a:defRPr>
            </a:defPPr>
          </a:lstStyle>
          <a:p xmlns:a="http://schemas.openxmlformats.org/drawingml/2006/main">
            <a:pPr>
              <a:defRPr sz="1575">
                <a:solidFill>
                  <a:srgbClr val="81796F"/>
                </a:solidFill>
                <a:latin typeface="Ubuntu Condensed"/>
                <a:ea typeface="Ubuntu Condensed"/>
                <a:cs typeface="Ubuntu Condensed"/>
              </a:defRPr>
            </a:pPr>
            <a:r>
              <a:rPr sz="1575">
                <a:solidFill>
                  <a:srgbClr val="81796F"/>
                </a:solidFill>
                <a:latin typeface="Ubuntu Condensed"/>
                <a:ea typeface="Ubuntu Condensed"/>
                <a:cs typeface="Ubuntu Condensed"/>
              </a:rPr>
              <a:t>Filters</a:t>
            </a:r>
          </a:p>
        </p:txBody>
      </p:sp>
      <p:sp>
        <p:nvSpPr>
          <p:cNvPr id="39" name="">
            <a:extLst xmlns:a="http://schemas.openxmlformats.org/drawingml/2006/main">
              <a:ext uri="{FF2B5EF4-FFF2-40B4-BE49-F238E27FC236}">
                <a16:creationId xmlns:a16="http://schemas.microsoft.com/office/drawing/2014/main" id="{A840E25C-83EE-4385-999E-829EEEEF901A}"/>
              </a:ext>
            </a:extLst>
          </p:cNvPr>
          <p:cNvSpPr>
            <a:spLocks xmlns:a="http://schemas.openxmlformats.org/drawingml/2006/main" noGrp="1"/>
          </p:cNvSpPr>
          <p:nvPr/>
        </p:nvSpPr>
        <p:spPr>
          <a:xfrm xmlns:a="http://schemas.openxmlformats.org/drawingml/2006/main">
            <a:off x="9191625" y="3295650"/>
            <a:ext cx="2400300" cy="333375"/>
          </a:xfrm>
          <a:prstGeom xmlns:a="http://schemas.openxmlformats.org/drawingml/2006/main" prst="rect">
            <a:avLst/>
          </a:prstGeom>
          <a:solidFill xmlns:a="http://schemas.openxmlformats.org/drawingml/2006/main">
            <a:srgbClr val="457985"/>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05255DD7-3A16-4D61-937C-73EC9EB5C2C8}"/>
              </a:ext>
            </a:extLst>
          </p:cNvPr>
          <p:cNvSpPr>
            <a:spLocks xmlns:a="http://schemas.openxmlformats.org/drawingml/2006/main" noGrp="1"/>
          </p:cNvSpPr>
          <p:nvPr/>
        </p:nvSpPr>
        <p:spPr>
          <a:xfrm xmlns:a="http://schemas.openxmlformats.org/drawingml/2006/main">
            <a:off x="9277350" y="3333750"/>
            <a:ext cx="2228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575">
                <a:solidFill>
                  <a:srgbClr val="FFFFFF"/>
                </a:solidFill>
                <a:latin typeface="Ubuntu Condensed"/>
                <a:ea typeface="Ubuntu Condensed"/>
                <a:cs typeface="Ubuntu Condensed"/>
              </a:defRPr>
            </a:defPPr>
          </a:lstStyle>
          <a:p xmlns:a="http://schemas.openxmlformats.org/drawingml/2006/main">
            <a:pPr algn="ctr">
              <a:defRPr sz="1575">
                <a:solidFill>
                  <a:srgbClr val="FFFFFF"/>
                </a:solidFill>
                <a:latin typeface="Ubuntu Condensed"/>
                <a:ea typeface="Ubuntu Condensed"/>
                <a:cs typeface="Ubuntu Condensed"/>
              </a:defRPr>
            </a:pPr>
            <a:r>
              <a:rPr sz="1575">
                <a:solidFill>
                  <a:srgbClr val="FFFFFF"/>
                </a:solidFill>
                <a:latin typeface="Ubuntu Condensed"/>
                <a:ea typeface="Ubuntu Condensed"/>
                <a:cs typeface="Ubuntu Condensed"/>
              </a:rPr>
              <a:t>Year: 1960–2020</a:t>
            </a:r>
          </a:p>
        </p:txBody>
      </p:sp>
      <p:sp>
        <p:nvSpPr>
          <p:cNvPr id="41" name="">
            <a:extLst xmlns:a="http://schemas.openxmlformats.org/drawingml/2006/main">
              <a:ext uri="{FF2B5EF4-FFF2-40B4-BE49-F238E27FC236}">
                <a16:creationId xmlns:a16="http://schemas.microsoft.com/office/drawing/2014/main" id="{A3F3B611-7A88-4B2F-9F41-BB14522C54D0}"/>
              </a:ext>
            </a:extLst>
          </p:cNvPr>
          <p:cNvSpPr>
            <a:spLocks xmlns:a="http://schemas.openxmlformats.org/drawingml/2006/main" noGrp="1"/>
          </p:cNvSpPr>
          <p:nvPr/>
        </p:nvSpPr>
        <p:spPr>
          <a:xfrm xmlns:a="http://schemas.openxmlformats.org/drawingml/2006/main">
            <a:off x="8229600" y="3962400"/>
            <a:ext cx="95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Marks</a:t>
            </a:r>
          </a:p>
        </p:txBody>
      </p:sp>
      <p:sp>
        <p:nvSpPr>
          <p:cNvPr id="42" name="">
            <a:extLst xmlns:a="http://schemas.openxmlformats.org/drawingml/2006/main">
              <a:ext uri="{FF2B5EF4-FFF2-40B4-BE49-F238E27FC236}">
                <a16:creationId xmlns:a16="http://schemas.microsoft.com/office/drawing/2014/main" id="{B30B6CB7-4C76-4C1D-A081-51919676D101}"/>
              </a:ext>
            </a:extLst>
          </p:cNvPr>
          <p:cNvSpPr>
            <a:spLocks xmlns:a="http://schemas.openxmlformats.org/drawingml/2006/main" noGrp="1"/>
          </p:cNvSpPr>
          <p:nvPr/>
        </p:nvSpPr>
        <p:spPr>
          <a:xfrm xmlns:a="http://schemas.openxmlformats.org/drawingml/2006/main">
            <a:off x="9191625" y="3914775"/>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a:solidFill>
                  <a:srgbClr val="38332E"/>
                </a:solidFill>
                <a:latin typeface="Ubuntu Condensed"/>
                <a:ea typeface="Ubuntu Condensed"/>
                <a:cs typeface="Ubuntu Condensed"/>
              </a:defRPr>
            </a:defPPr>
          </a:lstStyle>
          <a:p xmlns:a="http://schemas.openxmlformats.org/drawingml/2006/main">
            <a:pPr>
              <a:defRPr sz="2100">
                <a:solidFill>
                  <a:srgbClr val="38332E"/>
                </a:solidFill>
                <a:latin typeface="Ubuntu Condensed"/>
                <a:ea typeface="Ubuntu Condensed"/>
                <a:cs typeface="Ubuntu Condensed"/>
              </a:defRPr>
            </a:pPr>
            <a:r>
              <a:rPr sz="2100">
                <a:solidFill>
                  <a:srgbClr val="38332E"/>
                </a:solidFill>
                <a:latin typeface="Ubuntu Condensed"/>
                <a:ea typeface="Ubuntu Condensed"/>
                <a:cs typeface="Ubuntu Condensed"/>
              </a:rPr>
              <a:t>Line</a:t>
            </a:r>
          </a:p>
        </p:txBody>
      </p:sp>
      <p:sp>
        <p:nvSpPr>
          <p:cNvPr id="43" name="">
            <a:extLst xmlns:a="http://schemas.openxmlformats.org/drawingml/2006/main">
              <a:ext uri="{FF2B5EF4-FFF2-40B4-BE49-F238E27FC236}">
                <a16:creationId xmlns:a16="http://schemas.microsoft.com/office/drawing/2014/main" id="{53417210-8EA1-47C4-BB6F-C09A39A3332D}"/>
              </a:ext>
            </a:extLst>
          </p:cNvPr>
          <p:cNvSpPr>
            <a:spLocks xmlns:a="http://schemas.openxmlformats.org/drawingml/2006/main" noGrp="1"/>
          </p:cNvSpPr>
          <p:nvPr/>
        </p:nvSpPr>
        <p:spPr>
          <a:xfrm xmlns:a="http://schemas.openxmlformats.org/drawingml/2006/main">
            <a:off x="8229600" y="4448175"/>
            <a:ext cx="342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a:solidFill>
                  <a:srgbClr val="38332E"/>
                </a:solidFill>
                <a:latin typeface="Ubuntu Condensed"/>
                <a:ea typeface="Ubuntu Condensed"/>
                <a:cs typeface="Ubuntu Condensed"/>
              </a:defRPr>
            </a:defPPr>
          </a:lstStyle>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Country on Color</a:t>
            </a:r>
          </a:p>
        </p:txBody>
      </p:sp>
      <p:sp>
        <p:nvSpPr>
          <p:cNvPr id="44" name="">
            <a:extLst xmlns:a="http://schemas.openxmlformats.org/drawingml/2006/main">
              <a:ext uri="{FF2B5EF4-FFF2-40B4-BE49-F238E27FC236}">
                <a16:creationId xmlns:a16="http://schemas.microsoft.com/office/drawing/2014/main" id="{B14920BD-92C9-49DA-8F3E-BDEEEE440EB3}"/>
              </a:ext>
            </a:extLst>
          </p:cNvPr>
          <p:cNvSpPr>
            <a:spLocks xmlns:a="http://schemas.openxmlformats.org/drawingml/2006/main" noGrp="1"/>
          </p:cNvSpPr>
          <p:nvPr/>
        </p:nvSpPr>
        <p:spPr>
          <a:xfrm xmlns:a="http://schemas.openxmlformats.org/drawingml/2006/main">
            <a:off x="8229600" y="5391150"/>
            <a:ext cx="3429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Duplicate Life History.</a:t>
            </a:r>
          </a:p>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Replace the measure on Rows.</a:t>
            </a:r>
          </a:p>
        </p:txBody>
      </p:sp>
      <p:sp>
        <p:nvSpPr>
          <p:cNvPr id="45" name="">
            <a:extLst xmlns:a="http://schemas.openxmlformats.org/drawingml/2006/main">
              <a:ext uri="{FF2B5EF4-FFF2-40B4-BE49-F238E27FC236}">
                <a16:creationId xmlns:a16="http://schemas.microsoft.com/office/drawing/2014/main" id="{A25144DF-1A86-40B3-B716-7006925A4CC4}"/>
              </a:ext>
            </a:extLst>
          </p:cNvPr>
          <p:cNvSpPr>
            <a:spLocks xmlns:a="http://schemas.openxmlformats.org/drawingml/2006/main" noGrp="1"/>
          </p:cNvSpPr>
          <p:nvPr/>
        </p:nvSpPr>
        <p:spPr>
          <a:xfrm xmlns:a="http://schemas.openxmlformats.org/drawingml/2006/main">
            <a:off x="457200" y="6381750"/>
            <a:ext cx="1123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B23C50"/>
                </a:solidFill>
                <a:latin typeface="Ubuntu Condensed"/>
                <a:ea typeface="Ubuntu Condensed"/>
                <a:cs typeface="Ubuntu Condensed"/>
              </a:defRPr>
            </a:defPPr>
          </a:lstStyle>
          <a:p xmlns:a="http://schemas.openxmlformats.org/drawingml/2006/main">
            <a:pPr>
              <a:defRPr sz="1875">
                <a:solidFill>
                  <a:srgbClr val="B23C50"/>
                </a:solidFill>
                <a:latin typeface="Ubuntu Condensed"/>
                <a:ea typeface="Ubuntu Condensed"/>
                <a:cs typeface="Ubuntu Condensed"/>
              </a:defRPr>
            </a:pPr>
            <a:r>
              <a:rPr sz="1875">
                <a:solidFill>
                  <a:srgbClr val="B23C50"/>
                </a:solidFill>
                <a:latin typeface="Ubuntu Condensed"/>
                <a:ea typeface="Ubuntu Condensed"/>
                <a:cs typeface="Ubuntu Condensed"/>
              </a:rPr>
              <a:t>Measure pill menu: Measure &gt; Average. Leave Pages empty for this dashboard.</a:t>
            </a:r>
          </a:p>
        </p:txBody>
      </p:sp>
    </p:spTree>
    <p:extLst>
      <p:ext uri="{BB962C8B-B14F-4D97-AF65-F5344CB8AC3E}">
        <p14:creationId xmlns:p14="http://schemas.microsoft.com/office/powerpoint/2010/main" val="87033833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35BCA28-7A83-4007-96F1-A22307DCAB44}"/>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The dashboard layout</a:t>
            </a:r>
          </a:p>
        </p:txBody>
      </p:sp>
      <p:sp>
        <p:nvSpPr>
          <p:cNvPr id="2" name="">
            <a:extLst xmlns:a="http://schemas.openxmlformats.org/drawingml/2006/main">
              <a:ext uri="{FF2B5EF4-FFF2-40B4-BE49-F238E27FC236}">
                <a16:creationId xmlns:a16="http://schemas.microsoft.com/office/drawing/2014/main" id="{3F627999-83F7-4E7A-9D7B-F56C90D704D7}"/>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A large overview and a smaller history column</a:t>
            </a:r>
          </a:p>
        </p:txBody>
      </p:sp>
      <p:sp>
        <p:nvSpPr>
          <p:cNvPr id="3" name="">
            <a:extLst xmlns:a="http://schemas.openxmlformats.org/drawingml/2006/main">
              <a:ext uri="{FF2B5EF4-FFF2-40B4-BE49-F238E27FC236}">
                <a16:creationId xmlns:a16="http://schemas.microsoft.com/office/drawing/2014/main" id="{0996ED5F-7586-4BFD-B6A3-9DF04C024069}"/>
              </a:ext>
            </a:extLst>
          </p:cNvPr>
          <p:cNvSpPr>
            <a:spLocks xmlns:a="http://schemas.openxmlformats.org/drawingml/2006/main" noGrp="1"/>
          </p:cNvSpPr>
          <p:nvPr/>
        </p:nvSpPr>
        <p:spPr>
          <a:xfrm xmlns:a="http://schemas.openxmlformats.org/drawingml/2006/main">
            <a:off x="457200" y="1685925"/>
            <a:ext cx="619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81796F"/>
                </a:solidFill>
                <a:latin typeface="Ubuntu Condensed"/>
                <a:ea typeface="Ubuntu Condensed"/>
                <a:cs typeface="Ubuntu Condensed"/>
              </a:defRPr>
            </a:defPPr>
          </a:lstStyle>
          <a:p xmlns:a="http://schemas.openxmlformats.org/drawingml/2006/main">
            <a:pPr>
              <a:defRPr sz="2025">
                <a:solidFill>
                  <a:srgbClr val="81796F"/>
                </a:solidFill>
                <a:latin typeface="Ubuntu Condensed"/>
                <a:ea typeface="Ubuntu Condensed"/>
                <a:cs typeface="Ubuntu Condensed"/>
              </a:defRPr>
            </a:pPr>
            <a:r>
              <a:rPr sz="2025">
                <a:solidFill>
                  <a:srgbClr val="81796F"/>
                </a:solidFill>
                <a:latin typeface="Ubuntu Condensed"/>
                <a:ea typeface="Ubuntu Condensed"/>
                <a:cs typeface="Ubuntu Condensed"/>
              </a:rPr>
              <a:t>1200 × 800</a:t>
            </a:r>
          </a:p>
        </p:txBody>
      </p:sp>
      <p:sp>
        <p:nvSpPr>
          <p:cNvPr id="4" name="">
            <a:extLst xmlns:a="http://schemas.openxmlformats.org/drawingml/2006/main">
              <a:ext uri="{FF2B5EF4-FFF2-40B4-BE49-F238E27FC236}">
                <a16:creationId xmlns:a16="http://schemas.microsoft.com/office/drawing/2014/main" id="{9E5FF312-D9D9-4757-9B1B-E004285B4BA3}"/>
              </a:ext>
            </a:extLst>
          </p:cNvPr>
          <p:cNvSpPr>
            <a:spLocks xmlns:a="http://schemas.openxmlformats.org/drawingml/2006/main" noGrp="1"/>
          </p:cNvSpPr>
          <p:nvPr/>
        </p:nvSpPr>
        <p:spPr>
          <a:xfrm xmlns:a="http://schemas.openxmlformats.org/drawingml/2006/main">
            <a:off x="457200" y="2219325"/>
            <a:ext cx="4000500" cy="3638550"/>
          </a:xfrm>
          <a:prstGeom xmlns:a="http://schemas.openxmlformats.org/drawingml/2006/main" prst="rect">
            <a:avLst/>
          </a:prstGeom>
          <a:solidFill xmlns:a="http://schemas.openxmlformats.org/drawingml/2006/main">
            <a:srgbClr val="F6F2E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8BF6257-0F0F-4857-92FC-E1539C571318}"/>
              </a:ext>
            </a:extLst>
          </p:cNvPr>
          <p:cNvSpPr>
            <a:spLocks xmlns:a="http://schemas.openxmlformats.org/drawingml/2006/main" noGrp="1"/>
          </p:cNvSpPr>
          <p:nvPr/>
        </p:nvSpPr>
        <p:spPr>
          <a:xfrm xmlns:a="http://schemas.openxmlformats.org/drawingml/2006/main">
            <a:off x="4610100" y="2219325"/>
            <a:ext cx="2057400" cy="1743075"/>
          </a:xfrm>
          <a:prstGeom xmlns:a="http://schemas.openxmlformats.org/drawingml/2006/main" prst="rect">
            <a:avLst/>
          </a:prstGeom>
          <a:solidFill xmlns:a="http://schemas.openxmlformats.org/drawingml/2006/main">
            <a:srgbClr val="F6F2E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4DAA2A4-F229-4110-9293-B4AB382B74C5}"/>
              </a:ext>
            </a:extLst>
          </p:cNvPr>
          <p:cNvSpPr>
            <a:spLocks xmlns:a="http://schemas.openxmlformats.org/drawingml/2006/main" noGrp="1"/>
          </p:cNvSpPr>
          <p:nvPr/>
        </p:nvSpPr>
        <p:spPr>
          <a:xfrm xmlns:a="http://schemas.openxmlformats.org/drawingml/2006/main">
            <a:off x="4610100" y="4114800"/>
            <a:ext cx="2057400" cy="1743075"/>
          </a:xfrm>
          <a:prstGeom xmlns:a="http://schemas.openxmlformats.org/drawingml/2006/main" prst="rect">
            <a:avLst/>
          </a:prstGeom>
          <a:solidFill xmlns:a="http://schemas.openxmlformats.org/drawingml/2006/main">
            <a:srgbClr val="F6F2E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4428BFB-3BCA-47EF-B27F-5C980B07A099}"/>
              </a:ext>
            </a:extLst>
          </p:cNvPr>
          <p:cNvSpPr>
            <a:spLocks xmlns:a="http://schemas.openxmlformats.org/drawingml/2006/main" noGrp="1"/>
          </p:cNvSpPr>
          <p:nvPr/>
        </p:nvSpPr>
        <p:spPr>
          <a:xfrm xmlns:a="http://schemas.openxmlformats.org/drawingml/2006/main">
            <a:off x="733425" y="361950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a:solidFill>
                  <a:srgbClr val="38332E"/>
                </a:solidFill>
                <a:latin typeface="Ubuntu Condensed"/>
                <a:ea typeface="Ubuntu Condensed"/>
                <a:cs typeface="Ubuntu Condensed"/>
              </a:defRPr>
            </a:defPPr>
          </a:lstStyle>
          <a:p xmlns:a="http://schemas.openxmlformats.org/drawingml/2006/main">
            <a:pPr>
              <a:defRPr sz="3375">
                <a:solidFill>
                  <a:srgbClr val="38332E"/>
                </a:solidFill>
                <a:latin typeface="Ubuntu Condensed"/>
                <a:ea typeface="Ubuntu Condensed"/>
                <a:cs typeface="Ubuntu Condensed"/>
              </a:defRPr>
            </a:pPr>
            <a:r>
              <a:rPr sz="3375">
                <a:solidFill>
                  <a:srgbClr val="38332E"/>
                </a:solidFill>
                <a:latin typeface="Ubuntu Condensed"/>
                <a:ea typeface="Ubuntu Condensed"/>
                <a:cs typeface="Ubuntu Condensed"/>
              </a:rPr>
              <a:t>World</a:t>
            </a:r>
          </a:p>
        </p:txBody>
      </p:sp>
      <p:sp>
        <p:nvSpPr>
          <p:cNvPr id="8" name="">
            <a:extLst xmlns:a="http://schemas.openxmlformats.org/drawingml/2006/main">
              <a:ext uri="{FF2B5EF4-FFF2-40B4-BE49-F238E27FC236}">
                <a16:creationId xmlns:a16="http://schemas.microsoft.com/office/drawing/2014/main" id="{03880AAD-AF99-40D1-A7D0-272F3EB7A477}"/>
              </a:ext>
            </a:extLst>
          </p:cNvPr>
          <p:cNvSpPr>
            <a:spLocks xmlns:a="http://schemas.openxmlformats.org/drawingml/2006/main" noGrp="1"/>
          </p:cNvSpPr>
          <p:nvPr/>
        </p:nvSpPr>
        <p:spPr>
          <a:xfrm xmlns:a="http://schemas.openxmlformats.org/drawingml/2006/main">
            <a:off x="4810125" y="2619375"/>
            <a:ext cx="1714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38332E"/>
                </a:solidFill>
                <a:latin typeface="Ubuntu Condensed"/>
                <a:ea typeface="Ubuntu Condensed"/>
                <a:cs typeface="Ubuntu Condensed"/>
              </a:defRPr>
            </a:defPPr>
          </a:lstStyle>
          <a:p xmlns:a="http://schemas.openxmlformats.org/drawingml/2006/main">
            <a:pP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Life</a:t>
            </a:r>
          </a:p>
          <a:p xmlns:a="http://schemas.openxmlformats.org/drawingml/2006/main">
            <a:pP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History</a:t>
            </a:r>
          </a:p>
        </p:txBody>
      </p:sp>
      <p:sp>
        <p:nvSpPr>
          <p:cNvPr id="9" name="">
            <a:extLst xmlns:a="http://schemas.openxmlformats.org/drawingml/2006/main">
              <a:ext uri="{FF2B5EF4-FFF2-40B4-BE49-F238E27FC236}">
                <a16:creationId xmlns:a16="http://schemas.microsoft.com/office/drawing/2014/main" id="{4E342CDB-B529-4895-8AB9-C62065CCC7FE}"/>
              </a:ext>
            </a:extLst>
          </p:cNvPr>
          <p:cNvSpPr>
            <a:spLocks xmlns:a="http://schemas.openxmlformats.org/drawingml/2006/main" noGrp="1"/>
          </p:cNvSpPr>
          <p:nvPr/>
        </p:nvSpPr>
        <p:spPr>
          <a:xfrm xmlns:a="http://schemas.openxmlformats.org/drawingml/2006/main">
            <a:off x="4810125" y="4524375"/>
            <a:ext cx="1714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38332E"/>
                </a:solidFill>
                <a:latin typeface="Ubuntu Condensed"/>
                <a:ea typeface="Ubuntu Condensed"/>
                <a:cs typeface="Ubuntu Condensed"/>
              </a:defRPr>
            </a:defPPr>
          </a:lstStyle>
          <a:p xmlns:a="http://schemas.openxmlformats.org/drawingml/2006/main">
            <a:pP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GDP</a:t>
            </a:r>
          </a:p>
          <a:p xmlns:a="http://schemas.openxmlformats.org/drawingml/2006/main">
            <a:pP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History</a:t>
            </a:r>
          </a:p>
        </p:txBody>
      </p:sp>
      <p:sp>
        <p:nvSpPr>
          <p:cNvPr id="10" name="">
            <a:extLst xmlns:a="http://schemas.openxmlformats.org/drawingml/2006/main">
              <a:ext uri="{FF2B5EF4-FFF2-40B4-BE49-F238E27FC236}">
                <a16:creationId xmlns:a16="http://schemas.microsoft.com/office/drawing/2014/main" id="{7D0A54BB-FD40-4799-93D0-9B9C24451DC9}"/>
              </a:ext>
            </a:extLst>
          </p:cNvPr>
          <p:cNvSpPr>
            <a:spLocks xmlns:a="http://schemas.openxmlformats.org/drawingml/2006/main" noGrp="1"/>
          </p:cNvSpPr>
          <p:nvPr/>
        </p:nvSpPr>
        <p:spPr>
          <a:xfrm xmlns:a="http://schemas.openxmlformats.org/drawingml/2006/main">
            <a:off x="457200" y="6067425"/>
            <a:ext cx="6286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Tiled: horizontal container, with a vertical container on the right</a:t>
            </a:r>
          </a:p>
        </p:txBody>
      </p:sp>
      <p:sp>
        <p:nvSpPr>
          <p:cNvPr id="11" name="">
            <a:extLst xmlns:a="http://schemas.openxmlformats.org/drawingml/2006/main">
              <a:ext uri="{FF2B5EF4-FFF2-40B4-BE49-F238E27FC236}">
                <a16:creationId xmlns:a16="http://schemas.microsoft.com/office/drawing/2014/main" id="{507B98A4-FDFB-4FF6-9DBB-7A5825D4EDE5}"/>
              </a:ext>
            </a:extLst>
          </p:cNvPr>
          <p:cNvSpPr>
            <a:spLocks xmlns:a="http://schemas.openxmlformats.org/drawingml/2006/main" noGrp="1"/>
          </p:cNvSpPr>
          <p:nvPr/>
        </p:nvSpPr>
        <p:spPr>
          <a:xfrm xmlns:a="http://schemas.openxmlformats.org/drawingml/2006/main">
            <a:off x="7143750" y="1676400"/>
            <a:ext cx="457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B23C50"/>
                </a:solidFill>
                <a:latin typeface="Ubuntu Condensed"/>
                <a:ea typeface="Ubuntu Condensed"/>
                <a:cs typeface="Ubuntu Condensed"/>
              </a:defRPr>
            </a:defPPr>
          </a:lstStyle>
          <a:p xmlns:a="http://schemas.openxmlformats.org/drawingml/2006/main">
            <a:pPr>
              <a:defRPr sz="2325">
                <a:solidFill>
                  <a:srgbClr val="B23C50"/>
                </a:solidFill>
                <a:latin typeface="Ubuntu Condensed"/>
                <a:ea typeface="Ubuntu Condensed"/>
                <a:cs typeface="Ubuntu Condensed"/>
              </a:defRPr>
            </a:pPr>
            <a:r>
              <a:rPr sz="2325">
                <a:solidFill>
                  <a:srgbClr val="B23C50"/>
                </a:solidFill>
                <a:latin typeface="Ubuntu Condensed"/>
                <a:ea typeface="Ubuntu Condensed"/>
                <a:cs typeface="Ubuntu Condensed"/>
              </a:rPr>
              <a:t>1  Dashboard size</a:t>
            </a:r>
          </a:p>
        </p:txBody>
      </p:sp>
      <p:sp>
        <p:nvSpPr>
          <p:cNvPr id="12" name="">
            <a:extLst xmlns:a="http://schemas.openxmlformats.org/drawingml/2006/main">
              <a:ext uri="{FF2B5EF4-FFF2-40B4-BE49-F238E27FC236}">
                <a16:creationId xmlns:a16="http://schemas.microsoft.com/office/drawing/2014/main" id="{C0C7569A-6407-411E-9374-D7000589A7AD}"/>
              </a:ext>
            </a:extLst>
          </p:cNvPr>
          <p:cNvSpPr>
            <a:spLocks xmlns:a="http://schemas.openxmlformats.org/drawingml/2006/main" noGrp="1"/>
          </p:cNvSpPr>
          <p:nvPr/>
        </p:nvSpPr>
        <p:spPr>
          <a:xfrm xmlns:a="http://schemas.openxmlformats.org/drawingml/2006/main">
            <a:off x="7143750" y="2152650"/>
            <a:ext cx="4572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Turn Device Preview off. Select Default.</a:t>
            </a:r>
          </a:p>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Dashboard pane &gt; Size &gt; Fixed size</a:t>
            </a:r>
          </a:p>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Custom: Width 1200, Height 800</a:t>
            </a:r>
          </a:p>
        </p:txBody>
      </p:sp>
      <p:sp>
        <p:nvSpPr>
          <p:cNvPr id="13" name="">
            <a:extLst xmlns:a="http://schemas.openxmlformats.org/drawingml/2006/main">
              <a:ext uri="{FF2B5EF4-FFF2-40B4-BE49-F238E27FC236}">
                <a16:creationId xmlns:a16="http://schemas.microsoft.com/office/drawing/2014/main" id="{B77C296D-B94B-4C8B-B656-D3E6CE527C8F}"/>
              </a:ext>
            </a:extLst>
          </p:cNvPr>
          <p:cNvSpPr>
            <a:spLocks xmlns:a="http://schemas.openxmlformats.org/drawingml/2006/main" noGrp="1"/>
          </p:cNvSpPr>
          <p:nvPr/>
        </p:nvSpPr>
        <p:spPr>
          <a:xfrm xmlns:a="http://schemas.openxmlformats.org/drawingml/2006/main">
            <a:off x="7143750" y="3228975"/>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a:solidFill>
                  <a:srgbClr val="81796F"/>
                </a:solidFill>
                <a:latin typeface="Ubuntu Condensed"/>
                <a:ea typeface="Ubuntu Condensed"/>
                <a:cs typeface="Ubuntu Condensed"/>
              </a:defRPr>
            </a:defPPr>
          </a:lstStyle>
          <a:p xmlns:a="http://schemas.openxmlformats.org/drawingml/2006/main">
            <a:pPr>
              <a:defRPr sz="1800">
                <a:solidFill>
                  <a:srgbClr val="81796F"/>
                </a:solidFill>
                <a:latin typeface="Ubuntu Condensed"/>
                <a:ea typeface="Ubuntu Condensed"/>
                <a:cs typeface="Ubuntu Condensed"/>
              </a:defRPr>
            </a:pPr>
            <a:r>
              <a:rPr sz="1800">
                <a:solidFill>
                  <a:srgbClr val="81796F"/>
                </a:solidFill>
                <a:latin typeface="Ubuntu Condensed"/>
                <a:ea typeface="Ubuntu Condensed"/>
                <a:cs typeface="Ubuntu Condensed"/>
              </a:rPr>
              <a:t>Drop sheets in the white canvas.</a:t>
            </a:r>
          </a:p>
          <a:p xmlns:a="http://schemas.openxmlformats.org/drawingml/2006/main">
            <a:pPr>
              <a:defRPr sz="1800">
                <a:solidFill>
                  <a:srgbClr val="81796F"/>
                </a:solidFill>
                <a:latin typeface="Ubuntu Condensed"/>
                <a:ea typeface="Ubuntu Condensed"/>
                <a:cs typeface="Ubuntu Condensed"/>
              </a:defRPr>
            </a:pPr>
            <a:r>
              <a:rPr sz="1800">
                <a:solidFill>
                  <a:srgbClr val="81796F"/>
                </a:solidFill>
                <a:latin typeface="Ubuntu Condensed"/>
                <a:ea typeface="Ubuntu Condensed"/>
                <a:cs typeface="Ubuntu Condensed"/>
              </a:rPr>
              <a:t>Gray space is outside the dashboard.</a:t>
            </a:r>
          </a:p>
        </p:txBody>
      </p:sp>
      <p:sp>
        <p:nvSpPr>
          <p:cNvPr id="14" name="">
            <a:extLst xmlns:a="http://schemas.openxmlformats.org/drawingml/2006/main">
              <a:ext uri="{FF2B5EF4-FFF2-40B4-BE49-F238E27FC236}">
                <a16:creationId xmlns:a16="http://schemas.microsoft.com/office/drawing/2014/main" id="{B8D8E82B-35B8-4C81-9047-973506C66BE5}"/>
              </a:ext>
            </a:extLst>
          </p:cNvPr>
          <p:cNvSpPr>
            <a:spLocks xmlns:a="http://schemas.openxmlformats.org/drawingml/2006/main" noGrp="1"/>
          </p:cNvSpPr>
          <p:nvPr/>
        </p:nvSpPr>
        <p:spPr>
          <a:xfrm xmlns:a="http://schemas.openxmlformats.org/drawingml/2006/main">
            <a:off x="7143750" y="4114800"/>
            <a:ext cx="457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B23C50"/>
                </a:solidFill>
                <a:latin typeface="Ubuntu Condensed"/>
                <a:ea typeface="Ubuntu Condensed"/>
                <a:cs typeface="Ubuntu Condensed"/>
              </a:defRPr>
            </a:defPPr>
          </a:lstStyle>
          <a:p xmlns:a="http://schemas.openxmlformats.org/drawingml/2006/main">
            <a:pPr>
              <a:defRPr sz="2325">
                <a:solidFill>
                  <a:srgbClr val="B23C50"/>
                </a:solidFill>
                <a:latin typeface="Ubuntu Condensed"/>
                <a:ea typeface="Ubuntu Condensed"/>
                <a:cs typeface="Ubuntu Condensed"/>
              </a:defRPr>
            </a:pPr>
            <a:r>
              <a:rPr sz="2325">
                <a:solidFill>
                  <a:srgbClr val="B23C50"/>
                </a:solidFill>
                <a:latin typeface="Ubuntu Condensed"/>
                <a:ea typeface="Ubuntu Condensed"/>
                <a:cs typeface="Ubuntu Condensed"/>
              </a:rPr>
              <a:t>2  Tiled layout</a:t>
            </a:r>
          </a:p>
        </p:txBody>
      </p:sp>
      <p:sp>
        <p:nvSpPr>
          <p:cNvPr id="15" name="">
            <a:extLst xmlns:a="http://schemas.openxmlformats.org/drawingml/2006/main">
              <a:ext uri="{FF2B5EF4-FFF2-40B4-BE49-F238E27FC236}">
                <a16:creationId xmlns:a16="http://schemas.microsoft.com/office/drawing/2014/main" id="{A2D72292-2F2E-42E6-A94C-40324DD1A933}"/>
              </a:ext>
            </a:extLst>
          </p:cNvPr>
          <p:cNvSpPr>
            <a:spLocks xmlns:a="http://schemas.openxmlformats.org/drawingml/2006/main" noGrp="1"/>
          </p:cNvSpPr>
          <p:nvPr/>
        </p:nvSpPr>
        <p:spPr>
          <a:xfrm xmlns:a="http://schemas.openxmlformats.org/drawingml/2006/main">
            <a:off x="7143750" y="4572000"/>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World on the left.</a:t>
            </a:r>
          </a:p>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Both histories in a vertical container on the right.</a:t>
            </a:r>
          </a:p>
        </p:txBody>
      </p:sp>
      <p:sp>
        <p:nvSpPr>
          <p:cNvPr id="16" name="">
            <a:extLst xmlns:a="http://schemas.openxmlformats.org/drawingml/2006/main">
              <a:ext uri="{FF2B5EF4-FFF2-40B4-BE49-F238E27FC236}">
                <a16:creationId xmlns:a16="http://schemas.microsoft.com/office/drawing/2014/main" id="{010B4377-C3E0-42C5-B5D6-FB408CFA1098}"/>
              </a:ext>
            </a:extLst>
          </p:cNvPr>
          <p:cNvSpPr>
            <a:spLocks xmlns:a="http://schemas.openxmlformats.org/drawingml/2006/main" noGrp="1"/>
          </p:cNvSpPr>
          <p:nvPr/>
        </p:nvSpPr>
        <p:spPr>
          <a:xfrm xmlns:a="http://schemas.openxmlformats.org/drawingml/2006/main">
            <a:off x="7143750" y="5486400"/>
            <a:ext cx="457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B23C50"/>
                </a:solidFill>
                <a:latin typeface="Ubuntu Condensed"/>
                <a:ea typeface="Ubuntu Condensed"/>
                <a:cs typeface="Ubuntu Condensed"/>
              </a:defRPr>
            </a:defPPr>
          </a:lstStyle>
          <a:p xmlns:a="http://schemas.openxmlformats.org/drawingml/2006/main">
            <a:pPr>
              <a:defRPr sz="2325">
                <a:solidFill>
                  <a:srgbClr val="B23C50"/>
                </a:solidFill>
                <a:latin typeface="Ubuntu Condensed"/>
                <a:ea typeface="Ubuntu Condensed"/>
                <a:cs typeface="Ubuntu Condensed"/>
              </a:defRPr>
            </a:pPr>
            <a:r>
              <a:rPr sz="2325">
                <a:solidFill>
                  <a:srgbClr val="B23C50"/>
                </a:solidFill>
                <a:latin typeface="Ubuntu Condensed"/>
                <a:ea typeface="Ubuntu Condensed"/>
                <a:cs typeface="Ubuntu Condensed"/>
              </a:rPr>
              <a:t>3  Year filter scope</a:t>
            </a:r>
          </a:p>
        </p:txBody>
      </p:sp>
      <p:sp>
        <p:nvSpPr>
          <p:cNvPr id="17" name="">
            <a:extLst xmlns:a="http://schemas.openxmlformats.org/drawingml/2006/main">
              <a:ext uri="{FF2B5EF4-FFF2-40B4-BE49-F238E27FC236}">
                <a16:creationId xmlns:a16="http://schemas.microsoft.com/office/drawing/2014/main" id="{46DC2621-D8EC-4685-B7FE-891A918237F3}"/>
              </a:ext>
            </a:extLst>
          </p:cNvPr>
          <p:cNvSpPr>
            <a:spLocks xmlns:a="http://schemas.openxmlformats.org/drawingml/2006/main" noGrp="1"/>
          </p:cNvSpPr>
          <p:nvPr/>
        </p:nvSpPr>
        <p:spPr>
          <a:xfrm xmlns:a="http://schemas.openxmlformats.org/drawingml/2006/main">
            <a:off x="7143750" y="5934075"/>
            <a:ext cx="4572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38332E"/>
                </a:solidFill>
                <a:latin typeface="Ubuntu Condensed"/>
                <a:ea typeface="Ubuntu Condensed"/>
                <a:cs typeface="Ubuntu Condensed"/>
              </a:defRPr>
            </a:defPPr>
          </a:lstStyle>
          <a:p xmlns:a="http://schemas.openxmlformats.org/drawingml/2006/main">
            <a:pPr>
              <a:defRPr sz="1725">
                <a:solidFill>
                  <a:srgbClr val="38332E"/>
                </a:solidFill>
                <a:latin typeface="Ubuntu Condensed"/>
                <a:ea typeface="Ubuntu Condensed"/>
                <a:cs typeface="Ubuntu Condensed"/>
              </a:defRPr>
            </a:pPr>
            <a:r>
              <a:rPr sz="1725">
                <a:solidFill>
                  <a:srgbClr val="38332E"/>
                </a:solidFill>
                <a:latin typeface="Ubuntu Condensed"/>
                <a:ea typeface="Ubuntu Condensed"/>
                <a:cs typeface="Ubuntu Condensed"/>
              </a:rPr>
              <a:t>Year filter menu: Apply to Worksheets</a:t>
            </a:r>
          </a:p>
          <a:p xmlns:a="http://schemas.openxmlformats.org/drawingml/2006/main">
            <a:pPr>
              <a:defRPr sz="1725">
                <a:solidFill>
                  <a:srgbClr val="38332E"/>
                </a:solidFill>
                <a:latin typeface="Ubuntu Condensed"/>
                <a:ea typeface="Ubuntu Condensed"/>
                <a:cs typeface="Ubuntu Condensed"/>
              </a:defRPr>
            </a:pPr>
            <a:r>
              <a:rPr sz="1725">
                <a:solidFill>
                  <a:srgbClr val="38332E"/>
                </a:solidFill>
                <a:latin typeface="Ubuntu Condensed"/>
                <a:ea typeface="Ubuntu Condensed"/>
                <a:cs typeface="Ubuntu Condensed"/>
              </a:rPr>
              <a:t>Selected Worksheets: World only</a:t>
            </a:r>
          </a:p>
          <a:p xmlns:a="http://schemas.openxmlformats.org/drawingml/2006/main">
            <a:pPr>
              <a:defRPr sz="1725">
                <a:solidFill>
                  <a:srgbClr val="38332E"/>
                </a:solidFill>
                <a:latin typeface="Ubuntu Condensed"/>
                <a:ea typeface="Ubuntu Condensed"/>
                <a:cs typeface="Ubuntu Condensed"/>
              </a:defRPr>
            </a:pPr>
            <a:r>
              <a:rPr sz="1725">
                <a:solidFill>
                  <a:srgbClr val="38332E"/>
                </a:solidFill>
                <a:latin typeface="Ubuntu Condensed"/>
                <a:ea typeface="Ubuntu Condensed"/>
                <a:cs typeface="Ubuntu Condensed"/>
              </a:rPr>
              <a:t>Histories keep 1960–2020.</a:t>
            </a:r>
          </a:p>
        </p:txBody>
      </p:sp>
    </p:spTree>
    <p:extLst>
      <p:ext uri="{BB962C8B-B14F-4D97-AF65-F5344CB8AC3E}">
        <p14:creationId xmlns:p14="http://schemas.microsoft.com/office/powerpoint/2010/main" val="213474505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42AE150-8E70-454C-9ACB-308A1E8BF8D0}"/>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Filtering with the sheet’s funnel icon</a:t>
            </a:r>
          </a:p>
        </p:txBody>
      </p:sp>
      <p:sp>
        <p:nvSpPr>
          <p:cNvPr id="2" name="">
            <a:extLst xmlns:a="http://schemas.openxmlformats.org/drawingml/2006/main">
              <a:ext uri="{FF2B5EF4-FFF2-40B4-BE49-F238E27FC236}">
                <a16:creationId xmlns:a16="http://schemas.microsoft.com/office/drawing/2014/main" id="{F83E1D15-92A1-421E-AB51-468FE13F9EAB}"/>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World sheet &gt; Use as Filter</a:t>
            </a:r>
          </a:p>
        </p:txBody>
      </p:sp>
      <p:sp>
        <p:nvSpPr>
          <p:cNvPr id="3" name="">
            <a:extLst xmlns:a="http://schemas.openxmlformats.org/drawingml/2006/main">
              <a:ext uri="{FF2B5EF4-FFF2-40B4-BE49-F238E27FC236}">
                <a16:creationId xmlns:a16="http://schemas.microsoft.com/office/drawing/2014/main" id="{4EE4613E-7361-432A-A69A-188A13F632C6}"/>
              </a:ext>
            </a:extLst>
          </p:cNvPr>
          <p:cNvSpPr>
            <a:spLocks xmlns:a="http://schemas.openxmlformats.org/drawingml/2006/main" noGrp="1"/>
          </p:cNvSpPr>
          <p:nvPr/>
        </p:nvSpPr>
        <p:spPr>
          <a:xfrm xmlns:a="http://schemas.openxmlformats.org/drawingml/2006/main">
            <a:off x="457200" y="1752600"/>
            <a:ext cx="523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B23C50"/>
                </a:solidFill>
                <a:latin typeface="Ubuntu Condensed"/>
                <a:ea typeface="Ubuntu Condensed"/>
                <a:cs typeface="Ubuntu Condensed"/>
              </a:defRPr>
            </a:defPPr>
          </a:lstStyle>
          <a:p xmlns:a="http://schemas.openxmlformats.org/drawingml/2006/main">
            <a:pPr>
              <a:defRPr sz="2175">
                <a:solidFill>
                  <a:srgbClr val="B23C50"/>
                </a:solidFill>
                <a:latin typeface="Ubuntu Condensed"/>
                <a:ea typeface="Ubuntu Condensed"/>
                <a:cs typeface="Ubuntu Condensed"/>
              </a:defRPr>
            </a:pPr>
            <a:r>
              <a:rPr sz="2175">
                <a:solidFill>
                  <a:srgbClr val="B23C50"/>
                </a:solidFill>
                <a:latin typeface="Ubuntu Condensed"/>
                <a:ea typeface="Ubuntu Condensed"/>
                <a:cs typeface="Ubuntu Condensed"/>
              </a:rPr>
              <a:t>1  Select the sheet</a:t>
            </a:r>
          </a:p>
        </p:txBody>
      </p:sp>
      <p:sp>
        <p:nvSpPr>
          <p:cNvPr id="4" name="">
            <a:extLst xmlns:a="http://schemas.openxmlformats.org/drawingml/2006/main">
              <a:ext uri="{FF2B5EF4-FFF2-40B4-BE49-F238E27FC236}">
                <a16:creationId xmlns:a16="http://schemas.microsoft.com/office/drawing/2014/main" id="{304AE1B1-68D8-4296-A0EA-EB5DD315CE0A}"/>
              </a:ext>
            </a:extLst>
          </p:cNvPr>
          <p:cNvSpPr>
            <a:spLocks xmlns:a="http://schemas.openxmlformats.org/drawingml/2006/main" noGrp="1"/>
          </p:cNvSpPr>
          <p:nvPr/>
        </p:nvSpPr>
        <p:spPr>
          <a:xfrm xmlns:a="http://schemas.openxmlformats.org/drawingml/2006/main">
            <a:off x="457200" y="21431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38332E"/>
                </a:solidFill>
                <a:latin typeface="Ubuntu Condensed"/>
                <a:ea typeface="Ubuntu Condensed"/>
                <a:cs typeface="Ubuntu Condensed"/>
              </a:defRPr>
            </a:defPPr>
          </a:lstStyle>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Click World in the dashboard.</a:t>
            </a:r>
          </a:p>
        </p:txBody>
      </p:sp>
      <p:sp>
        <p:nvSpPr>
          <p:cNvPr id="5" name="">
            <a:extLst xmlns:a="http://schemas.openxmlformats.org/drawingml/2006/main">
              <a:ext uri="{FF2B5EF4-FFF2-40B4-BE49-F238E27FC236}">
                <a16:creationId xmlns:a16="http://schemas.microsoft.com/office/drawing/2014/main" id="{EEB7094D-1213-4122-9527-5F0C83A86705}"/>
              </a:ext>
            </a:extLst>
          </p:cNvPr>
          <p:cNvSpPr>
            <a:spLocks xmlns:a="http://schemas.openxmlformats.org/drawingml/2006/main" noGrp="1"/>
          </p:cNvSpPr>
          <p:nvPr/>
        </p:nvSpPr>
        <p:spPr>
          <a:xfrm xmlns:a="http://schemas.openxmlformats.org/drawingml/2006/main">
            <a:off x="457200" y="2705100"/>
            <a:ext cx="523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B23C50"/>
                </a:solidFill>
                <a:latin typeface="Ubuntu Condensed"/>
                <a:ea typeface="Ubuntu Condensed"/>
                <a:cs typeface="Ubuntu Condensed"/>
              </a:defRPr>
            </a:defPPr>
          </a:lstStyle>
          <a:p xmlns:a="http://schemas.openxmlformats.org/drawingml/2006/main">
            <a:pPr>
              <a:defRPr sz="2175">
                <a:solidFill>
                  <a:srgbClr val="B23C50"/>
                </a:solidFill>
                <a:latin typeface="Ubuntu Condensed"/>
                <a:ea typeface="Ubuntu Condensed"/>
                <a:cs typeface="Ubuntu Condensed"/>
              </a:defRPr>
            </a:pPr>
            <a:r>
              <a:rPr sz="2175">
                <a:solidFill>
                  <a:srgbClr val="B23C50"/>
                </a:solidFill>
                <a:latin typeface="Ubuntu Condensed"/>
                <a:ea typeface="Ubuntu Condensed"/>
                <a:cs typeface="Ubuntu Condensed"/>
              </a:rPr>
              <a:t>2  Use as Filter</a:t>
            </a:r>
          </a:p>
        </p:txBody>
      </p:sp>
      <p:sp>
        <p:nvSpPr>
          <p:cNvPr id="6" name="">
            <a:extLst xmlns:a="http://schemas.openxmlformats.org/drawingml/2006/main">
              <a:ext uri="{FF2B5EF4-FFF2-40B4-BE49-F238E27FC236}">
                <a16:creationId xmlns:a16="http://schemas.microsoft.com/office/drawing/2014/main" id="{9674B9D4-6686-4CCB-A1DD-E8F80EDA7E29}"/>
              </a:ext>
            </a:extLst>
          </p:cNvPr>
          <p:cNvSpPr>
            <a:spLocks xmlns:a="http://schemas.openxmlformats.org/drawingml/2006/main" noGrp="1"/>
          </p:cNvSpPr>
          <p:nvPr/>
        </p:nvSpPr>
        <p:spPr>
          <a:xfrm xmlns:a="http://schemas.openxmlformats.org/drawingml/2006/main">
            <a:off x="457200" y="30956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38332E"/>
                </a:solidFill>
                <a:latin typeface="Ubuntu Condensed"/>
                <a:ea typeface="Ubuntu Condensed"/>
                <a:cs typeface="Ubuntu Condensed"/>
              </a:defRPr>
            </a:defPPr>
          </a:lstStyle>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Click the funnel icon on its toolbar.</a:t>
            </a:r>
          </a:p>
        </p:txBody>
      </p:sp>
      <p:sp>
        <p:nvSpPr>
          <p:cNvPr id="7" name="">
            <a:extLst xmlns:a="http://schemas.openxmlformats.org/drawingml/2006/main">
              <a:ext uri="{FF2B5EF4-FFF2-40B4-BE49-F238E27FC236}">
                <a16:creationId xmlns:a16="http://schemas.microsoft.com/office/drawing/2014/main" id="{B6EC9EB3-4593-466B-89C3-6466A93D2D07}"/>
              </a:ext>
            </a:extLst>
          </p:cNvPr>
          <p:cNvSpPr>
            <a:spLocks xmlns:a="http://schemas.openxmlformats.org/drawingml/2006/main" noGrp="1"/>
          </p:cNvSpPr>
          <p:nvPr/>
        </p:nvSpPr>
        <p:spPr>
          <a:xfrm xmlns:a="http://schemas.openxmlformats.org/drawingml/2006/main">
            <a:off x="457200" y="3657600"/>
            <a:ext cx="523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B23C50"/>
                </a:solidFill>
                <a:latin typeface="Ubuntu Condensed"/>
                <a:ea typeface="Ubuntu Condensed"/>
                <a:cs typeface="Ubuntu Condensed"/>
              </a:defRPr>
            </a:defPPr>
          </a:lstStyle>
          <a:p xmlns:a="http://schemas.openxmlformats.org/drawingml/2006/main">
            <a:pPr>
              <a:defRPr sz="2175">
                <a:solidFill>
                  <a:srgbClr val="B23C50"/>
                </a:solidFill>
                <a:latin typeface="Ubuntu Condensed"/>
                <a:ea typeface="Ubuntu Condensed"/>
                <a:cs typeface="Ubuntu Condensed"/>
              </a:defRPr>
            </a:pPr>
            <a:r>
              <a:rPr sz="2175">
                <a:solidFill>
                  <a:srgbClr val="B23C50"/>
                </a:solidFill>
                <a:latin typeface="Ubuntu Condensed"/>
                <a:ea typeface="Ubuntu Condensed"/>
                <a:cs typeface="Ubuntu Condensed"/>
              </a:rPr>
              <a:t>3  Select a country</a:t>
            </a:r>
          </a:p>
        </p:txBody>
      </p:sp>
      <p:sp>
        <p:nvSpPr>
          <p:cNvPr id="8" name="">
            <a:extLst xmlns:a="http://schemas.openxmlformats.org/drawingml/2006/main">
              <a:ext uri="{FF2B5EF4-FFF2-40B4-BE49-F238E27FC236}">
                <a16:creationId xmlns:a16="http://schemas.microsoft.com/office/drawing/2014/main" id="{4DE56EAB-8472-4E61-AF8E-1737B3C649D8}"/>
              </a:ext>
            </a:extLst>
          </p:cNvPr>
          <p:cNvSpPr>
            <a:spLocks xmlns:a="http://schemas.openxmlformats.org/drawingml/2006/main" noGrp="1"/>
          </p:cNvSpPr>
          <p:nvPr/>
        </p:nvSpPr>
        <p:spPr>
          <a:xfrm xmlns:a="http://schemas.openxmlformats.org/drawingml/2006/main">
            <a:off x="457200" y="40481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38332E"/>
                </a:solidFill>
                <a:latin typeface="Ubuntu Condensed"/>
                <a:ea typeface="Ubuntu Condensed"/>
                <a:cs typeface="Ubuntu Condensed"/>
              </a:defRPr>
            </a:defPPr>
          </a:lstStyle>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Click Japan, then try India.</a:t>
            </a:r>
          </a:p>
        </p:txBody>
      </p:sp>
      <p:sp>
        <p:nvSpPr>
          <p:cNvPr id="9" name="">
            <a:extLst xmlns:a="http://schemas.openxmlformats.org/drawingml/2006/main">
              <a:ext uri="{FF2B5EF4-FFF2-40B4-BE49-F238E27FC236}">
                <a16:creationId xmlns:a16="http://schemas.microsoft.com/office/drawing/2014/main" id="{01F0BC9E-756B-487D-BFD8-450371A801B9}"/>
              </a:ext>
            </a:extLst>
          </p:cNvPr>
          <p:cNvSpPr>
            <a:spLocks xmlns:a="http://schemas.openxmlformats.org/drawingml/2006/main" noGrp="1"/>
          </p:cNvSpPr>
          <p:nvPr/>
        </p:nvSpPr>
        <p:spPr>
          <a:xfrm xmlns:a="http://schemas.openxmlformats.org/drawingml/2006/main">
            <a:off x="457200" y="4857750"/>
            <a:ext cx="523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B23C50"/>
                </a:solidFill>
                <a:latin typeface="Ubuntu Condensed"/>
                <a:ea typeface="Ubuntu Condensed"/>
                <a:cs typeface="Ubuntu Condensed"/>
              </a:defRPr>
            </a:defPPr>
          </a:lstStyle>
          <a:p xmlns:a="http://schemas.openxmlformats.org/drawingml/2006/main">
            <a:pPr>
              <a:defRPr sz="1875">
                <a:solidFill>
                  <a:srgbClr val="B23C50"/>
                </a:solidFill>
                <a:latin typeface="Ubuntu Condensed"/>
                <a:ea typeface="Ubuntu Condensed"/>
                <a:cs typeface="Ubuntu Condensed"/>
              </a:defRPr>
            </a:pPr>
            <a:r>
              <a:rPr sz="1875">
                <a:solidFill>
                  <a:srgbClr val="B23C50"/>
                </a:solidFill>
                <a:latin typeface="Ubuntu Condensed"/>
                <a:ea typeface="Ubuntu Condensed"/>
                <a:cs typeface="Ubuntu Condensed"/>
              </a:rPr>
              <a:t>If a history collapses to 2020:</a:t>
            </a:r>
          </a:p>
        </p:txBody>
      </p:sp>
      <p:sp>
        <p:nvSpPr>
          <p:cNvPr id="10" name="">
            <a:extLst xmlns:a="http://schemas.openxmlformats.org/drawingml/2006/main">
              <a:ext uri="{FF2B5EF4-FFF2-40B4-BE49-F238E27FC236}">
                <a16:creationId xmlns:a16="http://schemas.microsoft.com/office/drawing/2014/main" id="{A96EFA78-ED6B-40BE-91FB-0CBF67C9C6D9}"/>
              </a:ext>
            </a:extLst>
          </p:cNvPr>
          <p:cNvSpPr>
            <a:spLocks xmlns:a="http://schemas.openxmlformats.org/drawingml/2006/main" noGrp="1"/>
          </p:cNvSpPr>
          <p:nvPr/>
        </p:nvSpPr>
        <p:spPr>
          <a:xfrm xmlns:a="http://schemas.openxmlformats.org/drawingml/2006/main">
            <a:off x="457200" y="5267325"/>
            <a:ext cx="5238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Dashboard &gt; Actions: edit the generated filter.</a:t>
            </a:r>
          </a:p>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Selected Fields: Country → Country only</a:t>
            </a:r>
          </a:p>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Clear selection: Show all values</a:t>
            </a:r>
          </a:p>
        </p:txBody>
      </p:sp>
      <p:sp>
        <p:nvSpPr>
          <p:cNvPr id="11" name="">
            <a:extLst xmlns:a="http://schemas.openxmlformats.org/drawingml/2006/main">
              <a:ext uri="{FF2B5EF4-FFF2-40B4-BE49-F238E27FC236}">
                <a16:creationId xmlns:a16="http://schemas.microsoft.com/office/drawing/2014/main" id="{0DA9877E-BE88-4623-884E-178C49F5F18D}"/>
              </a:ext>
            </a:extLst>
          </p:cNvPr>
          <p:cNvSpPr>
            <a:spLocks xmlns:a="http://schemas.openxmlformats.org/drawingml/2006/main" noGrp="1"/>
          </p:cNvSpPr>
          <p:nvPr/>
        </p:nvSpPr>
        <p:spPr>
          <a:xfrm xmlns:a="http://schemas.openxmlformats.org/drawingml/2006/main">
            <a:off x="6534150" y="1743075"/>
            <a:ext cx="514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B23C50"/>
                </a:solidFill>
                <a:latin typeface="Ubuntu Condensed"/>
                <a:ea typeface="Ubuntu Condensed"/>
                <a:cs typeface="Ubuntu Condensed"/>
              </a:defRPr>
            </a:defPPr>
          </a:lstStyle>
          <a:p xmlns:a="http://schemas.openxmlformats.org/drawingml/2006/main">
            <a:pPr>
              <a:defRPr sz="2175">
                <a:solidFill>
                  <a:srgbClr val="B23C50"/>
                </a:solidFill>
                <a:latin typeface="Ubuntu Condensed"/>
                <a:ea typeface="Ubuntu Condensed"/>
                <a:cs typeface="Ubuntu Condensed"/>
              </a:defRPr>
            </a:pPr>
            <a:r>
              <a:rPr sz="2175">
                <a:solidFill>
                  <a:srgbClr val="B23C50"/>
                </a:solidFill>
                <a:latin typeface="Ubuntu Condensed"/>
                <a:ea typeface="Ubuntu Condensed"/>
                <a:cs typeface="Ubuntu Condensed"/>
              </a:rPr>
              <a:t>Click Japan</a:t>
            </a:r>
          </a:p>
        </p:txBody>
      </p:sp>
      <p:graphicFrame>
        <p:nvGraphicFramePr>
          <p:cNvPr id="12" name="Chart">
            <a:extLst xmlns:a="http://schemas.openxmlformats.org/drawingml/2006/main">
              <a:ext uri="{FF2B5EF4-FFF2-40B4-BE49-F238E27FC236}">
                <a16:creationId xmlns:a16="http://schemas.microsoft.com/office/drawing/2014/main" id="{96A4A486-5C4D-4875-A518-9F7E600661F2}"/>
              </a:ext>
            </a:extLst>
          </p:cNvPr>
          <p:cNvGraphicFramePr/>
          <p:nvPr/>
        </p:nvGraphicFramePr>
        <p:xfrm>
          <a:off xmlns:a="http://schemas.openxmlformats.org/drawingml/2006/main" x="6286500" y="2228850"/>
          <a:ext xmlns:a="http://schemas.openxmlformats.org/drawingml/2006/main" cx="5524500" cy="1495425"/>
        </p:xfrm>
        <a:graphic xmlns:a="http://schemas.openxmlformats.org/drawingml/2006/main">
          <a:graphicData uri="http://schemas.openxmlformats.org/drawingml/2006/chart">
            <c:chart xmlns:r="http://schemas.openxmlformats.org/officeDocument/2006/relationships" xmlns:c="http://schemas.openxmlformats.org/drawingml/2006/chart" r:id="Rfd0917d170854f8e"/>
          </a:graphicData>
        </a:graphic>
      </p:graphicFrame>
      <p:sp>
        <p:nvSpPr>
          <p:cNvPr id="13" name="">
            <a:extLst xmlns:a="http://schemas.openxmlformats.org/drawingml/2006/main">
              <a:ext uri="{FF2B5EF4-FFF2-40B4-BE49-F238E27FC236}">
                <a16:creationId xmlns:a16="http://schemas.microsoft.com/office/drawing/2014/main" id="{3826C42E-0E16-4A41-98E0-FD65FC25E1A2}"/>
              </a:ext>
            </a:extLst>
          </p:cNvPr>
          <p:cNvSpPr>
            <a:spLocks xmlns:a="http://schemas.openxmlformats.org/drawingml/2006/main" noGrp="1"/>
          </p:cNvSpPr>
          <p:nvPr/>
        </p:nvSpPr>
        <p:spPr>
          <a:xfrm xmlns:a="http://schemas.openxmlformats.org/drawingml/2006/main">
            <a:off x="6810375" y="374332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1960</a:t>
            </a:r>
          </a:p>
        </p:txBody>
      </p:sp>
      <p:sp>
        <p:nvSpPr>
          <p:cNvPr id="14" name="">
            <a:extLst xmlns:a="http://schemas.openxmlformats.org/drawingml/2006/main">
              <a:ext uri="{FF2B5EF4-FFF2-40B4-BE49-F238E27FC236}">
                <a16:creationId xmlns:a16="http://schemas.microsoft.com/office/drawing/2014/main" id="{DE89A056-A4BF-4E0B-96E8-CA2C43ED11F2}"/>
              </a:ext>
            </a:extLst>
          </p:cNvPr>
          <p:cNvSpPr>
            <a:spLocks xmlns:a="http://schemas.openxmlformats.org/drawingml/2006/main" noGrp="1"/>
          </p:cNvSpPr>
          <p:nvPr/>
        </p:nvSpPr>
        <p:spPr>
          <a:xfrm xmlns:a="http://schemas.openxmlformats.org/drawingml/2006/main">
            <a:off x="11096625" y="374332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2020</a:t>
            </a:r>
          </a:p>
        </p:txBody>
      </p:sp>
      <p:sp>
        <p:nvSpPr>
          <p:cNvPr id="15" name="">
            <a:extLst xmlns:a="http://schemas.openxmlformats.org/drawingml/2006/main">
              <a:ext uri="{FF2B5EF4-FFF2-40B4-BE49-F238E27FC236}">
                <a16:creationId xmlns:a16="http://schemas.microsoft.com/office/drawing/2014/main" id="{A8F38249-80E1-4BF8-BE4C-92361160C39A}"/>
              </a:ext>
            </a:extLst>
          </p:cNvPr>
          <p:cNvSpPr>
            <a:spLocks xmlns:a="http://schemas.openxmlformats.org/drawingml/2006/main" noGrp="1"/>
          </p:cNvSpPr>
          <p:nvPr/>
        </p:nvSpPr>
        <p:spPr>
          <a:xfrm xmlns:a="http://schemas.openxmlformats.org/drawingml/2006/main">
            <a:off x="6534150" y="4105275"/>
            <a:ext cx="514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457985"/>
                </a:solidFill>
                <a:latin typeface="Ubuntu Condensed"/>
                <a:ea typeface="Ubuntu Condensed"/>
                <a:cs typeface="Ubuntu Condensed"/>
              </a:defRPr>
            </a:defPPr>
          </a:lstStyle>
          <a:p xmlns:a="http://schemas.openxmlformats.org/drawingml/2006/main">
            <a:pPr>
              <a:defRPr sz="2175">
                <a:solidFill>
                  <a:srgbClr val="457985"/>
                </a:solidFill>
                <a:latin typeface="Ubuntu Condensed"/>
                <a:ea typeface="Ubuntu Condensed"/>
                <a:cs typeface="Ubuntu Condensed"/>
              </a:defRPr>
            </a:pPr>
            <a:r>
              <a:rPr sz="2175">
                <a:solidFill>
                  <a:srgbClr val="457985"/>
                </a:solidFill>
                <a:latin typeface="Ubuntu Condensed"/>
                <a:ea typeface="Ubuntu Condensed"/>
                <a:cs typeface="Ubuntu Condensed"/>
              </a:rPr>
              <a:t>Then click India</a:t>
            </a:r>
          </a:p>
        </p:txBody>
      </p:sp>
      <p:graphicFrame>
        <p:nvGraphicFramePr>
          <p:cNvPr id="16" name="Chart">
            <a:extLst xmlns:a="http://schemas.openxmlformats.org/drawingml/2006/main">
              <a:ext uri="{FF2B5EF4-FFF2-40B4-BE49-F238E27FC236}">
                <a16:creationId xmlns:a16="http://schemas.microsoft.com/office/drawing/2014/main" id="{DC9CF416-1236-423B-827D-C9FC17A01A76}"/>
              </a:ext>
            </a:extLst>
          </p:cNvPr>
          <p:cNvGraphicFramePr/>
          <p:nvPr/>
        </p:nvGraphicFramePr>
        <p:xfrm>
          <a:off xmlns:a="http://schemas.openxmlformats.org/drawingml/2006/main" x="6286500" y="4572000"/>
          <a:ext xmlns:a="http://schemas.openxmlformats.org/drawingml/2006/main" cx="5524500" cy="1495425"/>
        </p:xfrm>
        <a:graphic xmlns:a="http://schemas.openxmlformats.org/drawingml/2006/main">
          <a:graphicData uri="http://schemas.openxmlformats.org/drawingml/2006/chart">
            <c:chart xmlns:r="http://schemas.openxmlformats.org/officeDocument/2006/relationships" xmlns:c="http://schemas.openxmlformats.org/drawingml/2006/chart" r:id="R5f07b49da28840f4"/>
          </a:graphicData>
        </a:graphic>
      </p:graphicFrame>
      <p:sp>
        <p:nvSpPr>
          <p:cNvPr id="17" name="">
            <a:extLst xmlns:a="http://schemas.openxmlformats.org/drawingml/2006/main">
              <a:ext uri="{FF2B5EF4-FFF2-40B4-BE49-F238E27FC236}">
                <a16:creationId xmlns:a16="http://schemas.microsoft.com/office/drawing/2014/main" id="{B79909F4-9941-49BB-9862-EBA9DF759195}"/>
              </a:ext>
            </a:extLst>
          </p:cNvPr>
          <p:cNvSpPr>
            <a:spLocks xmlns:a="http://schemas.openxmlformats.org/drawingml/2006/main" noGrp="1"/>
          </p:cNvSpPr>
          <p:nvPr/>
        </p:nvSpPr>
        <p:spPr>
          <a:xfrm xmlns:a="http://schemas.openxmlformats.org/drawingml/2006/main">
            <a:off x="6810375" y="608647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1960</a:t>
            </a:r>
          </a:p>
        </p:txBody>
      </p:sp>
      <p:sp>
        <p:nvSpPr>
          <p:cNvPr id="18" name="">
            <a:extLst xmlns:a="http://schemas.openxmlformats.org/drawingml/2006/main">
              <a:ext uri="{FF2B5EF4-FFF2-40B4-BE49-F238E27FC236}">
                <a16:creationId xmlns:a16="http://schemas.microsoft.com/office/drawing/2014/main" id="{24603D99-56AE-45C6-B500-37C0206C6324}"/>
              </a:ext>
            </a:extLst>
          </p:cNvPr>
          <p:cNvSpPr>
            <a:spLocks xmlns:a="http://schemas.openxmlformats.org/drawingml/2006/main" noGrp="1"/>
          </p:cNvSpPr>
          <p:nvPr/>
        </p:nvSpPr>
        <p:spPr>
          <a:xfrm xmlns:a="http://schemas.openxmlformats.org/drawingml/2006/main">
            <a:off x="11096625" y="60864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2020</a:t>
            </a:r>
          </a:p>
        </p:txBody>
      </p:sp>
      <p:sp>
        <p:nvSpPr>
          <p:cNvPr id="19" name="">
            <a:extLst xmlns:a="http://schemas.openxmlformats.org/drawingml/2006/main">
              <a:ext uri="{FF2B5EF4-FFF2-40B4-BE49-F238E27FC236}">
                <a16:creationId xmlns:a16="http://schemas.microsoft.com/office/drawing/2014/main" id="{656DCA50-2205-4355-A4FE-D02EB9A0CE2C}"/>
              </a:ext>
            </a:extLst>
          </p:cNvPr>
          <p:cNvSpPr>
            <a:spLocks xmlns:a="http://schemas.openxmlformats.org/drawingml/2006/main" noGrp="1"/>
          </p:cNvSpPr>
          <p:nvPr/>
        </p:nvSpPr>
        <p:spPr>
          <a:xfrm xmlns:a="http://schemas.openxmlformats.org/drawingml/2006/main">
            <a:off x="6534150" y="64865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a:solidFill>
                  <a:srgbClr val="81796F"/>
                </a:solidFill>
                <a:latin typeface="Ubuntu Condensed"/>
                <a:ea typeface="Ubuntu Condensed"/>
                <a:cs typeface="Ubuntu Condensed"/>
              </a:defRPr>
            </a:defPPr>
          </a:lstStyle>
          <a:p xmlns:a="http://schemas.openxmlformats.org/drawingml/2006/main">
            <a:pPr>
              <a:defRPr sz="1500">
                <a:solidFill>
                  <a:srgbClr val="81796F"/>
                </a:solidFill>
                <a:latin typeface="Ubuntu Condensed"/>
                <a:ea typeface="Ubuntu Condensed"/>
                <a:cs typeface="Ubuntu Condensed"/>
              </a:defRPr>
            </a:pPr>
            <a:r>
              <a:rPr sz="1500">
                <a:solidFill>
                  <a:srgbClr val="81796F"/>
                </a:solidFill>
                <a:latin typeface="Ubuntu Condensed"/>
                <a:ea typeface="Ubuntu Condensed"/>
                <a:cs typeface="Ubuntu Condensed"/>
              </a:rPr>
              <a:t>Life expectancy, 1960–2020</a:t>
            </a:r>
          </a:p>
        </p:txBody>
      </p:sp>
    </p:spTree>
    <p:extLst>
      <p:ext uri="{BB962C8B-B14F-4D97-AF65-F5344CB8AC3E}">
        <p14:creationId xmlns:p14="http://schemas.microsoft.com/office/powerpoint/2010/main" val="74256249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92C9D5F-73CC-4524-8FF3-E2C80ABCC86A}"/>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Highlighting the selected country</a:t>
            </a:r>
          </a:p>
        </p:txBody>
      </p:sp>
      <p:sp>
        <p:nvSpPr>
          <p:cNvPr id="2" name="">
            <a:extLst xmlns:a="http://schemas.openxmlformats.org/drawingml/2006/main">
              <a:ext uri="{FF2B5EF4-FFF2-40B4-BE49-F238E27FC236}">
                <a16:creationId xmlns:a16="http://schemas.microsoft.com/office/drawing/2014/main" id="{3FBD6F58-61C6-400B-A6F2-1EB3A1C21F5F}"/>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Dashboard &gt; Actions &gt; Add Action &gt; Highlight</a:t>
            </a:r>
          </a:p>
        </p:txBody>
      </p:sp>
      <p:sp>
        <p:nvSpPr>
          <p:cNvPr id="3" name="">
            <a:extLst xmlns:a="http://schemas.openxmlformats.org/drawingml/2006/main">
              <a:ext uri="{FF2B5EF4-FFF2-40B4-BE49-F238E27FC236}">
                <a16:creationId xmlns:a16="http://schemas.microsoft.com/office/drawing/2014/main" id="{B9E240B3-5610-435E-9549-F664E869C7B3}"/>
              </a:ext>
            </a:extLst>
          </p:cNvPr>
          <p:cNvSpPr>
            <a:spLocks xmlns:a="http://schemas.openxmlformats.org/drawingml/2006/main" noGrp="1"/>
          </p:cNvSpPr>
          <p:nvPr/>
        </p:nvSpPr>
        <p:spPr>
          <a:xfrm xmlns:a="http://schemas.openxmlformats.org/drawingml/2006/main">
            <a:off x="457200" y="176212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Source sheet</a:t>
            </a:r>
          </a:p>
        </p:txBody>
      </p:sp>
      <p:sp>
        <p:nvSpPr>
          <p:cNvPr id="4" name="">
            <a:extLst xmlns:a="http://schemas.openxmlformats.org/drawingml/2006/main">
              <a:ext uri="{FF2B5EF4-FFF2-40B4-BE49-F238E27FC236}">
                <a16:creationId xmlns:a16="http://schemas.microsoft.com/office/drawing/2014/main" id="{74AFFE53-02F2-4C59-A867-0EAFC1E68447}"/>
              </a:ext>
            </a:extLst>
          </p:cNvPr>
          <p:cNvSpPr>
            <a:spLocks xmlns:a="http://schemas.openxmlformats.org/drawingml/2006/main" noGrp="1"/>
          </p:cNvSpPr>
          <p:nvPr/>
        </p:nvSpPr>
        <p:spPr>
          <a:xfrm xmlns:a="http://schemas.openxmlformats.org/drawingml/2006/main">
            <a:off x="457200" y="2085975"/>
            <a:ext cx="514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38332E"/>
                </a:solidFill>
                <a:latin typeface="Ubuntu Condensed"/>
                <a:ea typeface="Ubuntu Condensed"/>
                <a:cs typeface="Ubuntu Condensed"/>
              </a:defRPr>
            </a:defPPr>
          </a:lstStyle>
          <a:p xmlns:a="http://schemas.openxmlformats.org/drawingml/2006/main">
            <a:pPr>
              <a:defRPr sz="2250">
                <a:solidFill>
                  <a:srgbClr val="38332E"/>
                </a:solidFill>
                <a:latin typeface="Ubuntu Condensed"/>
                <a:ea typeface="Ubuntu Condensed"/>
                <a:cs typeface="Ubuntu Condensed"/>
              </a:defRPr>
            </a:pPr>
            <a:r>
              <a:rPr sz="2250">
                <a:solidFill>
                  <a:srgbClr val="38332E"/>
                </a:solidFill>
                <a:latin typeface="Ubuntu Condensed"/>
                <a:ea typeface="Ubuntu Condensed"/>
                <a:cs typeface="Ubuntu Condensed"/>
              </a:rPr>
              <a:t>World</a:t>
            </a:r>
          </a:p>
        </p:txBody>
      </p:sp>
      <p:sp>
        <p:nvSpPr>
          <p:cNvPr id="5" name="">
            <a:extLst xmlns:a="http://schemas.openxmlformats.org/drawingml/2006/main">
              <a:ext uri="{FF2B5EF4-FFF2-40B4-BE49-F238E27FC236}">
                <a16:creationId xmlns:a16="http://schemas.microsoft.com/office/drawing/2014/main" id="{0B9A1D11-19D2-425B-A671-ED35EBD74AB3}"/>
              </a:ext>
            </a:extLst>
          </p:cNvPr>
          <p:cNvSpPr>
            <a:spLocks xmlns:a="http://schemas.openxmlformats.org/drawingml/2006/main" noGrp="1"/>
          </p:cNvSpPr>
          <p:nvPr/>
        </p:nvSpPr>
        <p:spPr>
          <a:xfrm xmlns:a="http://schemas.openxmlformats.org/drawingml/2006/main">
            <a:off x="457200" y="270510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Run action on</a:t>
            </a:r>
          </a:p>
        </p:txBody>
      </p:sp>
      <p:sp>
        <p:nvSpPr>
          <p:cNvPr id="6" name="">
            <a:extLst xmlns:a="http://schemas.openxmlformats.org/drawingml/2006/main">
              <a:ext uri="{FF2B5EF4-FFF2-40B4-BE49-F238E27FC236}">
                <a16:creationId xmlns:a16="http://schemas.microsoft.com/office/drawing/2014/main" id="{7FA5549D-5124-4A89-BB45-4162D49A5356}"/>
              </a:ext>
            </a:extLst>
          </p:cNvPr>
          <p:cNvSpPr>
            <a:spLocks xmlns:a="http://schemas.openxmlformats.org/drawingml/2006/main" noGrp="1"/>
          </p:cNvSpPr>
          <p:nvPr/>
        </p:nvSpPr>
        <p:spPr>
          <a:xfrm xmlns:a="http://schemas.openxmlformats.org/drawingml/2006/main">
            <a:off x="457200" y="3028950"/>
            <a:ext cx="514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38332E"/>
                </a:solidFill>
                <a:latin typeface="Ubuntu Condensed"/>
                <a:ea typeface="Ubuntu Condensed"/>
                <a:cs typeface="Ubuntu Condensed"/>
              </a:defRPr>
            </a:defPPr>
          </a:lstStyle>
          <a:p xmlns:a="http://schemas.openxmlformats.org/drawingml/2006/main">
            <a:pPr>
              <a:defRPr sz="2250">
                <a:solidFill>
                  <a:srgbClr val="38332E"/>
                </a:solidFill>
                <a:latin typeface="Ubuntu Condensed"/>
                <a:ea typeface="Ubuntu Condensed"/>
                <a:cs typeface="Ubuntu Condensed"/>
              </a:defRPr>
            </a:pPr>
            <a:r>
              <a:rPr sz="2250">
                <a:solidFill>
                  <a:srgbClr val="38332E"/>
                </a:solidFill>
                <a:latin typeface="Ubuntu Condensed"/>
                <a:ea typeface="Ubuntu Condensed"/>
                <a:cs typeface="Ubuntu Condensed"/>
              </a:rPr>
              <a:t>Select</a:t>
            </a:r>
          </a:p>
        </p:txBody>
      </p:sp>
      <p:sp>
        <p:nvSpPr>
          <p:cNvPr id="7" name="">
            <a:extLst xmlns:a="http://schemas.openxmlformats.org/drawingml/2006/main">
              <a:ext uri="{FF2B5EF4-FFF2-40B4-BE49-F238E27FC236}">
                <a16:creationId xmlns:a16="http://schemas.microsoft.com/office/drawing/2014/main" id="{750CE3EE-F2CF-449D-B3C9-87B9162D85DB}"/>
              </a:ext>
            </a:extLst>
          </p:cNvPr>
          <p:cNvSpPr>
            <a:spLocks xmlns:a="http://schemas.openxmlformats.org/drawingml/2006/main" noGrp="1"/>
          </p:cNvSpPr>
          <p:nvPr/>
        </p:nvSpPr>
        <p:spPr>
          <a:xfrm xmlns:a="http://schemas.openxmlformats.org/drawingml/2006/main">
            <a:off x="457200" y="364807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Target sheet</a:t>
            </a:r>
          </a:p>
        </p:txBody>
      </p:sp>
      <p:sp>
        <p:nvSpPr>
          <p:cNvPr id="8" name="">
            <a:extLst xmlns:a="http://schemas.openxmlformats.org/drawingml/2006/main">
              <a:ext uri="{FF2B5EF4-FFF2-40B4-BE49-F238E27FC236}">
                <a16:creationId xmlns:a16="http://schemas.microsoft.com/office/drawing/2014/main" id="{CA40AA29-528F-4F5B-92DE-AA398A4DCD06}"/>
              </a:ext>
            </a:extLst>
          </p:cNvPr>
          <p:cNvSpPr>
            <a:spLocks xmlns:a="http://schemas.openxmlformats.org/drawingml/2006/main" noGrp="1"/>
          </p:cNvSpPr>
          <p:nvPr/>
        </p:nvSpPr>
        <p:spPr>
          <a:xfrm xmlns:a="http://schemas.openxmlformats.org/drawingml/2006/main">
            <a:off x="457200" y="3971925"/>
            <a:ext cx="514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38332E"/>
                </a:solidFill>
                <a:latin typeface="Ubuntu Condensed"/>
                <a:ea typeface="Ubuntu Condensed"/>
                <a:cs typeface="Ubuntu Condensed"/>
              </a:defRPr>
            </a:defPPr>
          </a:lstStyle>
          <a:p xmlns:a="http://schemas.openxmlformats.org/drawingml/2006/main">
            <a:pPr>
              <a:defRPr sz="2250">
                <a:solidFill>
                  <a:srgbClr val="38332E"/>
                </a:solidFill>
                <a:latin typeface="Ubuntu Condensed"/>
                <a:ea typeface="Ubuntu Condensed"/>
                <a:cs typeface="Ubuntu Condensed"/>
              </a:defRPr>
            </a:pPr>
            <a:r>
              <a:rPr sz="2250">
                <a:solidFill>
                  <a:srgbClr val="38332E"/>
                </a:solidFill>
                <a:latin typeface="Ubuntu Condensed"/>
                <a:ea typeface="Ubuntu Condensed"/>
                <a:cs typeface="Ubuntu Condensed"/>
              </a:rPr>
              <a:t>World</a:t>
            </a:r>
          </a:p>
        </p:txBody>
      </p:sp>
      <p:sp>
        <p:nvSpPr>
          <p:cNvPr id="9" name="">
            <a:extLst xmlns:a="http://schemas.openxmlformats.org/drawingml/2006/main">
              <a:ext uri="{FF2B5EF4-FFF2-40B4-BE49-F238E27FC236}">
                <a16:creationId xmlns:a16="http://schemas.microsoft.com/office/drawing/2014/main" id="{051632A3-4936-4771-8218-0EB1949FAEEC}"/>
              </a:ext>
            </a:extLst>
          </p:cNvPr>
          <p:cNvSpPr>
            <a:spLocks xmlns:a="http://schemas.openxmlformats.org/drawingml/2006/main" noGrp="1"/>
          </p:cNvSpPr>
          <p:nvPr/>
        </p:nvSpPr>
        <p:spPr>
          <a:xfrm xmlns:a="http://schemas.openxmlformats.org/drawingml/2006/main">
            <a:off x="457200" y="45910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Target Highlighting</a:t>
            </a:r>
          </a:p>
        </p:txBody>
      </p:sp>
      <p:sp>
        <p:nvSpPr>
          <p:cNvPr id="10" name="">
            <a:extLst xmlns:a="http://schemas.openxmlformats.org/drawingml/2006/main">
              <a:ext uri="{FF2B5EF4-FFF2-40B4-BE49-F238E27FC236}">
                <a16:creationId xmlns:a16="http://schemas.microsoft.com/office/drawing/2014/main" id="{C33F9C78-234B-4086-AF1A-1D30CB8F11D2}"/>
              </a:ext>
            </a:extLst>
          </p:cNvPr>
          <p:cNvSpPr>
            <a:spLocks xmlns:a="http://schemas.openxmlformats.org/drawingml/2006/main" noGrp="1"/>
          </p:cNvSpPr>
          <p:nvPr/>
        </p:nvSpPr>
        <p:spPr>
          <a:xfrm xmlns:a="http://schemas.openxmlformats.org/drawingml/2006/main">
            <a:off x="457200" y="4914900"/>
            <a:ext cx="514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B23C50"/>
                </a:solidFill>
                <a:latin typeface="Ubuntu Condensed"/>
                <a:ea typeface="Ubuntu Condensed"/>
                <a:cs typeface="Ubuntu Condensed"/>
              </a:defRPr>
            </a:defPPr>
          </a:lstStyle>
          <a:p xmlns:a="http://schemas.openxmlformats.org/drawingml/2006/main">
            <a:pPr>
              <a:defRPr sz="2250">
                <a:solidFill>
                  <a:srgbClr val="B23C50"/>
                </a:solidFill>
                <a:latin typeface="Ubuntu Condensed"/>
                <a:ea typeface="Ubuntu Condensed"/>
                <a:cs typeface="Ubuntu Condensed"/>
              </a:defRPr>
            </a:pPr>
            <a:r>
              <a:rPr sz="2250">
                <a:solidFill>
                  <a:srgbClr val="B23C50"/>
                </a:solidFill>
                <a:latin typeface="Ubuntu Condensed"/>
                <a:ea typeface="Ubuntu Condensed"/>
                <a:cs typeface="Ubuntu Condensed"/>
              </a:rPr>
              <a:t>Selected Fields: Country</a:t>
            </a:r>
          </a:p>
        </p:txBody>
      </p:sp>
      <p:graphicFrame>
        <p:nvGraphicFramePr>
          <p:cNvPr id="11" name="Chart">
            <a:extLst xmlns:a="http://schemas.openxmlformats.org/drawingml/2006/main">
              <a:ext uri="{FF2B5EF4-FFF2-40B4-BE49-F238E27FC236}">
                <a16:creationId xmlns:a16="http://schemas.microsoft.com/office/drawing/2014/main" id="{BC1B6458-AC22-490E-951B-E0F192710BA6}"/>
              </a:ext>
            </a:extLst>
          </p:cNvPr>
          <p:cNvGraphicFramePr/>
          <p:nvPr/>
        </p:nvGraphicFramePr>
        <p:xfrm>
          <a:off xmlns:a="http://schemas.openxmlformats.org/drawingml/2006/main" x="6143625" y="1714500"/>
          <a:ext xmlns:a="http://schemas.openxmlformats.org/drawingml/2006/main" cx="5667375" cy="3276600"/>
        </p:xfrm>
        <a:graphic xmlns:a="http://schemas.openxmlformats.org/drawingml/2006/main">
          <a:graphicData uri="http://schemas.openxmlformats.org/drawingml/2006/chart">
            <c:chart xmlns:r="http://schemas.openxmlformats.org/officeDocument/2006/relationships" xmlns:c="http://schemas.openxmlformats.org/drawingml/2006/chart" r:id="R6a5fb35618644d0d"/>
          </a:graphicData>
        </a:graphic>
      </p:graphicFrame>
      <p:sp>
        <p:nvSpPr>
          <p:cNvPr id="12" name="">
            <a:extLst xmlns:a="http://schemas.openxmlformats.org/drawingml/2006/main">
              <a:ext uri="{FF2B5EF4-FFF2-40B4-BE49-F238E27FC236}">
                <a16:creationId xmlns:a16="http://schemas.microsoft.com/office/drawing/2014/main" id="{6DCF0A7C-443D-4FB9-9719-E99244199103}"/>
              </a:ext>
            </a:extLst>
          </p:cNvPr>
          <p:cNvSpPr>
            <a:spLocks xmlns:a="http://schemas.openxmlformats.org/drawingml/2006/main" noGrp="1"/>
          </p:cNvSpPr>
          <p:nvPr/>
        </p:nvSpPr>
        <p:spPr>
          <a:xfrm xmlns:a="http://schemas.openxmlformats.org/drawingml/2006/main">
            <a:off x="6572250" y="5200650"/>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38332E"/>
                </a:solidFill>
                <a:latin typeface="Ubuntu Condensed"/>
                <a:ea typeface="Ubuntu Condensed"/>
                <a:cs typeface="Ubuntu Condensed"/>
              </a:defRPr>
            </a:defPPr>
          </a:lstStyle>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Click Japan: other circles fade.</a:t>
            </a:r>
          </a:p>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Click empty space to clear.</a:t>
            </a:r>
          </a:p>
        </p:txBody>
      </p:sp>
      <p:sp>
        <p:nvSpPr>
          <p:cNvPr id="13" name="">
            <a:extLst xmlns:a="http://schemas.openxmlformats.org/drawingml/2006/main">
              <a:ext uri="{FF2B5EF4-FFF2-40B4-BE49-F238E27FC236}">
                <a16:creationId xmlns:a16="http://schemas.microsoft.com/office/drawing/2014/main" id="{914AEC29-7B2A-4A2B-9F38-DAFCB008C9AD}"/>
              </a:ext>
            </a:extLst>
          </p:cNvPr>
          <p:cNvSpPr>
            <a:spLocks xmlns:a="http://schemas.openxmlformats.org/drawingml/2006/main" noGrp="1"/>
          </p:cNvSpPr>
          <p:nvPr/>
        </p:nvSpPr>
        <p:spPr>
          <a:xfrm xmlns:a="http://schemas.openxmlformats.org/drawingml/2006/main">
            <a:off x="457200" y="6305550"/>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a:solidFill>
                  <a:srgbClr val="B23C50"/>
                </a:solidFill>
                <a:latin typeface="Ubuntu Condensed"/>
                <a:ea typeface="Ubuntu Condensed"/>
                <a:cs typeface="Ubuntu Condensed"/>
              </a:defRPr>
            </a:defPPr>
          </a:lstStyle>
          <a:p xmlns:a="http://schemas.openxmlformats.org/drawingml/2006/main">
            <a:pPr>
              <a:defRPr sz="1950">
                <a:solidFill>
                  <a:srgbClr val="B23C50"/>
                </a:solidFill>
                <a:latin typeface="Ubuntu Condensed"/>
                <a:ea typeface="Ubuntu Condensed"/>
                <a:cs typeface="Ubuntu Condensed"/>
              </a:defRPr>
            </a:pPr>
            <a:r>
              <a:rPr sz="1950">
                <a:solidFill>
                  <a:srgbClr val="B23C50"/>
                </a:solidFill>
                <a:latin typeface="Ubuntu Condensed"/>
                <a:ea typeface="Ubuntu Condensed"/>
                <a:cs typeface="Ubuntu Condensed"/>
              </a:rPr>
              <a:t>Highlight: keep other countries visible. Filter: show only the selected country.</a:t>
            </a:r>
          </a:p>
        </p:txBody>
      </p:sp>
    </p:spTree>
    <p:extLst>
      <p:ext uri="{BB962C8B-B14F-4D97-AF65-F5344CB8AC3E}">
        <p14:creationId xmlns:p14="http://schemas.microsoft.com/office/powerpoint/2010/main" val="9433453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2026-10-15T23:00:11.3370000Z</dcterms:created>
  <dcterms:modified xsi:type="dcterms:W3CDTF">2026-10-15T23:00:11.3370000Z</dcterms:modified>
</coreProperties>
</file>