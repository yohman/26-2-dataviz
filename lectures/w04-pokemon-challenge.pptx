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3ef31fba62a424f" /><Relationship Type="http://schemas.openxmlformats.org/officeDocument/2006/relationships/extended-properties" Target="/docProps/app.xml" Id="Rdfbf7e28d3394b54" /><Relationship Type="http://schemas.openxmlformats.org/officeDocument/2006/relationships/officeDocument" Target="/ppt/presentation.xml" Id="R1005a52f15af43b1" /></Relationships>
</file>

<file path=ppt/presentation.xml><?xml version="1.0" encoding="utf-8"?>
<p:presentation xmlns:p="http://schemas.openxmlformats.org/presentationml/2006/main">
  <p:sldMasterIdLst>
    <p:sldMasterId xmlns:r="http://schemas.openxmlformats.org/officeDocument/2006/relationships" id="2147483648" r:id="R5269064303e44ccd"/>
  </p:sldMasterIdLst>
  <p:notesMasterIdLst>
    <p:notesMasterId xmlns:r="http://schemas.openxmlformats.org/officeDocument/2006/relationships" r:id="Rd4e700e275ce48e7"/>
  </p:notesMasterIdLst>
  <p:sldIdLst>
    <p:sldId xmlns:r="http://schemas.openxmlformats.org/officeDocument/2006/relationships" id="256" r:id="R64f3f068f31542e1"/>
    <p:sldId xmlns:r="http://schemas.openxmlformats.org/officeDocument/2006/relationships" id="257" r:id="R4a35876e21304d9f"/>
    <p:sldId xmlns:r="http://schemas.openxmlformats.org/officeDocument/2006/relationships" id="258" r:id="R2f1d62d62f3848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c729315e0f44b5" /><Relationship Type="http://schemas.openxmlformats.org/officeDocument/2006/relationships/slideMaster" Target="/ppt/slideMasters/slideMaster1.xml" Id="R5269064303e44ccd" /><Relationship Type="http://schemas.openxmlformats.org/officeDocument/2006/relationships/notesMaster" Target="/ppt/notesMasters/notesMaster1.xml" Id="Rd4e700e275ce48e7" /><Relationship Type="http://schemas.openxmlformats.org/officeDocument/2006/relationships/presProps" Target="/ppt/presProps.xml" Id="R80b751a46cb7438d" /><Relationship Type="http://schemas.openxmlformats.org/officeDocument/2006/relationships/tableStyles" Target="/ppt/tableStyles.xml" Id="R8b7757e14bac4f74" /><Relationship Type="http://schemas.openxmlformats.org/officeDocument/2006/relationships/slide" Target="/ppt/slides/slide1.xml" Id="R64f3f068f31542e1" /><Relationship Type="http://schemas.openxmlformats.org/officeDocument/2006/relationships/slide" Target="/ppt/slides/slide2.xml" Id="R4a35876e21304d9f" /><Relationship Type="http://schemas.openxmlformats.org/officeDocument/2006/relationships/slide" Target="/ppt/slides/slide3.xml" Id="R2f1d62d62f3848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186e0d8f6d4c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0edfaf74d94589" /><Relationship Type="http://schemas.openxmlformats.org/officeDocument/2006/relationships/notesMaster" Target="/ppt/notesMasters/notesMaster1.xml" Id="R1336ffb09dec4e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1012d67b0b430e" /><Relationship Type="http://schemas.openxmlformats.org/officeDocument/2006/relationships/notesMaster" Target="/ppt/notesMasters/notesMaster1.xml" Id="R1460daac086643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3fa159b2204778" /><Relationship Type="http://schemas.openxmlformats.org/officeDocument/2006/relationships/notesMaster" Target="/ppt/notesMasters/notesMaster1.xml" Id="R256dbcdc50cd48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Pokémon Challenge opening image. Existing course image assets/images/lecture/pikachu.png. Image source: https://raw.githubusercontent.com/PokeAPI/sprites/master/sprites/pokemon/other/official-artwork/25.png . Pokémon imagery belongs to its respective rights 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Week 4 Activity 1 instructions: content/weeks/04-find-the-unexpected.md. Start with 15 minutes of individual Tableau work using data/pokemon-review.csv. Choose one question, make one chart and give it a clear title. Groups of four share everyone's work, then select one chart for its finding and clarity. One representative submits group number, all names, title, finding and selection reason, one required screenshot and an optional second image via activity-submit.html?week=4. Use activity-results.html?week=4 for show and tell. Variable definitions: pokemon-variables.html. This is an in-class group submission, separate from individual homework.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Download the updated class CSV and refresh the Tableau connection. Filter Name to Bulbasaur, Charmander, Eevee, Pikachu and Squirtle. Use a discrete Image_URL dimension with Image Role &gt; URL. Rows shelves, left to right: Image_URL then Name. Columns: AVG(Attack). Marks Bar. Right-click Image_URL on Rows and choose Sort: Descending, Sort by Field, Attack, Average, turn on labels and retain a zero baseline. Increase row height to roughly80 pixels by dragging a row divider, and widen the image header column to make the artwork visible. Use Standard view rather than Entire View if fitting shrinks the five rows. Images appear in headers, not as scatterplot marks. The illustrated bars are actual base Attack from the CSV: Pikachu55, Eevee55, Charmander52, Bulbasaur49, Squirtle48. Tie order may differ. These are base Attack statistics, not universal battle strength. Artwork from the Image_URL values. https://help.tableau.com/current/pro/desktop/en-us/image_role.htm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5736516a3045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738d4326f4460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35e16b9d7f543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415b6a6dc749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cc128ba17045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080a2bd7b4b49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4C4C7E-63F4-4913-A0C5-76F36601748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174DAAB-42BA-42E9-8FBB-EACBFAAFAC9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870D91-03C6-4148-A009-219D5E0AF5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90DE9F-BEFD-47E7-B971-FD5A0240F3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4A587C-1B2A-4DB6-982A-46D114925B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534081-7929-431B-8DB4-FCD97DCEA3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009619-6578-4175-A144-B2591503DC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BC121B0-F305-4461-B0C2-A2BB0EB551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59A102-00B2-435A-994C-3B1E07636B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D207C5-09C4-4342-B708-20E844FE39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71b56b777e42ac" /><Relationship Type="http://schemas.openxmlformats.org/officeDocument/2006/relationships/slideLayout" Target="/ppt/slideLayouts/slideLayout1.xml" Id="Rd44e9dcfbdc94f64" /><Relationship Type="http://schemas.openxmlformats.org/officeDocument/2006/relationships/slideLayout" Target="/ppt/slideLayouts/slideLayout2.xml" Id="R282edd2550724f71" /><Relationship Type="http://schemas.openxmlformats.org/officeDocument/2006/relationships/slideLayout" Target="/ppt/slideLayouts/slideLayout3.xml" Id="R13a55bb4596d4d23" /><Relationship Type="http://schemas.openxmlformats.org/officeDocument/2006/relationships/slideLayout" Target="/ppt/slideLayouts/slideLayout4.xml" Id="Rdef9bcc651d54042" /><Relationship Type="http://schemas.openxmlformats.org/officeDocument/2006/relationships/slideLayout" Target="/ppt/slideLayouts/slideLayout5.xml" Id="R4bca7f9be7504155" /><Relationship Type="http://schemas.openxmlformats.org/officeDocument/2006/relationships/slideLayout" Target="/ppt/slideLayouts/slideLayout6.xml" Id="R3d78cc7ae1e24d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4e9dcfbdc94f64"/>
    <p:sldLayoutId xmlns:r="http://schemas.openxmlformats.org/officeDocument/2006/relationships" id="2147483650" r:id="R282edd2550724f71"/>
    <p:sldLayoutId xmlns:r="http://schemas.openxmlformats.org/officeDocument/2006/relationships" id="2147483651" r:id="R13a55bb4596d4d23"/>
    <p:sldLayoutId xmlns:r="http://schemas.openxmlformats.org/officeDocument/2006/relationships" id="2147483652" r:id="Rdef9bcc651d54042"/>
    <p:sldLayoutId xmlns:r="http://schemas.openxmlformats.org/officeDocument/2006/relationships" id="2147483653" r:id="R4bca7f9be7504155"/>
    <p:sldLayoutId xmlns:r="http://schemas.openxmlformats.org/officeDocument/2006/relationships" id="2147483654" r:id="R3d78cc7ae1e24d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760e85ab0844b8" /><Relationship Type="http://schemas.openxmlformats.org/officeDocument/2006/relationships/image" Target="/ppt/media/image.png" Id="R0ad0e7c2312341f5" /><Relationship Type="http://schemas.openxmlformats.org/officeDocument/2006/relationships/notesSlide" Target="/ppt/notesSlides/notesSlide1.xml" Id="R97062e343a354d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561e977caac4e19" /><Relationship Type="http://schemas.openxmlformats.org/officeDocument/2006/relationships/notesSlide" Target="/ppt/notesSlides/notesSlide2.xml" Id="Ra8678629e4b240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3a9fc62e94418c" /><Relationship Type="http://schemas.openxmlformats.org/officeDocument/2006/relationships/chart" Target="/ppt/slides/charts/chart1.xml" Id="R509e56747d68494b" /><Relationship Type="http://schemas.openxmlformats.org/officeDocument/2006/relationships/image" Target="/ppt/media/image2.png" Id="R233eb2298d9e4c30" /><Relationship Type="http://schemas.openxmlformats.org/officeDocument/2006/relationships/image" Target="/ppt/media/image3.png" Id="Rf308243859f0426d" /><Relationship Type="http://schemas.openxmlformats.org/officeDocument/2006/relationships/image" Target="/ppt/media/image4.png" Id="Rc992b85c380b42ed" /><Relationship Type="http://schemas.openxmlformats.org/officeDocument/2006/relationships/image" Target="/ppt/media/image5.png" Id="R6b1de88dc0af4d11" /><Relationship Type="http://schemas.openxmlformats.org/officeDocument/2006/relationships/image" Target="/ppt/media/image6.png" Id="R926376722e364b0d" /><Relationship Type="http://schemas.openxmlformats.org/officeDocument/2006/relationships/notesSlide" Target="/ppt/notesSlides/notesSlide3.xml" Id="R421f6044d7604a4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Attack</c:v>
          </c:tx>
          <c:spPr>
            <a:solidFill xmlns:a="http://schemas.openxmlformats.org/drawingml/2006/main">
              <a:srgbClr val="B23C50"/>
            </a:solidFill>
          </c:spPr>
          <c:invertIfNegative val="0"/>
          <c:cat>
            <c:strRef>
              <c:f>'Chart Data'!$A$2:$A$6</c:f>
              <c:strCache>
                <c:ptCount val="5"/>
                <c:pt idx="0">
                  <c:v>Squirtle</c:v>
                </c:pt>
                <c:pt idx="1">
                  <c:v>Bulbasaur</c:v>
                </c:pt>
                <c:pt idx="2">
                  <c:v>Charmander</c:v>
                </c:pt>
                <c:pt idx="3">
                  <c:v>Eevee</c:v>
                </c:pt>
                <c:pt idx="4">
                  <c:v>Pikachu</c:v>
                </c:pt>
              </c:strCache>
            </c:strRef>
          </c:cat>
          <c:val>
            <c:numRef>
              <c:f>'Chart Data'!$B$2:$B$6</c:f>
              <c:numCache>
                <c:formatCode>General</c:formatCode>
                <c:ptCount val="5"/>
                <c:pt idx="0">
                  <c:v>48</c:v>
                </c:pt>
                <c:pt idx="1">
                  <c:v>49</c:v>
                </c:pt>
                <c:pt idx="2">
                  <c:v>52</c:v>
                </c:pt>
                <c:pt idx="3">
                  <c:v>55</c:v>
                </c:pt>
                <c:pt idx="4">
                  <c:v>55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38332E"/>
                  </a:solidFill>
                  <a:latin typeface="Ubuntu Condensed"/>
                  <a:ea typeface="Ubuntu Condensed"/>
                  <a:cs typeface="Ubuntu Condensed"/>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8332E"/>
                </a:solidFill>
                <a:latin typeface="Ubuntu Condensed"/>
                <a:ea typeface="Ubuntu Condensed"/>
                <a:cs typeface="Ubuntu Condensed"/>
              </a:defRPr>
            </a:pPr>
          </a:p>
        </c:txPr>
        <c:crossAx val="48672768"/>
      </c:catAx>
      <c:valAx>
        <c:axId val="48672768"/>
        <c:scaling>
          <c:orientation val="minMax"/>
          <c:max val="70"/>
          <c:min val="0"/>
        </c:scaling>
        <c:delete val="0"/>
        <c:axPos val="b"/>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650">
                    <a:solidFill>
                      <a:srgbClr val="38332E"/>
                    </a:solidFill>
                    <a:latin typeface="Ubuntu Condensed"/>
                    <a:ea typeface="Ubuntu Condensed"/>
                    <a:cs typeface="Ubuntu Condensed"/>
                  </a:rPr>
                  <a:t>Attack</a:t>
                </a:r>
              </a:p>
            </c:rich>
          </c:tx>
          <c:overlay val="0"/>
          <c:txPr>
            <a:bodyPr xmlns:a="http://schemas.openxmlformats.org/drawingml/2006/main" anchorCtr="1"/>
            <a:lstStyle xmlns:a="http://schemas.openxmlformats.org/drawingml/2006/main"/>
            <a:p xmlns:a="http://schemas.openxmlformats.org/drawingml/2006/main">
              <a:pPr>
                <a:defRPr sz="1650">
                  <a:solidFill>
                    <a:srgbClr val="38332E"/>
                  </a:solidFill>
                  <a:latin typeface="Ubuntu Condensed"/>
                  <a:ea typeface="Ubuntu Condensed"/>
                  <a:cs typeface="Ubuntu Condensed"/>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81796F"/>
                </a:solidFill>
                <a:latin typeface="Ubuntu Condensed"/>
                <a:ea typeface="Ubuntu Condensed"/>
                <a:cs typeface="Ubuntu Condensed"/>
              </a:defRPr>
            </a:pPr>
          </a:p>
        </c:txPr>
        <c:crossAx val="48650112"/>
        <c:crossBetween val="between"/>
        <c:majorUnit val="2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1D78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3692E1D-7E10-4BB9-875D-461EE745E8C9}"/>
              </a:ext>
            </a:extLst>
          </p:cNvPr>
          <p:cNvPicPr>
            <a:picLocks xmlns:a="http://schemas.openxmlformats.org/drawingml/2006/main" noChangeAspect="1"/>
          </p:cNvPicPr>
          <p:nvPr/>
        </p:nvPicPr>
        <p:blipFill>
          <a:blip xmlns:r="http://schemas.openxmlformats.org/officeDocument/2006/relationships" xmlns:a="http://schemas.openxmlformats.org/drawingml/2006/main" r:embed="R0ad0e7c2312341f5"/>
          <a:stretch xmlns:a="http://schemas.openxmlformats.org/drawingml/2006/main"/>
        </p:blipFill>
        <p:spPr>
          <a:xfrm xmlns:a="http://schemas.openxmlformats.org/drawingml/2006/main">
            <a:off x="2667000" y="0"/>
            <a:ext cx="6858000" cy="6858000"/>
          </a:xfrm>
          <a:prstGeom xmlns:a="http://schemas.openxmlformats.org/drawingml/2006/main" prst="rect">
            <a:avLst/>
          </a:prstGeom>
        </p:spPr>
      </p:pic>
    </p:spTree>
    <p:extLst>
      <p:ext uri="{BB962C8B-B14F-4D97-AF65-F5344CB8AC3E}">
        <p14:creationId xmlns:p14="http://schemas.microsoft.com/office/powerpoint/2010/main" val="4086708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36840F-9A59-4936-8658-A7759330AAA8}"/>
              </a:ext>
            </a:extLst>
          </p:cNvPr>
          <p:cNvSpPr>
            <a:spLocks xmlns:a="http://schemas.openxmlformats.org/drawingml/2006/main" noGrp="1"/>
          </p:cNvSpPr>
          <p:nvPr/>
        </p:nvSpPr>
        <p:spPr>
          <a:xfrm xmlns:a="http://schemas.openxmlformats.org/drawingml/2006/main">
            <a:off x="419100" y="266700"/>
            <a:ext cx="11353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a:solidFill>
                  <a:srgbClr val="38332E"/>
                </a:solidFill>
                <a:latin typeface="Ubuntu Condensed"/>
                <a:ea typeface="Ubuntu Condensed"/>
                <a:cs typeface="Ubuntu Condensed"/>
              </a:defRPr>
            </a:defPPr>
          </a:lstStyle>
          <a:p xmlns:a="http://schemas.openxmlformats.org/drawingml/2006/main">
            <a:pPr>
              <a:defRPr sz="3450">
                <a:solidFill>
                  <a:srgbClr val="38332E"/>
                </a:solidFill>
                <a:latin typeface="Ubuntu Condensed"/>
                <a:ea typeface="Ubuntu Condensed"/>
                <a:cs typeface="Ubuntu Condensed"/>
              </a:defRPr>
            </a:pPr>
            <a:r>
              <a:rPr sz="3450">
                <a:solidFill>
                  <a:srgbClr val="38332E"/>
                </a:solidFill>
                <a:latin typeface="Ubuntu Condensed"/>
                <a:ea typeface="Ubuntu Condensed"/>
                <a:cs typeface="Ubuntu Condensed"/>
              </a:rPr>
              <a:t>Pokémon Challenge</a:t>
            </a:r>
          </a:p>
        </p:txBody>
      </p:sp>
      <p:sp>
        <p:nvSpPr>
          <p:cNvPr id="2" name="">
            <a:extLst xmlns:a="http://schemas.openxmlformats.org/drawingml/2006/main">
              <a:ext uri="{FF2B5EF4-FFF2-40B4-BE49-F238E27FC236}">
                <a16:creationId xmlns:a16="http://schemas.microsoft.com/office/drawing/2014/main" id="{CD118E36-98B4-48AD-9548-F333865AAED0}"/>
              </a:ext>
            </a:extLst>
          </p:cNvPr>
          <p:cNvSpPr>
            <a:spLocks xmlns:a="http://schemas.openxmlformats.org/drawingml/2006/main" noGrp="1"/>
          </p:cNvSpPr>
          <p:nvPr/>
        </p:nvSpPr>
        <p:spPr>
          <a:xfrm xmlns:a="http://schemas.openxmlformats.org/drawingml/2006/main">
            <a:off x="438150" y="990600"/>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81796F"/>
                </a:solidFill>
                <a:latin typeface="Ubuntu Condensed"/>
                <a:ea typeface="Ubuntu Condensed"/>
                <a:cs typeface="Ubuntu Condensed"/>
              </a:defRPr>
            </a:defPPr>
          </a:lstStyle>
          <a:p xmlns:a="http://schemas.openxmlformats.org/drawingml/2006/main">
            <a:pP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One dataset. Your question. No Pokémon knowledge needed.</a:t>
            </a:r>
          </a:p>
        </p:txBody>
      </p:sp>
      <p:sp>
        <p:nvSpPr>
          <p:cNvPr id="3" name="">
            <a:extLst xmlns:a="http://schemas.openxmlformats.org/drawingml/2006/main">
              <a:ext uri="{FF2B5EF4-FFF2-40B4-BE49-F238E27FC236}">
                <a16:creationId xmlns:a16="http://schemas.microsoft.com/office/drawing/2014/main" id="{36601DAB-3E25-46BC-9169-47E7DC5D5AAC}"/>
              </a:ext>
            </a:extLst>
          </p:cNvPr>
          <p:cNvSpPr>
            <a:spLocks xmlns:a="http://schemas.openxmlformats.org/drawingml/2006/main" noGrp="1"/>
          </p:cNvSpPr>
          <p:nvPr/>
        </p:nvSpPr>
        <p:spPr>
          <a:xfrm xmlns:a="http://schemas.openxmlformats.org/drawingml/2006/main">
            <a:off x="457200" y="176212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15 min  Solo</a:t>
            </a:r>
          </a:p>
        </p:txBody>
      </p:sp>
      <p:sp>
        <p:nvSpPr>
          <p:cNvPr id="4" name="">
            <a:extLst xmlns:a="http://schemas.openxmlformats.org/drawingml/2006/main">
              <a:ext uri="{FF2B5EF4-FFF2-40B4-BE49-F238E27FC236}">
                <a16:creationId xmlns:a16="http://schemas.microsoft.com/office/drawing/2014/main" id="{32E2EE68-1F58-49D1-BBF1-9253DA317709}"/>
              </a:ext>
            </a:extLst>
          </p:cNvPr>
          <p:cNvSpPr>
            <a:spLocks xmlns:a="http://schemas.openxmlformats.org/drawingml/2006/main" noGrp="1"/>
          </p:cNvSpPr>
          <p:nvPr/>
        </p:nvSpPr>
        <p:spPr>
          <a:xfrm xmlns:a="http://schemas.openxmlformats.org/drawingml/2006/main">
            <a:off x="457200" y="2219325"/>
            <a:ext cx="11144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a:solidFill>
                  <a:srgbClr val="38332E"/>
                </a:solidFill>
                <a:latin typeface="Ubuntu Condensed"/>
                <a:ea typeface="Ubuntu Condensed"/>
                <a:cs typeface="Ubuntu Condensed"/>
              </a:defRPr>
            </a:defPPr>
          </a:lstStyle>
          <a:p xmlns:a="http://schemas.openxmlformats.org/drawingml/2006/main">
            <a:pPr>
              <a:defRPr sz="2175">
                <a:solidFill>
                  <a:srgbClr val="38332E"/>
                </a:solidFill>
                <a:latin typeface="Ubuntu Condensed"/>
                <a:ea typeface="Ubuntu Condensed"/>
                <a:cs typeface="Ubuntu Condensed"/>
              </a:defRPr>
            </a:pPr>
            <a:r>
              <a:rPr sz="2175">
                <a:solidFill>
                  <a:srgbClr val="38332E"/>
                </a:solidFill>
                <a:latin typeface="Ubuntu Condensed"/>
                <a:ea typeface="Ubuntu Condensed"/>
                <a:cs typeface="Ubuntu Condensed"/>
              </a:rPr>
              <a:t>Choose a question. Make one chart in Tableau.</a:t>
            </a:r>
          </a:p>
          <a:p xmlns:a="http://schemas.openxmlformats.org/drawingml/2006/main">
            <a:pPr>
              <a:defRPr sz="2175">
                <a:solidFill>
                  <a:srgbClr val="38332E"/>
                </a:solidFill>
                <a:latin typeface="Ubuntu Condensed"/>
                <a:ea typeface="Ubuntu Condensed"/>
                <a:cs typeface="Ubuntu Condensed"/>
              </a:defRPr>
            </a:pPr>
            <a:r>
              <a:rPr sz="2175">
                <a:solidFill>
                  <a:srgbClr val="38332E"/>
                </a:solidFill>
                <a:latin typeface="Ubuntu Condensed"/>
                <a:ea typeface="Ubuntu Condensed"/>
                <a:cs typeface="Ubuntu Condensed"/>
              </a:rPr>
              <a:t>Give it a title that communicates your finding.</a:t>
            </a:r>
          </a:p>
        </p:txBody>
      </p:sp>
      <p:sp>
        <p:nvSpPr>
          <p:cNvPr id="5" name="">
            <a:extLst xmlns:a="http://schemas.openxmlformats.org/drawingml/2006/main">
              <a:ext uri="{FF2B5EF4-FFF2-40B4-BE49-F238E27FC236}">
                <a16:creationId xmlns:a16="http://schemas.microsoft.com/office/drawing/2014/main" id="{81130994-5C24-4B7A-BF31-36379D51F8A7}"/>
              </a:ext>
            </a:extLst>
          </p:cNvPr>
          <p:cNvSpPr>
            <a:spLocks xmlns:a="http://schemas.openxmlformats.org/drawingml/2006/main" noGrp="1"/>
          </p:cNvSpPr>
          <p:nvPr/>
        </p:nvSpPr>
        <p:spPr>
          <a:xfrm xmlns:a="http://schemas.openxmlformats.org/drawingml/2006/main">
            <a:off x="457200" y="3124200"/>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Groups of 4  Share</a:t>
            </a:r>
          </a:p>
        </p:txBody>
      </p:sp>
      <p:sp>
        <p:nvSpPr>
          <p:cNvPr id="6" name="">
            <a:extLst xmlns:a="http://schemas.openxmlformats.org/drawingml/2006/main">
              <a:ext uri="{FF2B5EF4-FFF2-40B4-BE49-F238E27FC236}">
                <a16:creationId xmlns:a16="http://schemas.microsoft.com/office/drawing/2014/main" id="{32AA3951-F338-46F7-891B-7C1314ECE663}"/>
              </a:ext>
            </a:extLst>
          </p:cNvPr>
          <p:cNvSpPr>
            <a:spLocks xmlns:a="http://schemas.openxmlformats.org/drawingml/2006/main" noGrp="1"/>
          </p:cNvSpPr>
          <p:nvPr/>
        </p:nvSpPr>
        <p:spPr>
          <a:xfrm xmlns:a="http://schemas.openxmlformats.org/drawingml/2006/main">
            <a:off x="457200" y="3581400"/>
            <a:ext cx="11144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a:solidFill>
                  <a:srgbClr val="38332E"/>
                </a:solidFill>
                <a:latin typeface="Ubuntu Condensed"/>
                <a:ea typeface="Ubuntu Condensed"/>
                <a:cs typeface="Ubuntu Condensed"/>
              </a:defRPr>
            </a:defPPr>
          </a:lstStyle>
          <a:p xmlns:a="http://schemas.openxmlformats.org/drawingml/2006/main">
            <a:pPr>
              <a:defRPr sz="2175">
                <a:solidFill>
                  <a:srgbClr val="38332E"/>
                </a:solidFill>
                <a:latin typeface="Ubuntu Condensed"/>
                <a:ea typeface="Ubuntu Condensed"/>
                <a:cs typeface="Ubuntu Condensed"/>
              </a:defRPr>
            </a:pPr>
            <a:r>
              <a:rPr sz="2175">
                <a:solidFill>
                  <a:srgbClr val="38332E"/>
                </a:solidFill>
                <a:latin typeface="Ubuntu Condensed"/>
                <a:ea typeface="Ubuntu Condensed"/>
                <a:cs typeface="Ubuntu Condensed"/>
              </a:rPr>
              <a:t>Everyone explains their finding and one visual choice.</a:t>
            </a:r>
          </a:p>
          <a:p xmlns:a="http://schemas.openxmlformats.org/drawingml/2006/main">
            <a:pPr>
              <a:defRPr sz="2175">
                <a:solidFill>
                  <a:srgbClr val="38332E"/>
                </a:solidFill>
                <a:latin typeface="Ubuntu Condensed"/>
                <a:ea typeface="Ubuntu Condensed"/>
                <a:cs typeface="Ubuntu Condensed"/>
              </a:defRPr>
            </a:pPr>
            <a:r>
              <a:rPr sz="2175">
                <a:solidFill>
                  <a:srgbClr val="38332E"/>
                </a:solidFill>
                <a:latin typeface="Ubuntu Condensed"/>
                <a:ea typeface="Ubuntu Condensed"/>
                <a:cs typeface="Ubuntu Condensed"/>
              </a:rPr>
              <a:t>Choose one chart for its insight and clarity.</a:t>
            </a:r>
          </a:p>
        </p:txBody>
      </p:sp>
      <p:sp>
        <p:nvSpPr>
          <p:cNvPr id="7" name="">
            <a:extLst xmlns:a="http://schemas.openxmlformats.org/drawingml/2006/main">
              <a:ext uri="{FF2B5EF4-FFF2-40B4-BE49-F238E27FC236}">
                <a16:creationId xmlns:a16="http://schemas.microsoft.com/office/drawing/2014/main" id="{F84CA809-3B41-4727-A679-0216D354CD7A}"/>
              </a:ext>
            </a:extLst>
          </p:cNvPr>
          <p:cNvSpPr>
            <a:spLocks xmlns:a="http://schemas.openxmlformats.org/drawingml/2006/main" noGrp="1"/>
          </p:cNvSpPr>
          <p:nvPr/>
        </p:nvSpPr>
        <p:spPr>
          <a:xfrm xmlns:a="http://schemas.openxmlformats.org/drawingml/2006/main">
            <a:off x="457200" y="44862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One group submission</a:t>
            </a:r>
          </a:p>
        </p:txBody>
      </p:sp>
      <p:sp>
        <p:nvSpPr>
          <p:cNvPr id="8" name="">
            <a:extLst xmlns:a="http://schemas.openxmlformats.org/drawingml/2006/main">
              <a:ext uri="{FF2B5EF4-FFF2-40B4-BE49-F238E27FC236}">
                <a16:creationId xmlns:a16="http://schemas.microsoft.com/office/drawing/2014/main" id="{FD422A66-37B3-4C99-AE76-5E165883D8FC}"/>
              </a:ext>
            </a:extLst>
          </p:cNvPr>
          <p:cNvSpPr>
            <a:spLocks xmlns:a="http://schemas.openxmlformats.org/drawingml/2006/main" noGrp="1"/>
          </p:cNvSpPr>
          <p:nvPr/>
        </p:nvSpPr>
        <p:spPr>
          <a:xfrm xmlns:a="http://schemas.openxmlformats.org/drawingml/2006/main">
            <a:off x="457200" y="4943475"/>
            <a:ext cx="11144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a:solidFill>
                  <a:srgbClr val="38332E"/>
                </a:solidFill>
                <a:latin typeface="Ubuntu Condensed"/>
                <a:ea typeface="Ubuntu Condensed"/>
                <a:cs typeface="Ubuntu Condensed"/>
              </a:defRPr>
            </a:defPPr>
          </a:lstStyle>
          <a:p xmlns:a="http://schemas.openxmlformats.org/drawingml/2006/main">
            <a:pPr>
              <a:defRPr sz="2175">
                <a:solidFill>
                  <a:srgbClr val="38332E"/>
                </a:solidFill>
                <a:latin typeface="Ubuntu Condensed"/>
                <a:ea typeface="Ubuntu Condensed"/>
                <a:cs typeface="Ubuntu Condensed"/>
              </a:defRPr>
            </a:pPr>
            <a:r>
              <a:rPr sz="2175">
                <a:solidFill>
                  <a:srgbClr val="38332E"/>
                </a:solidFill>
                <a:latin typeface="Ubuntu Condensed"/>
                <a:ea typeface="Ubuntu Condensed"/>
                <a:cs typeface="Ubuntu Condensed"/>
              </a:rPr>
              <a:t>Submit names, title, finding and why you chose it.</a:t>
            </a:r>
          </a:p>
          <a:p xmlns:a="http://schemas.openxmlformats.org/drawingml/2006/main">
            <a:pPr>
              <a:defRPr sz="2175">
                <a:solidFill>
                  <a:srgbClr val="38332E"/>
                </a:solidFill>
                <a:latin typeface="Ubuntu Condensed"/>
                <a:ea typeface="Ubuntu Condensed"/>
                <a:cs typeface="Ubuntu Condensed"/>
              </a:defRPr>
            </a:pPr>
            <a:r>
              <a:rPr sz="2175">
                <a:solidFill>
                  <a:srgbClr val="38332E"/>
                </a:solidFill>
                <a:latin typeface="Ubuntu Condensed"/>
                <a:ea typeface="Ubuntu Condensed"/>
                <a:cs typeface="Ubuntu Condensed"/>
              </a:rPr>
              <a:t>Include one screenshot. A second is optional.</a:t>
            </a:r>
          </a:p>
        </p:txBody>
      </p:sp>
      <p:sp>
        <p:nvSpPr>
          <p:cNvPr id="9" name="">
            <a:extLst xmlns:a="http://schemas.openxmlformats.org/drawingml/2006/main">
              <a:ext uri="{FF2B5EF4-FFF2-40B4-BE49-F238E27FC236}">
                <a16:creationId xmlns:a16="http://schemas.microsoft.com/office/drawing/2014/main" id="{FD445B72-190B-4958-876C-02EDC5530AE1}"/>
              </a:ext>
            </a:extLst>
          </p:cNvPr>
          <p:cNvSpPr>
            <a:spLocks xmlns:a="http://schemas.openxmlformats.org/drawingml/2006/main" noGrp="1"/>
          </p:cNvSpPr>
          <p:nvPr/>
        </p:nvSpPr>
        <p:spPr>
          <a:xfrm xmlns:a="http://schemas.openxmlformats.org/drawingml/2006/main">
            <a:off x="457200" y="6248400"/>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a:solidFill>
                  <a:srgbClr val="B23C50"/>
                </a:solidFill>
                <a:latin typeface="Ubuntu Condensed"/>
                <a:ea typeface="Ubuntu Condensed"/>
                <a:cs typeface="Ubuntu Condensed"/>
              </a:defRPr>
            </a:defPPr>
          </a:lstStyle>
          <a:p xmlns:a="http://schemas.openxmlformats.org/drawingml/2006/main">
            <a:pPr>
              <a:defRPr sz="2025">
                <a:solidFill>
                  <a:srgbClr val="B23C50"/>
                </a:solidFill>
                <a:latin typeface="Ubuntu Condensed"/>
                <a:ea typeface="Ubuntu Condensed"/>
                <a:cs typeface="Ubuntu Condensed"/>
              </a:defRPr>
            </a:pPr>
            <a:r>
              <a:rPr sz="2025">
                <a:solidFill>
                  <a:srgbClr val="B23C50"/>
                </a:solidFill>
                <a:latin typeface="Ubuntu Condensed"/>
                <a:ea typeface="Ubuntu Condensed"/>
                <a:cs typeface="Ubuntu Condensed"/>
              </a:rPr>
              <a:t>CSV + variable guide</a:t>
            </a:r>
          </a:p>
        </p:txBody>
      </p:sp>
      <p:sp>
        <p:nvSpPr>
          <p:cNvPr id="10" name="">
            <a:extLst xmlns:a="http://schemas.openxmlformats.org/drawingml/2006/main">
              <a:ext uri="{FF2B5EF4-FFF2-40B4-BE49-F238E27FC236}">
                <a16:creationId xmlns:a16="http://schemas.microsoft.com/office/drawing/2014/main" id="{CE3C074D-8162-45F5-9FEA-75DB3303303A}"/>
              </a:ext>
            </a:extLst>
          </p:cNvPr>
          <p:cNvSpPr>
            <a:spLocks xmlns:a="http://schemas.openxmlformats.org/drawingml/2006/main" noGrp="1"/>
          </p:cNvSpPr>
          <p:nvPr/>
        </p:nvSpPr>
        <p:spPr>
          <a:xfrm xmlns:a="http://schemas.openxmlformats.org/drawingml/2006/main">
            <a:off x="4667250" y="62484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a:solidFill>
                  <a:srgbClr val="B23C50"/>
                </a:solidFill>
                <a:latin typeface="Ubuntu Condensed"/>
                <a:ea typeface="Ubuntu Condensed"/>
                <a:cs typeface="Ubuntu Condensed"/>
              </a:defRPr>
            </a:defPPr>
          </a:lstStyle>
          <a:p xmlns:a="http://schemas.openxmlformats.org/drawingml/2006/main">
            <a:pPr>
              <a:defRPr sz="2025">
                <a:solidFill>
                  <a:srgbClr val="B23C50"/>
                </a:solidFill>
                <a:latin typeface="Ubuntu Condensed"/>
                <a:ea typeface="Ubuntu Condensed"/>
                <a:cs typeface="Ubuntu Condensed"/>
              </a:defRPr>
            </a:pPr>
            <a:r>
              <a:rPr sz="2025">
                <a:solidFill>
                  <a:srgbClr val="B23C50"/>
                </a:solidFill>
                <a:latin typeface="Ubuntu Condensed"/>
                <a:ea typeface="Ubuntu Condensed"/>
                <a:cs typeface="Ubuntu Condensed"/>
              </a:rPr>
              <a:t>Submit group work</a:t>
            </a:r>
          </a:p>
        </p:txBody>
      </p:sp>
      <p:sp>
        <p:nvSpPr>
          <p:cNvPr id="11" name="">
            <a:extLst xmlns:a="http://schemas.openxmlformats.org/drawingml/2006/main">
              <a:ext uri="{FF2B5EF4-FFF2-40B4-BE49-F238E27FC236}">
                <a16:creationId xmlns:a16="http://schemas.microsoft.com/office/drawing/2014/main" id="{04A725AC-2C72-4EA3-8668-2B7285F93C31}"/>
              </a:ext>
            </a:extLst>
          </p:cNvPr>
          <p:cNvSpPr>
            <a:spLocks xmlns:a="http://schemas.openxmlformats.org/drawingml/2006/main" noGrp="1"/>
          </p:cNvSpPr>
          <p:nvPr/>
        </p:nvSpPr>
        <p:spPr>
          <a:xfrm xmlns:a="http://schemas.openxmlformats.org/drawingml/2006/main">
            <a:off x="8477250" y="62484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a:solidFill>
                  <a:srgbClr val="B23C50"/>
                </a:solidFill>
                <a:latin typeface="Ubuntu Condensed"/>
                <a:ea typeface="Ubuntu Condensed"/>
                <a:cs typeface="Ubuntu Condensed"/>
              </a:defRPr>
            </a:defPPr>
          </a:lstStyle>
          <a:p xmlns:a="http://schemas.openxmlformats.org/drawingml/2006/main">
            <a:pPr>
              <a:defRPr sz="2025">
                <a:solidFill>
                  <a:srgbClr val="B23C50"/>
                </a:solidFill>
                <a:latin typeface="Ubuntu Condensed"/>
                <a:ea typeface="Ubuntu Condensed"/>
                <a:cs typeface="Ubuntu Condensed"/>
              </a:defRPr>
            </a:pPr>
            <a:r>
              <a:rPr sz="2025">
                <a:solidFill>
                  <a:srgbClr val="B23C50"/>
                </a:solidFill>
                <a:latin typeface="Ubuntu Condensed"/>
                <a:ea typeface="Ubuntu Condensed"/>
                <a:cs typeface="Ubuntu Condensed"/>
              </a:rPr>
              <a:t>Results / show and tell</a:t>
            </a:r>
          </a:p>
        </p:txBody>
      </p:sp>
    </p:spTree>
    <p:extLst>
      <p:ext uri="{BB962C8B-B14F-4D97-AF65-F5344CB8AC3E}">
        <p14:creationId xmlns:p14="http://schemas.microsoft.com/office/powerpoint/2010/main" val="959259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611942D-C525-4D08-8854-155564633EFD}"/>
              </a:ext>
            </a:extLst>
          </p:cNvPr>
          <p:cNvSpPr>
            <a:spLocks xmlns:a="http://schemas.openxmlformats.org/drawingml/2006/main" noGrp="1"/>
          </p:cNvSpPr>
          <p:nvPr/>
        </p:nvSpPr>
        <p:spPr>
          <a:xfrm xmlns:a="http://schemas.openxmlformats.org/drawingml/2006/main">
            <a:off x="419100" y="266700"/>
            <a:ext cx="11353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a:solidFill>
                  <a:srgbClr val="38332E"/>
                </a:solidFill>
                <a:latin typeface="Ubuntu Condensed"/>
                <a:ea typeface="Ubuntu Condensed"/>
                <a:cs typeface="Ubuntu Condensed"/>
              </a:defRPr>
            </a:defPPr>
          </a:lstStyle>
          <a:p xmlns:a="http://schemas.openxmlformats.org/drawingml/2006/main">
            <a:pPr>
              <a:defRPr sz="3450">
                <a:solidFill>
                  <a:srgbClr val="38332E"/>
                </a:solidFill>
                <a:latin typeface="Ubuntu Condensed"/>
                <a:ea typeface="Ubuntu Condensed"/>
                <a:cs typeface="Ubuntu Condensed"/>
              </a:defRPr>
            </a:pPr>
            <a:r>
              <a:rPr sz="3450">
                <a:solidFill>
                  <a:srgbClr val="38332E"/>
                </a:solidFill>
                <a:latin typeface="Ubuntu Condensed"/>
                <a:ea typeface="Ubuntu Condensed"/>
                <a:cs typeface="Ubuntu Condensed"/>
              </a:rPr>
              <a:t>A first chart with Pokémon images</a:t>
            </a:r>
          </a:p>
        </p:txBody>
      </p:sp>
      <p:sp>
        <p:nvSpPr>
          <p:cNvPr id="2" name="">
            <a:extLst xmlns:a="http://schemas.openxmlformats.org/drawingml/2006/main">
              <a:ext uri="{FF2B5EF4-FFF2-40B4-BE49-F238E27FC236}">
                <a16:creationId xmlns:a16="http://schemas.microsoft.com/office/drawing/2014/main" id="{DF764D7B-094C-4DC9-B640-7C871F9EDF8C}"/>
              </a:ext>
            </a:extLst>
          </p:cNvPr>
          <p:cNvSpPr>
            <a:spLocks xmlns:a="http://schemas.openxmlformats.org/drawingml/2006/main" noGrp="1"/>
          </p:cNvSpPr>
          <p:nvPr/>
        </p:nvSpPr>
        <p:spPr>
          <a:xfrm xmlns:a="http://schemas.openxmlformats.org/drawingml/2006/main">
            <a:off x="438150" y="990600"/>
            <a:ext cx="1133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81796F"/>
                </a:solidFill>
                <a:latin typeface="Ubuntu Condensed"/>
                <a:ea typeface="Ubuntu Condensed"/>
                <a:cs typeface="Ubuntu Condensed"/>
              </a:defRPr>
            </a:defPPr>
          </a:lstStyle>
          <a:p xmlns:a="http://schemas.openxmlformats.org/drawingml/2006/main">
            <a:pP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Compare Attack for five Pokémon</a:t>
            </a:r>
          </a:p>
        </p:txBody>
      </p:sp>
      <p:sp>
        <p:nvSpPr>
          <p:cNvPr id="3" name="">
            <a:extLst xmlns:a="http://schemas.openxmlformats.org/drawingml/2006/main">
              <a:ext uri="{FF2B5EF4-FFF2-40B4-BE49-F238E27FC236}">
                <a16:creationId xmlns:a16="http://schemas.microsoft.com/office/drawing/2014/main" id="{AD31CBA2-F855-45EE-B554-168408BCABC6}"/>
              </a:ext>
            </a:extLst>
          </p:cNvPr>
          <p:cNvSpPr>
            <a:spLocks xmlns:a="http://schemas.openxmlformats.org/drawingml/2006/main" noGrp="1"/>
          </p:cNvSpPr>
          <p:nvPr/>
        </p:nvSpPr>
        <p:spPr>
          <a:xfrm xmlns:a="http://schemas.openxmlformats.org/drawingml/2006/main">
            <a:off x="457200" y="16859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B23C50"/>
                </a:solidFill>
                <a:latin typeface="Ubuntu Condensed"/>
                <a:ea typeface="Ubuntu Condensed"/>
                <a:cs typeface="Ubuntu Condensed"/>
              </a:defRPr>
            </a:defPPr>
          </a:lstStyle>
          <a:p xmlns:a="http://schemas.openxmlformats.org/drawingml/2006/main">
            <a:pPr>
              <a:defRPr sz="1875">
                <a:solidFill>
                  <a:srgbClr val="B23C50"/>
                </a:solidFill>
                <a:latin typeface="Ubuntu Condensed"/>
                <a:ea typeface="Ubuntu Condensed"/>
                <a:cs typeface="Ubuntu Condensed"/>
              </a:defRPr>
            </a:pPr>
            <a:r>
              <a:rPr sz="1875">
                <a:solidFill>
                  <a:srgbClr val="B23C50"/>
                </a:solidFill>
                <a:latin typeface="Ubuntu Condensed"/>
                <a:ea typeface="Ubuntu Condensed"/>
                <a:cs typeface="Ubuntu Condensed"/>
              </a:rPr>
              <a:t>01</a:t>
            </a:r>
          </a:p>
        </p:txBody>
      </p:sp>
      <p:sp>
        <p:nvSpPr>
          <p:cNvPr id="4" name="">
            <a:extLst xmlns:a="http://schemas.openxmlformats.org/drawingml/2006/main">
              <a:ext uri="{FF2B5EF4-FFF2-40B4-BE49-F238E27FC236}">
                <a16:creationId xmlns:a16="http://schemas.microsoft.com/office/drawing/2014/main" id="{34824E9B-E983-4385-A029-95BBA792A7EE}"/>
              </a:ext>
            </a:extLst>
          </p:cNvPr>
          <p:cNvSpPr>
            <a:spLocks xmlns:a="http://schemas.openxmlformats.org/drawingml/2006/main" noGrp="1"/>
          </p:cNvSpPr>
          <p:nvPr/>
        </p:nvSpPr>
        <p:spPr>
          <a:xfrm xmlns:a="http://schemas.openxmlformats.org/drawingml/2006/main">
            <a:off x="942975" y="1685925"/>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Open updated pokemon-review.csv.</a:t>
            </a:r>
          </a:p>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Open a new worksheet.</a:t>
            </a:r>
          </a:p>
        </p:txBody>
      </p:sp>
      <p:sp>
        <p:nvSpPr>
          <p:cNvPr id="5" name="">
            <a:extLst xmlns:a="http://schemas.openxmlformats.org/drawingml/2006/main">
              <a:ext uri="{FF2B5EF4-FFF2-40B4-BE49-F238E27FC236}">
                <a16:creationId xmlns:a16="http://schemas.microsoft.com/office/drawing/2014/main" id="{02C44BCE-DA1C-405D-94AB-3F5AC846A2B9}"/>
              </a:ext>
            </a:extLst>
          </p:cNvPr>
          <p:cNvSpPr>
            <a:spLocks xmlns:a="http://schemas.openxmlformats.org/drawingml/2006/main" noGrp="1"/>
          </p:cNvSpPr>
          <p:nvPr/>
        </p:nvSpPr>
        <p:spPr>
          <a:xfrm xmlns:a="http://schemas.openxmlformats.org/drawingml/2006/main">
            <a:off x="457200" y="23526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B23C50"/>
                </a:solidFill>
                <a:latin typeface="Ubuntu Condensed"/>
                <a:ea typeface="Ubuntu Condensed"/>
                <a:cs typeface="Ubuntu Condensed"/>
              </a:defRPr>
            </a:defPPr>
          </a:lstStyle>
          <a:p xmlns:a="http://schemas.openxmlformats.org/drawingml/2006/main">
            <a:pPr>
              <a:defRPr sz="1875">
                <a:solidFill>
                  <a:srgbClr val="B23C50"/>
                </a:solidFill>
                <a:latin typeface="Ubuntu Condensed"/>
                <a:ea typeface="Ubuntu Condensed"/>
                <a:cs typeface="Ubuntu Condensed"/>
              </a:defRPr>
            </a:pPr>
            <a:r>
              <a:rPr sz="1875">
                <a:solidFill>
                  <a:srgbClr val="B23C50"/>
                </a:solidFill>
                <a:latin typeface="Ubuntu Condensed"/>
                <a:ea typeface="Ubuntu Condensed"/>
                <a:cs typeface="Ubuntu Condensed"/>
              </a:rPr>
              <a:t>02</a:t>
            </a:r>
          </a:p>
        </p:txBody>
      </p:sp>
      <p:sp>
        <p:nvSpPr>
          <p:cNvPr id="6" name="">
            <a:extLst xmlns:a="http://schemas.openxmlformats.org/drawingml/2006/main">
              <a:ext uri="{FF2B5EF4-FFF2-40B4-BE49-F238E27FC236}">
                <a16:creationId xmlns:a16="http://schemas.microsoft.com/office/drawing/2014/main" id="{C25D7BCF-9C19-471F-BDEE-D773A76CA70A}"/>
              </a:ext>
            </a:extLst>
          </p:cNvPr>
          <p:cNvSpPr>
            <a:spLocks xmlns:a="http://schemas.openxmlformats.org/drawingml/2006/main" noGrp="1"/>
          </p:cNvSpPr>
          <p:nvPr/>
        </p:nvSpPr>
        <p:spPr>
          <a:xfrm xmlns:a="http://schemas.openxmlformats.org/drawingml/2006/main">
            <a:off x="942975" y="2352675"/>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Name to Filters: select the five shown.</a:t>
            </a:r>
          </a:p>
        </p:txBody>
      </p:sp>
      <p:sp>
        <p:nvSpPr>
          <p:cNvPr id="7" name="">
            <a:extLst xmlns:a="http://schemas.openxmlformats.org/drawingml/2006/main">
              <a:ext uri="{FF2B5EF4-FFF2-40B4-BE49-F238E27FC236}">
                <a16:creationId xmlns:a16="http://schemas.microsoft.com/office/drawing/2014/main" id="{96F526F5-5587-4A69-A943-C5EB92955C6B}"/>
              </a:ext>
            </a:extLst>
          </p:cNvPr>
          <p:cNvSpPr>
            <a:spLocks xmlns:a="http://schemas.openxmlformats.org/drawingml/2006/main" noGrp="1"/>
          </p:cNvSpPr>
          <p:nvPr/>
        </p:nvSpPr>
        <p:spPr>
          <a:xfrm xmlns:a="http://schemas.openxmlformats.org/drawingml/2006/main">
            <a:off x="457200" y="30194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B23C50"/>
                </a:solidFill>
                <a:latin typeface="Ubuntu Condensed"/>
                <a:ea typeface="Ubuntu Condensed"/>
                <a:cs typeface="Ubuntu Condensed"/>
              </a:defRPr>
            </a:defPPr>
          </a:lstStyle>
          <a:p xmlns:a="http://schemas.openxmlformats.org/drawingml/2006/main">
            <a:pPr>
              <a:defRPr sz="1875">
                <a:solidFill>
                  <a:srgbClr val="B23C50"/>
                </a:solidFill>
                <a:latin typeface="Ubuntu Condensed"/>
                <a:ea typeface="Ubuntu Condensed"/>
                <a:cs typeface="Ubuntu Condensed"/>
              </a:defRPr>
            </a:pPr>
            <a:r>
              <a:rPr sz="1875">
                <a:solidFill>
                  <a:srgbClr val="B23C50"/>
                </a:solidFill>
                <a:latin typeface="Ubuntu Condensed"/>
                <a:ea typeface="Ubuntu Condensed"/>
                <a:cs typeface="Ubuntu Condensed"/>
              </a:rPr>
              <a:t>03</a:t>
            </a:r>
          </a:p>
        </p:txBody>
      </p:sp>
      <p:sp>
        <p:nvSpPr>
          <p:cNvPr id="8" name="">
            <a:extLst xmlns:a="http://schemas.openxmlformats.org/drawingml/2006/main">
              <a:ext uri="{FF2B5EF4-FFF2-40B4-BE49-F238E27FC236}">
                <a16:creationId xmlns:a16="http://schemas.microsoft.com/office/drawing/2014/main" id="{CED914E1-9769-48AE-ACCB-38B25CC26DD5}"/>
              </a:ext>
            </a:extLst>
          </p:cNvPr>
          <p:cNvSpPr>
            <a:spLocks xmlns:a="http://schemas.openxmlformats.org/drawingml/2006/main" noGrp="1"/>
          </p:cNvSpPr>
          <p:nvPr/>
        </p:nvSpPr>
        <p:spPr>
          <a:xfrm xmlns:a="http://schemas.openxmlformats.org/drawingml/2006/main">
            <a:off x="942975" y="3019425"/>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Right-click Image_URL in the Data pane:</a:t>
            </a:r>
          </a:p>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Image Role &gt; URL.</a:t>
            </a:r>
          </a:p>
        </p:txBody>
      </p:sp>
      <p:sp>
        <p:nvSpPr>
          <p:cNvPr id="9" name="">
            <a:extLst xmlns:a="http://schemas.openxmlformats.org/drawingml/2006/main">
              <a:ext uri="{FF2B5EF4-FFF2-40B4-BE49-F238E27FC236}">
                <a16:creationId xmlns:a16="http://schemas.microsoft.com/office/drawing/2014/main" id="{3489EC73-5978-4362-8A94-8325D421D9AB}"/>
              </a:ext>
            </a:extLst>
          </p:cNvPr>
          <p:cNvSpPr>
            <a:spLocks xmlns:a="http://schemas.openxmlformats.org/drawingml/2006/main" noGrp="1"/>
          </p:cNvSpPr>
          <p:nvPr/>
        </p:nvSpPr>
        <p:spPr>
          <a:xfrm xmlns:a="http://schemas.openxmlformats.org/drawingml/2006/main">
            <a:off x="457200" y="36861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B23C50"/>
                </a:solidFill>
                <a:latin typeface="Ubuntu Condensed"/>
                <a:ea typeface="Ubuntu Condensed"/>
                <a:cs typeface="Ubuntu Condensed"/>
              </a:defRPr>
            </a:defPPr>
          </a:lstStyle>
          <a:p xmlns:a="http://schemas.openxmlformats.org/drawingml/2006/main">
            <a:pPr>
              <a:defRPr sz="1875">
                <a:solidFill>
                  <a:srgbClr val="B23C50"/>
                </a:solidFill>
                <a:latin typeface="Ubuntu Condensed"/>
                <a:ea typeface="Ubuntu Condensed"/>
                <a:cs typeface="Ubuntu Condensed"/>
              </a:defRPr>
            </a:pPr>
            <a:r>
              <a:rPr sz="1875">
                <a:solidFill>
                  <a:srgbClr val="B23C50"/>
                </a:solidFill>
                <a:latin typeface="Ubuntu Condensed"/>
                <a:ea typeface="Ubuntu Condensed"/>
                <a:cs typeface="Ubuntu Condensed"/>
              </a:rPr>
              <a:t>04</a:t>
            </a:r>
          </a:p>
        </p:txBody>
      </p:sp>
      <p:sp>
        <p:nvSpPr>
          <p:cNvPr id="10" name="">
            <a:extLst xmlns:a="http://schemas.openxmlformats.org/drawingml/2006/main">
              <a:ext uri="{FF2B5EF4-FFF2-40B4-BE49-F238E27FC236}">
                <a16:creationId xmlns:a16="http://schemas.microsoft.com/office/drawing/2014/main" id="{79112E9D-C501-4BB0-BAC2-9C39DC912873}"/>
              </a:ext>
            </a:extLst>
          </p:cNvPr>
          <p:cNvSpPr>
            <a:spLocks xmlns:a="http://schemas.openxmlformats.org/drawingml/2006/main" noGrp="1"/>
          </p:cNvSpPr>
          <p:nvPr/>
        </p:nvSpPr>
        <p:spPr>
          <a:xfrm xmlns:a="http://schemas.openxmlformats.org/drawingml/2006/main">
            <a:off x="942975" y="3686175"/>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Rows: Image_URL first, then Name.</a:t>
            </a:r>
          </a:p>
        </p:txBody>
      </p:sp>
      <p:sp>
        <p:nvSpPr>
          <p:cNvPr id="11" name="">
            <a:extLst xmlns:a="http://schemas.openxmlformats.org/drawingml/2006/main">
              <a:ext uri="{FF2B5EF4-FFF2-40B4-BE49-F238E27FC236}">
                <a16:creationId xmlns:a16="http://schemas.microsoft.com/office/drawing/2014/main" id="{0597A047-859D-421B-823A-0E73A4446906}"/>
              </a:ext>
            </a:extLst>
          </p:cNvPr>
          <p:cNvSpPr>
            <a:spLocks xmlns:a="http://schemas.openxmlformats.org/drawingml/2006/main" noGrp="1"/>
          </p:cNvSpPr>
          <p:nvPr/>
        </p:nvSpPr>
        <p:spPr>
          <a:xfrm xmlns:a="http://schemas.openxmlformats.org/drawingml/2006/main">
            <a:off x="457200" y="43529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B23C50"/>
                </a:solidFill>
                <a:latin typeface="Ubuntu Condensed"/>
                <a:ea typeface="Ubuntu Condensed"/>
                <a:cs typeface="Ubuntu Condensed"/>
              </a:defRPr>
            </a:defPPr>
          </a:lstStyle>
          <a:p xmlns:a="http://schemas.openxmlformats.org/drawingml/2006/main">
            <a:pPr>
              <a:defRPr sz="1875">
                <a:solidFill>
                  <a:srgbClr val="B23C50"/>
                </a:solidFill>
                <a:latin typeface="Ubuntu Condensed"/>
                <a:ea typeface="Ubuntu Condensed"/>
                <a:cs typeface="Ubuntu Condensed"/>
              </a:defRPr>
            </a:pPr>
            <a:r>
              <a:rPr sz="1875">
                <a:solidFill>
                  <a:srgbClr val="B23C50"/>
                </a:solidFill>
                <a:latin typeface="Ubuntu Condensed"/>
                <a:ea typeface="Ubuntu Condensed"/>
                <a:cs typeface="Ubuntu Condensed"/>
              </a:rPr>
              <a:t>05</a:t>
            </a:r>
          </a:p>
        </p:txBody>
      </p:sp>
      <p:sp>
        <p:nvSpPr>
          <p:cNvPr id="12" name="">
            <a:extLst xmlns:a="http://schemas.openxmlformats.org/drawingml/2006/main">
              <a:ext uri="{FF2B5EF4-FFF2-40B4-BE49-F238E27FC236}">
                <a16:creationId xmlns:a16="http://schemas.microsoft.com/office/drawing/2014/main" id="{D9671E02-6D0E-4917-A7AD-6C5CBDEBE220}"/>
              </a:ext>
            </a:extLst>
          </p:cNvPr>
          <p:cNvSpPr>
            <a:spLocks xmlns:a="http://schemas.openxmlformats.org/drawingml/2006/main" noGrp="1"/>
          </p:cNvSpPr>
          <p:nvPr/>
        </p:nvSpPr>
        <p:spPr>
          <a:xfrm xmlns:a="http://schemas.openxmlformats.org/drawingml/2006/main">
            <a:off x="942975" y="4352925"/>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Columns: Attack &gt; Measure &gt; Average.</a:t>
            </a:r>
          </a:p>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Marks: Bar.</a:t>
            </a:r>
          </a:p>
        </p:txBody>
      </p:sp>
      <p:sp>
        <p:nvSpPr>
          <p:cNvPr id="13" name="">
            <a:extLst xmlns:a="http://schemas.openxmlformats.org/drawingml/2006/main">
              <a:ext uri="{FF2B5EF4-FFF2-40B4-BE49-F238E27FC236}">
                <a16:creationId xmlns:a16="http://schemas.microsoft.com/office/drawing/2014/main" id="{6258DE90-C518-4CAB-B488-F8A4340A8542}"/>
              </a:ext>
            </a:extLst>
          </p:cNvPr>
          <p:cNvSpPr>
            <a:spLocks xmlns:a="http://schemas.openxmlformats.org/drawingml/2006/main" noGrp="1"/>
          </p:cNvSpPr>
          <p:nvPr/>
        </p:nvSpPr>
        <p:spPr>
          <a:xfrm xmlns:a="http://schemas.openxmlformats.org/drawingml/2006/main">
            <a:off x="457200" y="50196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B23C50"/>
                </a:solidFill>
                <a:latin typeface="Ubuntu Condensed"/>
                <a:ea typeface="Ubuntu Condensed"/>
                <a:cs typeface="Ubuntu Condensed"/>
              </a:defRPr>
            </a:defPPr>
          </a:lstStyle>
          <a:p xmlns:a="http://schemas.openxmlformats.org/drawingml/2006/main">
            <a:pPr>
              <a:defRPr sz="1875">
                <a:solidFill>
                  <a:srgbClr val="B23C50"/>
                </a:solidFill>
                <a:latin typeface="Ubuntu Condensed"/>
                <a:ea typeface="Ubuntu Condensed"/>
                <a:cs typeface="Ubuntu Condensed"/>
              </a:defRPr>
            </a:pPr>
            <a:r>
              <a:rPr sz="1875">
                <a:solidFill>
                  <a:srgbClr val="B23C50"/>
                </a:solidFill>
                <a:latin typeface="Ubuntu Condensed"/>
                <a:ea typeface="Ubuntu Condensed"/>
                <a:cs typeface="Ubuntu Condensed"/>
              </a:rPr>
              <a:t>06</a:t>
            </a:r>
          </a:p>
        </p:txBody>
      </p:sp>
      <p:sp>
        <p:nvSpPr>
          <p:cNvPr id="14" name="">
            <a:extLst xmlns:a="http://schemas.openxmlformats.org/drawingml/2006/main">
              <a:ext uri="{FF2B5EF4-FFF2-40B4-BE49-F238E27FC236}">
                <a16:creationId xmlns:a16="http://schemas.microsoft.com/office/drawing/2014/main" id="{00B817AB-3654-465F-AB0A-E08A9A49F378}"/>
              </a:ext>
            </a:extLst>
          </p:cNvPr>
          <p:cNvSpPr>
            <a:spLocks xmlns:a="http://schemas.openxmlformats.org/drawingml/2006/main" noGrp="1"/>
          </p:cNvSpPr>
          <p:nvPr/>
        </p:nvSpPr>
        <p:spPr>
          <a:xfrm xmlns:a="http://schemas.openxmlformats.org/drawingml/2006/main">
            <a:off x="942975" y="5019675"/>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Image_URL &gt; Sort: Descending, Field,</a:t>
            </a:r>
          </a:p>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Attack, Average. Marks &gt; Label: show labels.</a:t>
            </a:r>
          </a:p>
        </p:txBody>
      </p:sp>
      <p:sp>
        <p:nvSpPr>
          <p:cNvPr id="15" name="">
            <a:extLst xmlns:a="http://schemas.openxmlformats.org/drawingml/2006/main">
              <a:ext uri="{FF2B5EF4-FFF2-40B4-BE49-F238E27FC236}">
                <a16:creationId xmlns:a16="http://schemas.microsoft.com/office/drawing/2014/main" id="{345CFEAD-5C65-4DD8-8C81-04454CABB986}"/>
              </a:ext>
            </a:extLst>
          </p:cNvPr>
          <p:cNvSpPr>
            <a:spLocks xmlns:a="http://schemas.openxmlformats.org/drawingml/2006/main" noGrp="1"/>
          </p:cNvSpPr>
          <p:nvPr/>
        </p:nvSpPr>
        <p:spPr>
          <a:xfrm xmlns:a="http://schemas.openxmlformats.org/drawingml/2006/main">
            <a:off x="457200" y="56864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B23C50"/>
                </a:solidFill>
                <a:latin typeface="Ubuntu Condensed"/>
                <a:ea typeface="Ubuntu Condensed"/>
                <a:cs typeface="Ubuntu Condensed"/>
              </a:defRPr>
            </a:defPPr>
          </a:lstStyle>
          <a:p xmlns:a="http://schemas.openxmlformats.org/drawingml/2006/main">
            <a:pPr>
              <a:defRPr sz="1875">
                <a:solidFill>
                  <a:srgbClr val="B23C50"/>
                </a:solidFill>
                <a:latin typeface="Ubuntu Condensed"/>
                <a:ea typeface="Ubuntu Condensed"/>
                <a:cs typeface="Ubuntu Condensed"/>
              </a:defRPr>
            </a:pPr>
            <a:r>
              <a:rPr sz="1875">
                <a:solidFill>
                  <a:srgbClr val="B23C50"/>
                </a:solidFill>
                <a:latin typeface="Ubuntu Condensed"/>
                <a:ea typeface="Ubuntu Condensed"/>
                <a:cs typeface="Ubuntu Condensed"/>
              </a:rPr>
              <a:t>07</a:t>
            </a:r>
          </a:p>
        </p:txBody>
      </p:sp>
      <p:sp>
        <p:nvSpPr>
          <p:cNvPr id="16" name="">
            <a:extLst xmlns:a="http://schemas.openxmlformats.org/drawingml/2006/main">
              <a:ext uri="{FF2B5EF4-FFF2-40B4-BE49-F238E27FC236}">
                <a16:creationId xmlns:a16="http://schemas.microsoft.com/office/drawing/2014/main" id="{7E098EB3-E7CE-467E-B574-2C3919F101C8}"/>
              </a:ext>
            </a:extLst>
          </p:cNvPr>
          <p:cNvSpPr>
            <a:spLocks xmlns:a="http://schemas.openxmlformats.org/drawingml/2006/main" noGrp="1"/>
          </p:cNvSpPr>
          <p:nvPr/>
        </p:nvSpPr>
        <p:spPr>
          <a:xfrm xmlns:a="http://schemas.openxmlformats.org/drawingml/2006/main">
            <a:off x="942975" y="5686425"/>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Standard view. Widen the image header.</a:t>
            </a:r>
          </a:p>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Format &gt; Cell Size &gt; Taller. Axis starts at 0.</a:t>
            </a:r>
          </a:p>
        </p:txBody>
      </p:sp>
      <p:graphicFrame>
        <p:nvGraphicFramePr>
          <p:cNvPr id="17" name="Chart">
            <a:extLst xmlns:a="http://schemas.openxmlformats.org/drawingml/2006/main">
              <a:ext uri="{FF2B5EF4-FFF2-40B4-BE49-F238E27FC236}">
                <a16:creationId xmlns:a16="http://schemas.microsoft.com/office/drawing/2014/main" id="{F83585DF-EB87-472B-B9AF-AF5B781D817E}"/>
              </a:ext>
            </a:extLst>
          </p:cNvPr>
          <p:cNvGraphicFramePr/>
          <p:nvPr/>
        </p:nvGraphicFramePr>
        <p:xfrm>
          <a:off xmlns:a="http://schemas.openxmlformats.org/drawingml/2006/main" x="7029450" y="1905000"/>
          <a:ext xmlns:a="http://schemas.openxmlformats.org/drawingml/2006/main" cx="4762500" cy="4095750"/>
        </p:xfrm>
        <a:graphic xmlns:a="http://schemas.openxmlformats.org/drawingml/2006/main">
          <a:graphicData uri="http://schemas.openxmlformats.org/drawingml/2006/chart">
            <c:chart xmlns:r="http://schemas.openxmlformats.org/officeDocument/2006/relationships" xmlns:c="http://schemas.openxmlformats.org/drawingml/2006/chart" r:id="R509e56747d68494b"/>
          </a:graphicData>
        </a:graphic>
      </p:graphicFrame>
      <p:pic>
        <p:nvPicPr>
          <p:cNvPr id="18" name="">
            <a:extLst xmlns:a="http://schemas.openxmlformats.org/drawingml/2006/main">
              <a:ext uri="{FF2B5EF4-FFF2-40B4-BE49-F238E27FC236}">
                <a16:creationId xmlns:a16="http://schemas.microsoft.com/office/drawing/2014/main" id="{A561BF6A-CD7C-44B5-9B02-02052AEC89DC}"/>
              </a:ext>
            </a:extLst>
          </p:cNvPr>
          <p:cNvPicPr>
            <a:picLocks xmlns:a="http://schemas.openxmlformats.org/drawingml/2006/main" noChangeAspect="1"/>
          </p:cNvPicPr>
          <p:nvPr/>
        </p:nvPicPr>
        <p:blipFill>
          <a:blip xmlns:r="http://schemas.openxmlformats.org/officeDocument/2006/relationships" xmlns:a="http://schemas.openxmlformats.org/drawingml/2006/main" r:embed="R233eb2298d9e4c30"/>
          <a:stretch xmlns:a="http://schemas.openxmlformats.org/drawingml/2006/main"/>
        </p:blipFill>
        <p:spPr>
          <a:xfrm xmlns:a="http://schemas.openxmlformats.org/drawingml/2006/main">
            <a:off x="6248400" y="2143125"/>
            <a:ext cx="571500" cy="571500"/>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DFD8D265-6000-4F6A-AFF0-E1FFAC37CB72}"/>
              </a:ext>
            </a:extLst>
          </p:cNvPr>
          <p:cNvPicPr>
            <a:picLocks xmlns:a="http://schemas.openxmlformats.org/drawingml/2006/main" noChangeAspect="1"/>
          </p:cNvPicPr>
          <p:nvPr/>
        </p:nvPicPr>
        <p:blipFill>
          <a:blip xmlns:r="http://schemas.openxmlformats.org/officeDocument/2006/relationships" xmlns:a="http://schemas.openxmlformats.org/drawingml/2006/main" r:embed="Rf308243859f0426d"/>
          <a:stretch xmlns:a="http://schemas.openxmlformats.org/drawingml/2006/main"/>
        </p:blipFill>
        <p:spPr>
          <a:xfrm xmlns:a="http://schemas.openxmlformats.org/drawingml/2006/main">
            <a:off x="6248400" y="2762250"/>
            <a:ext cx="571500" cy="571500"/>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E0A814E3-3380-498B-AAAB-246C870DCC7B}"/>
              </a:ext>
            </a:extLst>
          </p:cNvPr>
          <p:cNvPicPr>
            <a:picLocks xmlns:a="http://schemas.openxmlformats.org/drawingml/2006/main" noChangeAspect="1"/>
          </p:cNvPicPr>
          <p:nvPr/>
        </p:nvPicPr>
        <p:blipFill>
          <a:blip xmlns:r="http://schemas.openxmlformats.org/officeDocument/2006/relationships" xmlns:a="http://schemas.openxmlformats.org/drawingml/2006/main" r:embed="Rc992b85c380b42ed"/>
          <a:stretch xmlns:a="http://schemas.openxmlformats.org/drawingml/2006/main"/>
        </p:blipFill>
        <p:spPr>
          <a:xfrm xmlns:a="http://schemas.openxmlformats.org/drawingml/2006/main">
            <a:off x="6248400" y="3381375"/>
            <a:ext cx="571500" cy="5715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44A793EC-C82A-426D-839B-22B7FB76FE60}"/>
              </a:ext>
            </a:extLst>
          </p:cNvPr>
          <p:cNvPicPr>
            <a:picLocks xmlns:a="http://schemas.openxmlformats.org/drawingml/2006/main" noChangeAspect="1"/>
          </p:cNvPicPr>
          <p:nvPr/>
        </p:nvPicPr>
        <p:blipFill>
          <a:blip xmlns:r="http://schemas.openxmlformats.org/officeDocument/2006/relationships" xmlns:a="http://schemas.openxmlformats.org/drawingml/2006/main" r:embed="R6b1de88dc0af4d11"/>
          <a:stretch xmlns:a="http://schemas.openxmlformats.org/drawingml/2006/main"/>
        </p:blipFill>
        <p:spPr>
          <a:xfrm xmlns:a="http://schemas.openxmlformats.org/drawingml/2006/main">
            <a:off x="6248400" y="4000500"/>
            <a:ext cx="571500" cy="571500"/>
          </a:xfrm>
          <a:prstGeom xmlns:a="http://schemas.openxmlformats.org/drawingml/2006/main" prst="rect">
            <a:avLst/>
          </a:prstGeom>
        </p:spPr>
      </p:pic>
      <p:pic>
        <p:nvPicPr>
          <p:cNvPr id="22" name="">
            <a:extLst xmlns:a="http://schemas.openxmlformats.org/drawingml/2006/main">
              <a:ext uri="{FF2B5EF4-FFF2-40B4-BE49-F238E27FC236}">
                <a16:creationId xmlns:a16="http://schemas.microsoft.com/office/drawing/2014/main" id="{2E5FB876-D85D-49AB-9497-33B69006D868}"/>
              </a:ext>
            </a:extLst>
          </p:cNvPr>
          <p:cNvPicPr>
            <a:picLocks xmlns:a="http://schemas.openxmlformats.org/drawingml/2006/main" noChangeAspect="1"/>
          </p:cNvPicPr>
          <p:nvPr/>
        </p:nvPicPr>
        <p:blipFill>
          <a:blip xmlns:r="http://schemas.openxmlformats.org/officeDocument/2006/relationships" xmlns:a="http://schemas.openxmlformats.org/drawingml/2006/main" r:embed="R926376722e364b0d"/>
          <a:stretch xmlns:a="http://schemas.openxmlformats.org/drawingml/2006/main"/>
        </p:blipFill>
        <p:spPr>
          <a:xfrm xmlns:a="http://schemas.openxmlformats.org/drawingml/2006/main">
            <a:off x="6248400" y="4619625"/>
            <a:ext cx="571500" cy="5715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8DB4041F-7A07-4B5D-9C15-8072C54616D1}"/>
              </a:ext>
            </a:extLst>
          </p:cNvPr>
          <p:cNvSpPr>
            <a:spLocks xmlns:a="http://schemas.openxmlformats.org/drawingml/2006/main" noGrp="1"/>
          </p:cNvSpPr>
          <p:nvPr/>
        </p:nvSpPr>
        <p:spPr>
          <a:xfrm xmlns:a="http://schemas.openxmlformats.org/drawingml/2006/main">
            <a:off x="6124575" y="6362700"/>
            <a:ext cx="561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a:solidFill>
                  <a:srgbClr val="81796F"/>
                </a:solidFill>
                <a:latin typeface="Ubuntu Condensed"/>
                <a:ea typeface="Ubuntu Condensed"/>
                <a:cs typeface="Ubuntu Condensed"/>
              </a:defRPr>
            </a:defPPr>
          </a:lstStyle>
          <a:p xmlns:a="http://schemas.openxmlformats.org/drawingml/2006/main">
            <a:pPr>
              <a:defRPr sz="1650">
                <a:solidFill>
                  <a:srgbClr val="81796F"/>
                </a:solidFill>
                <a:latin typeface="Ubuntu Condensed"/>
                <a:ea typeface="Ubuntu Condensed"/>
                <a:cs typeface="Ubuntu Condensed"/>
              </a:defRPr>
            </a:pPr>
            <a:r>
              <a:rPr sz="1650">
                <a:solidFill>
                  <a:srgbClr val="81796F"/>
                </a:solidFill>
                <a:latin typeface="Ubuntu Condensed"/>
                <a:ea typeface="Ubuntu Condensed"/>
                <a:cs typeface="Ubuntu Condensed"/>
              </a:rPr>
              <a:t>Images are row headers.</a:t>
            </a:r>
          </a:p>
        </p:txBody>
      </p:sp>
    </p:spTree>
    <p:extLst>
      <p:ext uri="{BB962C8B-B14F-4D97-AF65-F5344CB8AC3E}">
        <p14:creationId xmlns:p14="http://schemas.microsoft.com/office/powerpoint/2010/main" val="18503925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2026-10-16T00:36:48.8410000Z</dcterms:created>
  <dcterms:modified xsi:type="dcterms:W3CDTF">2026-10-16T00:36:48.8410000Z</dcterms:modified>
</coreProperties>
</file>