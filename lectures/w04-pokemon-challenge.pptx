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a64c3391eb74310" /><Relationship Type="http://schemas.openxmlformats.org/officeDocument/2006/relationships/extended-properties" Target="/docProps/app.xml" Id="Rbfb30f1977f54bb8" /><Relationship Type="http://schemas.openxmlformats.org/officeDocument/2006/relationships/officeDocument" Target="/ppt/presentation.xml" Id="R8029824d8aa649f5" /></Relationships>
</file>

<file path=ppt/presentation.xml><?xml version="1.0" encoding="utf-8"?>
<p:presentation xmlns:p="http://schemas.openxmlformats.org/presentationml/2006/main">
  <p:sldMasterIdLst>
    <p:sldMasterId xmlns:r="http://schemas.openxmlformats.org/officeDocument/2006/relationships" id="2147483648" r:id="R5179326d767a4069"/>
  </p:sldMasterIdLst>
  <p:notesMasterIdLst>
    <p:notesMasterId xmlns:r="http://schemas.openxmlformats.org/officeDocument/2006/relationships" r:id="R717455aa52754703"/>
  </p:notesMasterIdLst>
  <p:sldIdLst>
    <p:sldId xmlns:r="http://schemas.openxmlformats.org/officeDocument/2006/relationships" id="256" r:id="Rd133765b2b444009"/>
    <p:sldId xmlns:r="http://schemas.openxmlformats.org/officeDocument/2006/relationships" id="257" r:id="R31250a4bf09a4e0d"/>
    <p:sldId xmlns:r="http://schemas.openxmlformats.org/officeDocument/2006/relationships" id="258" r:id="Ra275323ffc6148d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ef8248d8b1c4874" /><Relationship Type="http://schemas.openxmlformats.org/officeDocument/2006/relationships/slideMaster" Target="/ppt/slideMasters/slideMaster1.xml" Id="R5179326d767a4069" /><Relationship Type="http://schemas.openxmlformats.org/officeDocument/2006/relationships/notesMaster" Target="/ppt/notesMasters/notesMaster1.xml" Id="R717455aa52754703" /><Relationship Type="http://schemas.openxmlformats.org/officeDocument/2006/relationships/presProps" Target="/ppt/presProps.xml" Id="R132f49cadaf94e2f" /><Relationship Type="http://schemas.openxmlformats.org/officeDocument/2006/relationships/tableStyles" Target="/ppt/tableStyles.xml" Id="R36ac0b0fb7dd4d3f" /><Relationship Type="http://schemas.openxmlformats.org/officeDocument/2006/relationships/slide" Target="/ppt/slides/slide1.xml" Id="Rd133765b2b444009" /><Relationship Type="http://schemas.openxmlformats.org/officeDocument/2006/relationships/slide" Target="/ppt/slides/slide2.xml" Id="R31250a4bf09a4e0d" /><Relationship Type="http://schemas.openxmlformats.org/officeDocument/2006/relationships/slide" Target="/ppt/slides/slide3.xml" Id="Ra275323ffc6148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9b5f22ce1c45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bdc83d2b1484d1f" /><Relationship Type="http://schemas.openxmlformats.org/officeDocument/2006/relationships/notesMaster" Target="/ppt/notesMasters/notesMaster1.xml" Id="Rb502c3eac6a843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55cee02a8e45ab" /><Relationship Type="http://schemas.openxmlformats.org/officeDocument/2006/relationships/notesMaster" Target="/ppt/notesMasters/notesMaster1.xml" Id="R9b89a8acc6ba49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7f8b33ebe74753" /><Relationship Type="http://schemas.openxmlformats.org/officeDocument/2006/relationships/notesMaster" Target="/ppt/notesMasters/notesMaster1.xml" Id="Rd75b72942d004a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Pokémon Challenge opening image. Existing course image assets/images/lecture/pikachu.png. Image source: https://raw.githubusercontent.com/PokeAPI/sprites/master/sprites/pokemon/other/official-artwork/25.png . Pokémon imagery belongs to its respective rights holders.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Follow the Week 4 Activity 1 instructions: content/weeks/04-find-the-unexpected.md. Start with 15 minutes of individual Tableau work using data/pokemon-review.csv. Choose one question, make one chart and give it a clear title. Groups of four share everyone's work, then select one chart for its finding and clarity. One representative submits group number, all names, title, finding and selection reason, one required screenshot and an optional second image via activity-submit.html?week=4. Use activity-results.html?week=4 for show and tell. Variable definitions: pokemon-variables.html. This is an in-class group submission, separate from individual homework.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class CSV data/pokemon-review.csv. One default form per species. Starter example filters Generation to1 to reduce the scope. Keep Generation as a discrete dimension. Drag Type_1 to Rows. Drag Attack to Columns, then change its aggregation from Sum to Average via pill menu Measure &gt; Average. Marks: Bar. Sort descending, use a zero baseline, show mark labels. The chart uses all Generation1 species from the supplied CSV, grouped by their current primary type in that snapshot. Secondary type is deliberately not included. Current types are not necessarily original-release types. These are fictional game base attack stats, not a universal battle-strength ranking. After this starter, change the measure or question and create your own finding. Guide: https://help.tableau.com/current/pro/desktop/en-us/buildexamples_bar.htm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238c0f66cdf4e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f80fe3be57d4db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6d7200393847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c3dadcc47cd4e5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c9eb4392c24414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d6a8c8391d447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F8B3BF-FC83-4AAF-B586-E7B6800337C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62B3586-160D-4355-A365-B1AD481865B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C6A071C-553A-492C-840C-C2125AE3DB9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896B53-7B4C-4FBF-A0F6-23F50AC160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D08D921-BB5B-43A1-833E-D13362A1ED1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68A419B-96B7-4C8F-8DCF-420DAD952D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C6B6C14-740D-4142-9FE4-495DBBD3FB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0DC2613-334A-4651-990D-A8C3BFD6714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182875-5406-41CA-BD58-A19D45BDD3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567474-BB30-4016-916B-1B155480F56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68c420c49c43ab" /><Relationship Type="http://schemas.openxmlformats.org/officeDocument/2006/relationships/slideLayout" Target="/ppt/slideLayouts/slideLayout1.xml" Id="Rca07690650744898" /><Relationship Type="http://schemas.openxmlformats.org/officeDocument/2006/relationships/slideLayout" Target="/ppt/slideLayouts/slideLayout2.xml" Id="Rfeab96e1d1074f72" /><Relationship Type="http://schemas.openxmlformats.org/officeDocument/2006/relationships/slideLayout" Target="/ppt/slideLayouts/slideLayout3.xml" Id="R500a0aaaac974134" /><Relationship Type="http://schemas.openxmlformats.org/officeDocument/2006/relationships/slideLayout" Target="/ppt/slideLayouts/slideLayout4.xml" Id="Re089623efac045b7" /><Relationship Type="http://schemas.openxmlformats.org/officeDocument/2006/relationships/slideLayout" Target="/ppt/slideLayouts/slideLayout5.xml" Id="R9ea7548024294a8c" /><Relationship Type="http://schemas.openxmlformats.org/officeDocument/2006/relationships/slideLayout" Target="/ppt/slideLayouts/slideLayout6.xml" Id="R7c72b612619a45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07690650744898"/>
    <p:sldLayoutId xmlns:r="http://schemas.openxmlformats.org/officeDocument/2006/relationships" id="2147483650" r:id="Rfeab96e1d1074f72"/>
    <p:sldLayoutId xmlns:r="http://schemas.openxmlformats.org/officeDocument/2006/relationships" id="2147483651" r:id="R500a0aaaac974134"/>
    <p:sldLayoutId xmlns:r="http://schemas.openxmlformats.org/officeDocument/2006/relationships" id="2147483652" r:id="Re089623efac045b7"/>
    <p:sldLayoutId xmlns:r="http://schemas.openxmlformats.org/officeDocument/2006/relationships" id="2147483653" r:id="R9ea7548024294a8c"/>
    <p:sldLayoutId xmlns:r="http://schemas.openxmlformats.org/officeDocument/2006/relationships" id="2147483654" r:id="R7c72b612619a45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1dfff905ad94d61" /><Relationship Type="http://schemas.openxmlformats.org/officeDocument/2006/relationships/image" Target="/ppt/media/image.png" Id="R6dda702a784043b8" /><Relationship Type="http://schemas.openxmlformats.org/officeDocument/2006/relationships/notesSlide" Target="/ppt/notesSlides/notesSlide1.xml" Id="Re55ed5f0fedc4c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4c98a58d56948b6" /><Relationship Type="http://schemas.openxmlformats.org/officeDocument/2006/relationships/notesSlide" Target="/ppt/notesSlides/notesSlide2.xml" Id="R7b9f831452a249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bef5679a6644d63" /><Relationship Type="http://schemas.openxmlformats.org/officeDocument/2006/relationships/chart" Target="/ppt/slides/charts/chart1.xml" Id="R244b832da49b464e" /><Relationship Type="http://schemas.openxmlformats.org/officeDocument/2006/relationships/notesSlide" Target="/ppt/notesSlides/notesSlide3.xml" Id="R36c2088ef60a429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Average Attack</c:v>
          </c:tx>
          <c:spPr>
            <a:solidFill xmlns:a="http://schemas.openxmlformats.org/drawingml/2006/main">
              <a:srgbClr val="B23C50"/>
            </a:solidFill>
          </c:spPr>
          <c:invertIfNegative val="0"/>
          <c:cat>
            <c:strRef>
              <c:f>'Chart Data'!$A$2:$A$16</c:f>
              <c:strCache>
                <c:ptCount val="15"/>
                <c:pt idx="0">
                  <c:v>Ghost</c:v>
                </c:pt>
                <c:pt idx="1">
                  <c:v>Fairy</c:v>
                </c:pt>
                <c:pt idx="2">
                  <c:v>Psychic</c:v>
                </c:pt>
                <c:pt idx="3">
                  <c:v>Electric</c:v>
                </c:pt>
                <c:pt idx="4">
                  <c:v>Bug</c:v>
                </c:pt>
                <c:pt idx="5">
                  <c:v>Ice</c:v>
                </c:pt>
                <c:pt idx="6">
                  <c:v>Normal</c:v>
                </c:pt>
                <c:pt idx="7">
                  <c:v>Water</c:v>
                </c:pt>
                <c:pt idx="8">
                  <c:v>Grass</c:v>
                </c:pt>
                <c:pt idx="9">
                  <c:v>Poison</c:v>
                </c:pt>
                <c:pt idx="10">
                  <c:v>Rock</c:v>
                </c:pt>
                <c:pt idx="11">
                  <c:v>Fire</c:v>
                </c:pt>
                <c:pt idx="12">
                  <c:v>Ground</c:v>
                </c:pt>
                <c:pt idx="13">
                  <c:v>Dragon</c:v>
                </c:pt>
                <c:pt idx="14">
                  <c:v>Fighting</c:v>
                </c:pt>
              </c:strCache>
            </c:strRef>
          </c:cat>
          <c:val>
            <c:numRef>
              <c:f>'Chart Data'!$B$2:$B$16</c:f>
              <c:numCache>
                <c:formatCode>General</c:formatCode>
                <c:ptCount val="15"/>
                <c:pt idx="0">
                  <c:v>50</c:v>
                </c:pt>
                <c:pt idx="1">
                  <c:v>57.5</c:v>
                </c:pt>
                <c:pt idx="2">
                  <c:v>60.1</c:v>
                </c:pt>
                <c:pt idx="3">
                  <c:v>62</c:v>
                </c:pt>
                <c:pt idx="4">
                  <c:v>63.8</c:v>
                </c:pt>
                <c:pt idx="5">
                  <c:v>67.5</c:v>
                </c:pt>
                <c:pt idx="6">
                  <c:v>68.9</c:v>
                </c:pt>
                <c:pt idx="7">
                  <c:v>70.3</c:v>
                </c:pt>
                <c:pt idx="8">
                  <c:v>70.7</c:v>
                </c:pt>
                <c:pt idx="9">
                  <c:v>75.1</c:v>
                </c:pt>
                <c:pt idx="10">
                  <c:v>82.2</c:v>
                </c:pt>
                <c:pt idx="11">
                  <c:v>83.9</c:v>
                </c:pt>
                <c:pt idx="12">
                  <c:v>84.4</c:v>
                </c:pt>
                <c:pt idx="13">
                  <c:v>94</c:v>
                </c:pt>
                <c:pt idx="14">
                  <c:v>102.9</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275">
                  <a:solidFill>
                    <a:srgbClr val="38332E"/>
                  </a:solidFill>
                  <a:latin typeface="Ubuntu Condensed"/>
                  <a:ea typeface="Ubuntu Condensed"/>
                  <a:cs typeface="Ubuntu Condensed"/>
                </a:defRPr>
              </a:pPr>
            </a:p>
          </c:txPr>
          <c:dLblPos val="outEnd"/>
          <c:showLegendKey val="0"/>
          <c:showVal val="1"/>
          <c:showCatName val="0"/>
          <c:showSerName val="0"/>
          <c:showPercent val="0"/>
          <c:showBubbleSize val="0"/>
          <c:showLeaderLines val="0"/>
        </c:dLbls>
        <c:gapWidth val="5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38332E"/>
                </a:solidFill>
                <a:latin typeface="Ubuntu Condensed"/>
                <a:ea typeface="Ubuntu Condensed"/>
                <a:cs typeface="Ubuntu Condensed"/>
              </a:defRPr>
            </a:pPr>
          </a:p>
        </c:txPr>
        <c:crossAx val="48672768"/>
      </c:catAx>
      <c:valAx>
        <c:axId val="48672768"/>
        <c:scaling>
          <c:orientation val="minMax"/>
          <c:max val="13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Average Attack</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81796F"/>
                </a:solidFill>
                <a:latin typeface="Ubuntu Condensed"/>
                <a:ea typeface="Ubuntu Condensed"/>
                <a:cs typeface="Ubuntu Condensed"/>
              </a:defRPr>
            </a:pPr>
          </a:p>
        </c:txPr>
        <c:crossAx val="48650112"/>
        <c:crossBetween val="between"/>
        <c:majorUnit val="5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1D78C"/>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7942041-DA19-4C7C-AE8E-690F6FC244A5}"/>
              </a:ext>
            </a:extLst>
          </p:cNvPr>
          <p:cNvPicPr>
            <a:picLocks xmlns:a="http://schemas.openxmlformats.org/drawingml/2006/main" noChangeAspect="1"/>
          </p:cNvPicPr>
          <p:nvPr/>
        </p:nvPicPr>
        <p:blipFill>
          <a:blip xmlns:r="http://schemas.openxmlformats.org/officeDocument/2006/relationships" xmlns:a="http://schemas.openxmlformats.org/drawingml/2006/main" r:embed="R6dda702a784043b8"/>
          <a:stretch xmlns:a="http://schemas.openxmlformats.org/drawingml/2006/main"/>
        </p:blipFill>
        <p:spPr>
          <a:xfrm xmlns:a="http://schemas.openxmlformats.org/drawingml/2006/main">
            <a:off x="2667000" y="0"/>
            <a:ext cx="6858000" cy="6858000"/>
          </a:xfrm>
          <a:prstGeom xmlns:a="http://schemas.openxmlformats.org/drawingml/2006/main" prst="rect">
            <a:avLst/>
          </a:prstGeom>
        </p:spPr>
      </p:pic>
    </p:spTree>
    <p:extLst>
      <p:ext uri="{BB962C8B-B14F-4D97-AF65-F5344CB8AC3E}">
        <p14:creationId xmlns:p14="http://schemas.microsoft.com/office/powerpoint/2010/main" val="10796696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B2139D7-5525-48FA-811B-CDD737D55617}"/>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Pokémon Challenge</a:t>
            </a:r>
          </a:p>
        </p:txBody>
      </p:sp>
      <p:sp>
        <p:nvSpPr>
          <p:cNvPr id="2" name="">
            <a:extLst xmlns:a="http://schemas.openxmlformats.org/drawingml/2006/main">
              <a:ext uri="{FF2B5EF4-FFF2-40B4-BE49-F238E27FC236}">
                <a16:creationId xmlns:a16="http://schemas.microsoft.com/office/drawing/2014/main" id="{B9DABF2B-EC7A-4B62-BF8F-893FFEA7C533}"/>
              </a:ext>
            </a:extLst>
          </p:cNvPr>
          <p:cNvSpPr>
            <a:spLocks xmlns:a="http://schemas.openxmlformats.org/drawingml/2006/main" noGrp="1"/>
          </p:cNvSpPr>
          <p:nvPr/>
        </p:nvSpPr>
        <p:spPr>
          <a:xfrm xmlns:a="http://schemas.openxmlformats.org/drawingml/2006/main">
            <a:off x="438150" y="990600"/>
            <a:ext cx="1133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One dataset. Your question. No Pokémon knowledge needed.</a:t>
            </a:r>
          </a:p>
        </p:txBody>
      </p:sp>
      <p:sp>
        <p:nvSpPr>
          <p:cNvPr id="3" name="">
            <a:extLst xmlns:a="http://schemas.openxmlformats.org/drawingml/2006/main">
              <a:ext uri="{FF2B5EF4-FFF2-40B4-BE49-F238E27FC236}">
                <a16:creationId xmlns:a16="http://schemas.microsoft.com/office/drawing/2014/main" id="{78F58C11-0233-44B9-926F-96E7214C1A16}"/>
              </a:ext>
            </a:extLst>
          </p:cNvPr>
          <p:cNvSpPr>
            <a:spLocks xmlns:a="http://schemas.openxmlformats.org/drawingml/2006/main" noGrp="1"/>
          </p:cNvSpPr>
          <p:nvPr/>
        </p:nvSpPr>
        <p:spPr>
          <a:xfrm xmlns:a="http://schemas.openxmlformats.org/drawingml/2006/main">
            <a:off x="457200" y="1762125"/>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15 min  Solo</a:t>
            </a:r>
          </a:p>
        </p:txBody>
      </p:sp>
      <p:sp>
        <p:nvSpPr>
          <p:cNvPr id="4" name="">
            <a:extLst xmlns:a="http://schemas.openxmlformats.org/drawingml/2006/main">
              <a:ext uri="{FF2B5EF4-FFF2-40B4-BE49-F238E27FC236}">
                <a16:creationId xmlns:a16="http://schemas.microsoft.com/office/drawing/2014/main" id="{5579CAC6-B5D0-4C30-A5DC-14927E15EB37}"/>
              </a:ext>
            </a:extLst>
          </p:cNvPr>
          <p:cNvSpPr>
            <a:spLocks xmlns:a="http://schemas.openxmlformats.org/drawingml/2006/main" noGrp="1"/>
          </p:cNvSpPr>
          <p:nvPr/>
        </p:nvSpPr>
        <p:spPr>
          <a:xfrm xmlns:a="http://schemas.openxmlformats.org/drawingml/2006/main">
            <a:off x="457200" y="2219325"/>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Choose a question. Make one chart in Tableau.</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Give it a title that communicates your finding.</a:t>
            </a:r>
          </a:p>
        </p:txBody>
      </p:sp>
      <p:sp>
        <p:nvSpPr>
          <p:cNvPr id="5" name="">
            <a:extLst xmlns:a="http://schemas.openxmlformats.org/drawingml/2006/main">
              <a:ext uri="{FF2B5EF4-FFF2-40B4-BE49-F238E27FC236}">
                <a16:creationId xmlns:a16="http://schemas.microsoft.com/office/drawing/2014/main" id="{3FEC13E3-53BF-4CD7-965E-A3BD9CD6192E}"/>
              </a:ext>
            </a:extLst>
          </p:cNvPr>
          <p:cNvSpPr>
            <a:spLocks xmlns:a="http://schemas.openxmlformats.org/drawingml/2006/main" noGrp="1"/>
          </p:cNvSpPr>
          <p:nvPr/>
        </p:nvSpPr>
        <p:spPr>
          <a:xfrm xmlns:a="http://schemas.openxmlformats.org/drawingml/2006/main">
            <a:off x="457200" y="3124200"/>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Groups of 4  Share</a:t>
            </a:r>
          </a:p>
        </p:txBody>
      </p:sp>
      <p:sp>
        <p:nvSpPr>
          <p:cNvPr id="6" name="">
            <a:extLst xmlns:a="http://schemas.openxmlformats.org/drawingml/2006/main">
              <a:ext uri="{FF2B5EF4-FFF2-40B4-BE49-F238E27FC236}">
                <a16:creationId xmlns:a16="http://schemas.microsoft.com/office/drawing/2014/main" id="{A229427A-821E-41DD-8FE3-410C97D2D4AD}"/>
              </a:ext>
            </a:extLst>
          </p:cNvPr>
          <p:cNvSpPr>
            <a:spLocks xmlns:a="http://schemas.openxmlformats.org/drawingml/2006/main" noGrp="1"/>
          </p:cNvSpPr>
          <p:nvPr/>
        </p:nvSpPr>
        <p:spPr>
          <a:xfrm xmlns:a="http://schemas.openxmlformats.org/drawingml/2006/main">
            <a:off x="457200" y="3581400"/>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Everyone explains their finding and one visual choice.</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Choose one chart for its insight and clarity.</a:t>
            </a:r>
          </a:p>
        </p:txBody>
      </p:sp>
      <p:sp>
        <p:nvSpPr>
          <p:cNvPr id="7" name="">
            <a:extLst xmlns:a="http://schemas.openxmlformats.org/drawingml/2006/main">
              <a:ext uri="{FF2B5EF4-FFF2-40B4-BE49-F238E27FC236}">
                <a16:creationId xmlns:a16="http://schemas.microsoft.com/office/drawing/2014/main" id="{AB097217-4188-4723-851A-F2C42013EB05}"/>
              </a:ext>
            </a:extLst>
          </p:cNvPr>
          <p:cNvSpPr>
            <a:spLocks xmlns:a="http://schemas.openxmlformats.org/drawingml/2006/main" noGrp="1"/>
          </p:cNvSpPr>
          <p:nvPr/>
        </p:nvSpPr>
        <p:spPr>
          <a:xfrm xmlns:a="http://schemas.openxmlformats.org/drawingml/2006/main">
            <a:off x="457200" y="4486275"/>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One group submission</a:t>
            </a:r>
          </a:p>
        </p:txBody>
      </p:sp>
      <p:sp>
        <p:nvSpPr>
          <p:cNvPr id="8" name="">
            <a:extLst xmlns:a="http://schemas.openxmlformats.org/drawingml/2006/main">
              <a:ext uri="{FF2B5EF4-FFF2-40B4-BE49-F238E27FC236}">
                <a16:creationId xmlns:a16="http://schemas.microsoft.com/office/drawing/2014/main" id="{6ED71EC2-8D15-4A0D-A522-F4D891E325DA}"/>
              </a:ext>
            </a:extLst>
          </p:cNvPr>
          <p:cNvSpPr>
            <a:spLocks xmlns:a="http://schemas.openxmlformats.org/drawingml/2006/main" noGrp="1"/>
          </p:cNvSpPr>
          <p:nvPr/>
        </p:nvSpPr>
        <p:spPr>
          <a:xfrm xmlns:a="http://schemas.openxmlformats.org/drawingml/2006/main">
            <a:off x="457200" y="4943475"/>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Submit names, title, finding and why you chose it.</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Include one screenshot. A second is optional.</a:t>
            </a:r>
          </a:p>
        </p:txBody>
      </p:sp>
      <p:sp>
        <p:nvSpPr>
          <p:cNvPr id="9" name="">
            <a:extLst xmlns:a="http://schemas.openxmlformats.org/drawingml/2006/main">
              <a:ext uri="{FF2B5EF4-FFF2-40B4-BE49-F238E27FC236}">
                <a16:creationId xmlns:a16="http://schemas.microsoft.com/office/drawing/2014/main" id="{2CE865B9-4866-4355-B420-3F2F4EF7E972}"/>
              </a:ext>
            </a:extLst>
          </p:cNvPr>
          <p:cNvSpPr>
            <a:spLocks xmlns:a="http://schemas.openxmlformats.org/drawingml/2006/main" noGrp="1"/>
          </p:cNvSpPr>
          <p:nvPr/>
        </p:nvSpPr>
        <p:spPr>
          <a:xfrm xmlns:a="http://schemas.openxmlformats.org/drawingml/2006/main">
            <a:off x="457200" y="6248400"/>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CSV + variable guide</a:t>
            </a:r>
          </a:p>
        </p:txBody>
      </p:sp>
      <p:sp>
        <p:nvSpPr>
          <p:cNvPr id="10" name="">
            <a:extLst xmlns:a="http://schemas.openxmlformats.org/drawingml/2006/main">
              <a:ext uri="{FF2B5EF4-FFF2-40B4-BE49-F238E27FC236}">
                <a16:creationId xmlns:a16="http://schemas.microsoft.com/office/drawing/2014/main" id="{1945F3F5-A370-45E2-831B-0F12858F903E}"/>
              </a:ext>
            </a:extLst>
          </p:cNvPr>
          <p:cNvSpPr>
            <a:spLocks xmlns:a="http://schemas.openxmlformats.org/drawingml/2006/main" noGrp="1"/>
          </p:cNvSpPr>
          <p:nvPr/>
        </p:nvSpPr>
        <p:spPr>
          <a:xfrm xmlns:a="http://schemas.openxmlformats.org/drawingml/2006/main">
            <a:off x="4667250" y="624840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Submit group work</a:t>
            </a:r>
          </a:p>
        </p:txBody>
      </p:sp>
      <p:sp>
        <p:nvSpPr>
          <p:cNvPr id="11" name="">
            <a:extLst xmlns:a="http://schemas.openxmlformats.org/drawingml/2006/main">
              <a:ext uri="{FF2B5EF4-FFF2-40B4-BE49-F238E27FC236}">
                <a16:creationId xmlns:a16="http://schemas.microsoft.com/office/drawing/2014/main" id="{CA52D06A-7C2E-4F8A-A2FB-62608A761B66}"/>
              </a:ext>
            </a:extLst>
          </p:cNvPr>
          <p:cNvSpPr>
            <a:spLocks xmlns:a="http://schemas.openxmlformats.org/drawingml/2006/main" noGrp="1"/>
          </p:cNvSpPr>
          <p:nvPr/>
        </p:nvSpPr>
        <p:spPr>
          <a:xfrm xmlns:a="http://schemas.openxmlformats.org/drawingml/2006/main">
            <a:off x="8477250" y="624840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Results / show and tell</a:t>
            </a:r>
          </a:p>
        </p:txBody>
      </p:sp>
    </p:spTree>
    <p:extLst>
      <p:ext uri="{BB962C8B-B14F-4D97-AF65-F5344CB8AC3E}">
        <p14:creationId xmlns:p14="http://schemas.microsoft.com/office/powerpoint/2010/main" val="14431110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EDCC5D-034F-42A1-AC65-C35081A48263}"/>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A first Tableau chart</a:t>
            </a:r>
          </a:p>
        </p:txBody>
      </p:sp>
      <p:sp>
        <p:nvSpPr>
          <p:cNvPr id="2" name="">
            <a:extLst xmlns:a="http://schemas.openxmlformats.org/drawingml/2006/main">
              <a:ext uri="{FF2B5EF4-FFF2-40B4-BE49-F238E27FC236}">
                <a16:creationId xmlns:a16="http://schemas.microsoft.com/office/drawing/2014/main" id="{03EE2F46-BA45-43F2-94B3-4CF517DEE6E1}"/>
              </a:ext>
            </a:extLst>
          </p:cNvPr>
          <p:cNvSpPr>
            <a:spLocks xmlns:a="http://schemas.openxmlformats.org/drawingml/2006/main" noGrp="1"/>
          </p:cNvSpPr>
          <p:nvPr/>
        </p:nvSpPr>
        <p:spPr>
          <a:xfrm xmlns:a="http://schemas.openxmlformats.org/drawingml/2006/main">
            <a:off x="438150" y="990600"/>
            <a:ext cx="1133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Which primary types have higher average Attack?</a:t>
            </a:r>
          </a:p>
        </p:txBody>
      </p:sp>
      <p:sp>
        <p:nvSpPr>
          <p:cNvPr id="3" name="">
            <a:extLst xmlns:a="http://schemas.openxmlformats.org/drawingml/2006/main">
              <a:ext uri="{FF2B5EF4-FFF2-40B4-BE49-F238E27FC236}">
                <a16:creationId xmlns:a16="http://schemas.microsoft.com/office/drawing/2014/main" id="{FBB65998-E835-43E9-8ACF-78139BB0EB65}"/>
              </a:ext>
            </a:extLst>
          </p:cNvPr>
          <p:cNvSpPr>
            <a:spLocks xmlns:a="http://schemas.openxmlformats.org/drawingml/2006/main" noGrp="1"/>
          </p:cNvSpPr>
          <p:nvPr/>
        </p:nvSpPr>
        <p:spPr>
          <a:xfrm xmlns:a="http://schemas.openxmlformats.org/drawingml/2006/main">
            <a:off x="457200" y="17240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1  Open the Pokémon CSV</a:t>
            </a:r>
          </a:p>
        </p:txBody>
      </p:sp>
      <p:sp>
        <p:nvSpPr>
          <p:cNvPr id="4" name="">
            <a:extLst xmlns:a="http://schemas.openxmlformats.org/drawingml/2006/main">
              <a:ext uri="{FF2B5EF4-FFF2-40B4-BE49-F238E27FC236}">
                <a16:creationId xmlns:a16="http://schemas.microsoft.com/office/drawing/2014/main" id="{9EC76AFA-7156-47FC-A441-EBAA05B7F1A3}"/>
              </a:ext>
            </a:extLst>
          </p:cNvPr>
          <p:cNvSpPr>
            <a:spLocks xmlns:a="http://schemas.openxmlformats.org/drawingml/2006/main" noGrp="1"/>
          </p:cNvSpPr>
          <p:nvPr/>
        </p:nvSpPr>
        <p:spPr>
          <a:xfrm xmlns:a="http://schemas.openxmlformats.org/drawingml/2006/main">
            <a:off x="457200" y="2171700"/>
            <a:ext cx="5238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New worksheet. Generation: Dimension.</a:t>
            </a:r>
          </a:p>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Filter Generation to 1.</a:t>
            </a:r>
          </a:p>
        </p:txBody>
      </p:sp>
      <p:sp>
        <p:nvSpPr>
          <p:cNvPr id="5" name="">
            <a:extLst xmlns:a="http://schemas.openxmlformats.org/drawingml/2006/main">
              <a:ext uri="{FF2B5EF4-FFF2-40B4-BE49-F238E27FC236}">
                <a16:creationId xmlns:a16="http://schemas.microsoft.com/office/drawing/2014/main" id="{5148AB99-2032-4B45-BC9C-B165858561CE}"/>
              </a:ext>
            </a:extLst>
          </p:cNvPr>
          <p:cNvSpPr>
            <a:spLocks xmlns:a="http://schemas.openxmlformats.org/drawingml/2006/main" noGrp="1"/>
          </p:cNvSpPr>
          <p:nvPr/>
        </p:nvSpPr>
        <p:spPr>
          <a:xfrm xmlns:a="http://schemas.openxmlformats.org/drawingml/2006/main">
            <a:off x="457200" y="31146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2  Arrange the fields</a:t>
            </a:r>
          </a:p>
        </p:txBody>
      </p:sp>
      <p:sp>
        <p:nvSpPr>
          <p:cNvPr id="6" name="">
            <a:extLst xmlns:a="http://schemas.openxmlformats.org/drawingml/2006/main">
              <a:ext uri="{FF2B5EF4-FFF2-40B4-BE49-F238E27FC236}">
                <a16:creationId xmlns:a16="http://schemas.microsoft.com/office/drawing/2014/main" id="{DAB1103E-8242-43BC-A07E-5D5A459DB638}"/>
              </a:ext>
            </a:extLst>
          </p:cNvPr>
          <p:cNvSpPr>
            <a:spLocks xmlns:a="http://schemas.openxmlformats.org/drawingml/2006/main" noGrp="1"/>
          </p:cNvSpPr>
          <p:nvPr/>
        </p:nvSpPr>
        <p:spPr>
          <a:xfrm xmlns:a="http://schemas.openxmlformats.org/drawingml/2006/main">
            <a:off x="457200" y="3562350"/>
            <a:ext cx="5238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Rows: Type_1</a:t>
            </a:r>
          </a:p>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Columns: Attack &gt; Measure &gt; Average</a:t>
            </a:r>
          </a:p>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Marks: Bar</a:t>
            </a:r>
          </a:p>
        </p:txBody>
      </p:sp>
      <p:sp>
        <p:nvSpPr>
          <p:cNvPr id="7" name="">
            <a:extLst xmlns:a="http://schemas.openxmlformats.org/drawingml/2006/main">
              <a:ext uri="{FF2B5EF4-FFF2-40B4-BE49-F238E27FC236}">
                <a16:creationId xmlns:a16="http://schemas.microsoft.com/office/drawing/2014/main" id="{965C2736-F301-4E9D-ACC5-746D3568A7C4}"/>
              </a:ext>
            </a:extLst>
          </p:cNvPr>
          <p:cNvSpPr>
            <a:spLocks xmlns:a="http://schemas.openxmlformats.org/drawingml/2006/main" noGrp="1"/>
          </p:cNvSpPr>
          <p:nvPr/>
        </p:nvSpPr>
        <p:spPr>
          <a:xfrm xmlns:a="http://schemas.openxmlformats.org/drawingml/2006/main">
            <a:off x="457200" y="48863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3  Make the comparison clear</a:t>
            </a:r>
          </a:p>
        </p:txBody>
      </p:sp>
      <p:sp>
        <p:nvSpPr>
          <p:cNvPr id="8" name="">
            <a:extLst xmlns:a="http://schemas.openxmlformats.org/drawingml/2006/main">
              <a:ext uri="{FF2B5EF4-FFF2-40B4-BE49-F238E27FC236}">
                <a16:creationId xmlns:a16="http://schemas.microsoft.com/office/drawing/2014/main" id="{BA1F3AB5-0773-4819-AB63-A665220AC7A6}"/>
              </a:ext>
            </a:extLst>
          </p:cNvPr>
          <p:cNvSpPr>
            <a:spLocks xmlns:a="http://schemas.openxmlformats.org/drawingml/2006/main" noGrp="1"/>
          </p:cNvSpPr>
          <p:nvPr/>
        </p:nvSpPr>
        <p:spPr>
          <a:xfrm xmlns:a="http://schemas.openxmlformats.org/drawingml/2006/main">
            <a:off x="457200" y="5334000"/>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Sort descending. Show labels. Start at zero.</a:t>
            </a:r>
          </a:p>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Then try another measure or question.</a:t>
            </a:r>
          </a:p>
        </p:txBody>
      </p:sp>
      <p:graphicFrame>
        <p:nvGraphicFramePr>
          <p:cNvPr id="9" name="Chart">
            <a:extLst xmlns:a="http://schemas.openxmlformats.org/drawingml/2006/main">
              <a:ext uri="{FF2B5EF4-FFF2-40B4-BE49-F238E27FC236}">
                <a16:creationId xmlns:a16="http://schemas.microsoft.com/office/drawing/2014/main" id="{59B8EED7-9F1C-42F3-ACEE-A5DDB3641E90}"/>
              </a:ext>
            </a:extLst>
          </p:cNvPr>
          <p:cNvGraphicFramePr/>
          <p:nvPr/>
        </p:nvGraphicFramePr>
        <p:xfrm>
          <a:off xmlns:a="http://schemas.openxmlformats.org/drawingml/2006/main" x="6105525" y="1714500"/>
          <a:ext xmlns:a="http://schemas.openxmlformats.org/drawingml/2006/main" cx="5619750" cy="4381500"/>
        </p:xfrm>
        <a:graphic xmlns:a="http://schemas.openxmlformats.org/drawingml/2006/main">
          <a:graphicData uri="http://schemas.openxmlformats.org/drawingml/2006/chart">
            <c:chart xmlns:r="http://schemas.openxmlformats.org/officeDocument/2006/relationships" xmlns:c="http://schemas.openxmlformats.org/drawingml/2006/chart" r:id="R244b832da49b464e"/>
          </a:graphicData>
        </a:graphic>
      </p:graphicFrame>
      <p:sp>
        <p:nvSpPr>
          <p:cNvPr id="10" name="">
            <a:extLst xmlns:a="http://schemas.openxmlformats.org/drawingml/2006/main">
              <a:ext uri="{FF2B5EF4-FFF2-40B4-BE49-F238E27FC236}">
                <a16:creationId xmlns:a16="http://schemas.microsoft.com/office/drawing/2014/main" id="{E85E95C0-354D-49C3-940F-AED7BF49BBCC}"/>
              </a:ext>
            </a:extLst>
          </p:cNvPr>
          <p:cNvSpPr>
            <a:spLocks xmlns:a="http://schemas.openxmlformats.org/drawingml/2006/main" noGrp="1"/>
          </p:cNvSpPr>
          <p:nvPr/>
        </p:nvSpPr>
        <p:spPr>
          <a:xfrm xmlns:a="http://schemas.openxmlformats.org/drawingml/2006/main">
            <a:off x="6429375" y="6315075"/>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Generation 1 · 151 species · primary type only</a:t>
            </a:r>
          </a:p>
        </p:txBody>
      </p:sp>
    </p:spTree>
    <p:extLst>
      <p:ext uri="{BB962C8B-B14F-4D97-AF65-F5344CB8AC3E}">
        <p14:creationId xmlns:p14="http://schemas.microsoft.com/office/powerpoint/2010/main" val="18213941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2026-10-15T23:13:37.3380000Z</dcterms:created>
  <dcterms:modified xsi:type="dcterms:W3CDTF">2026-10-15T23:13:37.3380000Z</dcterms:modified>
</coreProperties>
</file>