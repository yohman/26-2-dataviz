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c19b6f19bdf41d0" /><Relationship Type="http://schemas.openxmlformats.org/officeDocument/2006/relationships/extended-properties" Target="/docProps/app.xml" Id="Rb626c815de7341a9" /><Relationship Type="http://schemas.openxmlformats.org/officeDocument/2006/relationships/officeDocument" Target="/ppt/presentation.xml" Id="Re823019ef3fd4f93" /></Relationships>
</file>

<file path=ppt/presentation.xml><?xml version="1.0" encoding="utf-8"?>
<p:presentation xmlns:p="http://schemas.openxmlformats.org/presentationml/2006/main">
  <p:sldMasterIdLst>
    <p:sldMasterId xmlns:r="http://schemas.openxmlformats.org/officeDocument/2006/relationships" id="2147483648" r:id="R42b85e33e1e54779"/>
  </p:sldMasterIdLst>
  <p:notesMasterIdLst>
    <p:notesMasterId xmlns:r="http://schemas.openxmlformats.org/officeDocument/2006/relationships" r:id="Reac203914dfe4fc1"/>
  </p:notesMasterIdLst>
  <p:sldIdLst>
    <p:sldId xmlns:r="http://schemas.openxmlformats.org/officeDocument/2006/relationships" id="256" r:id="Rbc09dc49d740467a"/>
    <p:sldId xmlns:r="http://schemas.openxmlformats.org/officeDocument/2006/relationships" id="257" r:id="Rb7df2abb5bcc4bfa"/>
    <p:sldId xmlns:r="http://schemas.openxmlformats.org/officeDocument/2006/relationships" id="258" r:id="Rda0051ce054b48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07301385454776" /><Relationship Type="http://schemas.openxmlformats.org/officeDocument/2006/relationships/slideMaster" Target="/ppt/slideMasters/slideMaster1.xml" Id="R42b85e33e1e54779" /><Relationship Type="http://schemas.openxmlformats.org/officeDocument/2006/relationships/notesMaster" Target="/ppt/notesMasters/notesMaster1.xml" Id="Reac203914dfe4fc1" /><Relationship Type="http://schemas.openxmlformats.org/officeDocument/2006/relationships/presProps" Target="/ppt/presProps.xml" Id="Rcf9ebd8163464348" /><Relationship Type="http://schemas.openxmlformats.org/officeDocument/2006/relationships/tableStyles" Target="/ppt/tableStyles.xml" Id="R8b8dae69a6d246c9" /><Relationship Type="http://schemas.openxmlformats.org/officeDocument/2006/relationships/slide" Target="/ppt/slides/slide1.xml" Id="Rbc09dc49d740467a" /><Relationship Type="http://schemas.openxmlformats.org/officeDocument/2006/relationships/slide" Target="/ppt/slides/slide2.xml" Id="Rb7df2abb5bcc4bfa" /><Relationship Type="http://schemas.openxmlformats.org/officeDocument/2006/relationships/slide" Target="/ppt/slides/slide3.xml" Id="Rda0051ce054b48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ba6b21b121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9eba1060c1d4dd2" /><Relationship Type="http://schemas.openxmlformats.org/officeDocument/2006/relationships/notesMaster" Target="/ppt/notesMasters/notesMaster1.xml" Id="Rc34560ec6a874c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c3621a062345c4" /><Relationship Type="http://schemas.openxmlformats.org/officeDocument/2006/relationships/notesMaster" Target="/ppt/notesMasters/notesMaster1.xml" Id="R11c7f4a70b9143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8df36c7b27b411c" /><Relationship Type="http://schemas.openxmlformats.org/officeDocument/2006/relationships/notesMaster" Target="/ppt/notesMasters/notesMaster1.xml" Id="R18da06ac21154f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Pokémon Challenge opening image. Existing course image assets/images/lecture/pikachu.png. Image source: https://raw.githubusercontent.com/PokeAPI/sprites/master/sprites/pokemon/other/official-artwork/25.png . Pokémon imagery belongs to its respective rights holders.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the Week 4 Activity 1 instructions: content/weeks/04-find-the-unexpected.md. Start with 15 minutes of individual Tableau work using data/pokemon-review.csv. Choose one question, make one chart and give it a clear title. Groups of four share everyone's work, then select one chart for its finding and clarity. One representative submits group number, all names, title, finding and selection reason, one required screenshot and an optional second image via activity-submit.html?week=4. Use activity-results.html?week=4 for show and tell. Variable definitions: pokemon-variables.html. This is an in-class group submission, separate from individual homework.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Download the updated class CSV and refresh the Tableau connection. Filter Name to Bulbasaur, Charmander, Eevee, Pikachu and Squirtle. Use a discrete Image_URL dimension with Image Role &gt; URL. Rows shelves, left to right: Image_URL then Name. Columns: AVG(Attack). Marks Bar. Right-click Image_URL on Rows and choose Sort: Descending, Sort by Field, Attack, Average, turn on labels and retain a zero baseline. Increase row height to roughly80 pixels by dragging a row divider, and widen the image header column to make the artwork visible. Use Standard view rather than Entire View if fitting shrinks the five rows. Images appear in headers, not as scatterplot marks. The illustrated bars are actual base Attack from the CSV: Pikachu55, Eevee55, Charmander52, Bulbasaur49, Squirtle48. Tie order may differ. These are base Attack statistics, not universal battle strength. Artwork from the Image_URL values. https://help.tableau.com/current/pro/desktop/en-us/image_role.htm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2371f8eec44c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581d29653a481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c14903e065d4d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34bd075df56465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16f8029d7440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543e2920e8403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6A16A5-1EA1-422D-9EBC-2B452E40170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B972DD4-C0BA-47C4-AEB7-3FC23A0835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3C8890A-4590-4797-905D-80A57F60AA6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FA3425-36BF-4889-B987-F8B3E35772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8F52B01-F568-4A2C-8936-E974507DB7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18C594-2A00-4125-90CC-39270134D4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7EE469F-8D5E-4B96-9650-354FC03A70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9CB76F-83A3-4A06-81B9-9166C3DF32A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AC331E-73DD-401E-93E9-96022C277C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9373CC-24FC-47A3-9C11-6F676DFB64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c08bf07b3f0476e" /><Relationship Type="http://schemas.openxmlformats.org/officeDocument/2006/relationships/slideLayout" Target="/ppt/slideLayouts/slideLayout1.xml" Id="Rd628f78650134955" /><Relationship Type="http://schemas.openxmlformats.org/officeDocument/2006/relationships/slideLayout" Target="/ppt/slideLayouts/slideLayout2.xml" Id="R11c962e8c84b4f8f" /><Relationship Type="http://schemas.openxmlformats.org/officeDocument/2006/relationships/slideLayout" Target="/ppt/slideLayouts/slideLayout3.xml" Id="R0fe36e1a58184747" /><Relationship Type="http://schemas.openxmlformats.org/officeDocument/2006/relationships/slideLayout" Target="/ppt/slideLayouts/slideLayout4.xml" Id="Rc6c893cef72e409e" /><Relationship Type="http://schemas.openxmlformats.org/officeDocument/2006/relationships/slideLayout" Target="/ppt/slideLayouts/slideLayout5.xml" Id="Ra67651ab1e9540ea" /><Relationship Type="http://schemas.openxmlformats.org/officeDocument/2006/relationships/slideLayout" Target="/ppt/slideLayouts/slideLayout6.xml" Id="R933733d7686442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28f78650134955"/>
    <p:sldLayoutId xmlns:r="http://schemas.openxmlformats.org/officeDocument/2006/relationships" id="2147483650" r:id="R11c962e8c84b4f8f"/>
    <p:sldLayoutId xmlns:r="http://schemas.openxmlformats.org/officeDocument/2006/relationships" id="2147483651" r:id="R0fe36e1a58184747"/>
    <p:sldLayoutId xmlns:r="http://schemas.openxmlformats.org/officeDocument/2006/relationships" id="2147483652" r:id="Rc6c893cef72e409e"/>
    <p:sldLayoutId xmlns:r="http://schemas.openxmlformats.org/officeDocument/2006/relationships" id="2147483653" r:id="Ra67651ab1e9540ea"/>
    <p:sldLayoutId xmlns:r="http://schemas.openxmlformats.org/officeDocument/2006/relationships" id="2147483654" r:id="R933733d7686442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39c09dd8e314932" /><Relationship Type="http://schemas.openxmlformats.org/officeDocument/2006/relationships/image" Target="/ppt/media/image.png" Id="R160a02902aca44de" /><Relationship Type="http://schemas.openxmlformats.org/officeDocument/2006/relationships/notesSlide" Target="/ppt/notesSlides/notesSlide1.xml" Id="Rcb7f6c0559ce47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64ca28fd2ee493e" /><Relationship Type="http://schemas.openxmlformats.org/officeDocument/2006/relationships/notesSlide" Target="/ppt/notesSlides/notesSlide2.xml" Id="R7bcc996e1ca944b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c78b1a2dec479b" /><Relationship Type="http://schemas.openxmlformats.org/officeDocument/2006/relationships/chart" Target="/ppt/slides/charts/chart1.xml" Id="Rbd35ded1622645bc" /><Relationship Type="http://schemas.openxmlformats.org/officeDocument/2006/relationships/image" Target="/ppt/media/image2.png" Id="Ra0e3554614d44a4b" /><Relationship Type="http://schemas.openxmlformats.org/officeDocument/2006/relationships/image" Target="/ppt/media/image3.png" Id="R2be998b2b64d445f" /><Relationship Type="http://schemas.openxmlformats.org/officeDocument/2006/relationships/image" Target="/ppt/media/image4.png" Id="Reb463f4bbf00482e" /><Relationship Type="http://schemas.openxmlformats.org/officeDocument/2006/relationships/image" Target="/ppt/media/image5.png" Id="Rf101016f816e4b77" /><Relationship Type="http://schemas.openxmlformats.org/officeDocument/2006/relationships/image" Target="/ppt/media/image6.png" Id="Rfbe13734c9224428" /><Relationship Type="http://schemas.openxmlformats.org/officeDocument/2006/relationships/notesSlide" Target="/ppt/notesSlides/notesSlide3.xml" Id="R6b73d1db22d447f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Attack</c:v>
          </c:tx>
          <c:spPr>
            <a:solidFill xmlns:a="http://schemas.openxmlformats.org/drawingml/2006/main">
              <a:srgbClr val="B23C50"/>
            </a:solidFill>
          </c:spPr>
          <c:invertIfNegative val="0"/>
          <c:cat>
            <c:strRef>
              <c:f>'Chart Data'!$A$2:$A$6</c:f>
              <c:strCache>
                <c:ptCount val="5"/>
                <c:pt idx="0">
                  <c:v>Squirtle</c:v>
                </c:pt>
                <c:pt idx="1">
                  <c:v>Bulbasaur</c:v>
                </c:pt>
                <c:pt idx="2">
                  <c:v>Charmander</c:v>
                </c:pt>
                <c:pt idx="3">
                  <c:v>Eevee</c:v>
                </c:pt>
                <c:pt idx="4">
                  <c:v>Pikachu</c:v>
                </c:pt>
              </c:strCache>
            </c:strRef>
          </c:cat>
          <c:val>
            <c:numRef>
              <c:f>'Chart Data'!$B$2:$B$6</c:f>
              <c:numCache>
                <c:formatCode>General</c:formatCode>
                <c:ptCount val="5"/>
                <c:pt idx="0">
                  <c:v>48</c:v>
                </c:pt>
                <c:pt idx="1">
                  <c:v>49</c:v>
                </c:pt>
                <c:pt idx="2">
                  <c:v>52</c:v>
                </c:pt>
                <c:pt idx="3">
                  <c:v>55</c:v>
                </c:pt>
                <c:pt idx="4">
                  <c:v>55</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725">
                  <a:solidFill>
                    <a:srgbClr val="38332E"/>
                  </a:solidFill>
                  <a:latin typeface="Ubuntu Condensed"/>
                  <a:ea typeface="Ubuntu Condensed"/>
                  <a:cs typeface="Ubuntu Condensed"/>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crossAx val="48672768"/>
      </c:catAx>
      <c:valAx>
        <c:axId val="48672768"/>
        <c:scaling>
          <c:orientation val="minMax"/>
          <c:max val="7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650">
                    <a:solidFill>
                      <a:srgbClr val="38332E"/>
                    </a:solidFill>
                    <a:latin typeface="Ubuntu Condensed"/>
                    <a:ea typeface="Ubuntu Condensed"/>
                    <a:cs typeface="Ubuntu Condensed"/>
                  </a:rPr>
                  <a:t>Attack</a:t>
                </a:r>
              </a:p>
            </c:rich>
          </c:tx>
          <c:overlay val="0"/>
          <c:txPr>
            <a:bodyPr xmlns:a="http://schemas.openxmlformats.org/drawingml/2006/main" anchorCtr="1"/>
            <a:lstStyle xmlns:a="http://schemas.openxmlformats.org/drawingml/2006/main"/>
            <a:p xmlns:a="http://schemas.openxmlformats.org/drawingml/2006/main">
              <a:pPr>
                <a:defRPr sz="165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81796F"/>
                </a:solidFill>
                <a:latin typeface="Ubuntu Condensed"/>
                <a:ea typeface="Ubuntu Condensed"/>
                <a:cs typeface="Ubuntu Condensed"/>
              </a:defRPr>
            </a:pPr>
          </a:p>
        </c:txPr>
        <c:crossAx val="48650112"/>
        <c:crossBetween val="between"/>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1D78C"/>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F0200C2-4D25-456B-BFAE-5199D8B06493}"/>
              </a:ext>
            </a:extLst>
          </p:cNvPr>
          <p:cNvPicPr>
            <a:picLocks xmlns:a="http://schemas.openxmlformats.org/drawingml/2006/main" noChangeAspect="1"/>
          </p:cNvPicPr>
          <p:nvPr/>
        </p:nvPicPr>
        <p:blipFill>
          <a:blip xmlns:r="http://schemas.openxmlformats.org/officeDocument/2006/relationships" xmlns:a="http://schemas.openxmlformats.org/drawingml/2006/main" r:embed="R160a02902aca44de"/>
          <a:stretch xmlns:a="http://schemas.openxmlformats.org/drawingml/2006/main"/>
        </p:blipFill>
        <p:spPr>
          <a:xfrm xmlns:a="http://schemas.openxmlformats.org/drawingml/2006/main">
            <a:off x="2667000" y="0"/>
            <a:ext cx="6858000" cy="6858000"/>
          </a:xfrm>
          <a:prstGeom xmlns:a="http://schemas.openxmlformats.org/drawingml/2006/main" prst="rect">
            <a:avLst/>
          </a:prstGeom>
        </p:spPr>
      </p:pic>
    </p:spTree>
    <p:extLst>
      <p:ext uri="{BB962C8B-B14F-4D97-AF65-F5344CB8AC3E}">
        <p14:creationId xmlns:p14="http://schemas.microsoft.com/office/powerpoint/2010/main" val="15056572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99EC380-0FA9-4B01-9CBE-09442B2F48FC}"/>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Pokémon Challenge</a:t>
            </a:r>
          </a:p>
        </p:txBody>
      </p:sp>
      <p:sp>
        <p:nvSpPr>
          <p:cNvPr id="2" name="">
            <a:extLst xmlns:a="http://schemas.openxmlformats.org/drawingml/2006/main">
              <a:ext uri="{FF2B5EF4-FFF2-40B4-BE49-F238E27FC236}">
                <a16:creationId xmlns:a16="http://schemas.microsoft.com/office/drawing/2014/main" id="{220E1D04-947B-4E2C-BE9C-D8620B79215A}"/>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One dataset. Your question. No Pokémon knowledge needed.</a:t>
            </a:r>
          </a:p>
        </p:txBody>
      </p:sp>
      <p:sp>
        <p:nvSpPr>
          <p:cNvPr id="3" name="">
            <a:extLst xmlns:a="http://schemas.openxmlformats.org/drawingml/2006/main">
              <a:ext uri="{FF2B5EF4-FFF2-40B4-BE49-F238E27FC236}">
                <a16:creationId xmlns:a16="http://schemas.microsoft.com/office/drawing/2014/main" id="{8A3DFEF7-6D99-453C-B4E9-22C32072162D}"/>
              </a:ext>
            </a:extLst>
          </p:cNvPr>
          <p:cNvSpPr>
            <a:spLocks xmlns:a="http://schemas.openxmlformats.org/drawingml/2006/main" noGrp="1"/>
          </p:cNvSpPr>
          <p:nvPr/>
        </p:nvSpPr>
        <p:spPr>
          <a:xfrm xmlns:a="http://schemas.openxmlformats.org/drawingml/2006/main">
            <a:off x="457200" y="176212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15 min  Solo</a:t>
            </a:r>
          </a:p>
        </p:txBody>
      </p:sp>
      <p:sp>
        <p:nvSpPr>
          <p:cNvPr id="4" name="">
            <a:extLst xmlns:a="http://schemas.openxmlformats.org/drawingml/2006/main">
              <a:ext uri="{FF2B5EF4-FFF2-40B4-BE49-F238E27FC236}">
                <a16:creationId xmlns:a16="http://schemas.microsoft.com/office/drawing/2014/main" id="{739FB109-EB92-46FF-B9F3-3CFE89B0270F}"/>
              </a:ext>
            </a:extLst>
          </p:cNvPr>
          <p:cNvSpPr>
            <a:spLocks xmlns:a="http://schemas.openxmlformats.org/drawingml/2006/main" noGrp="1"/>
          </p:cNvSpPr>
          <p:nvPr/>
        </p:nvSpPr>
        <p:spPr>
          <a:xfrm xmlns:a="http://schemas.openxmlformats.org/drawingml/2006/main">
            <a:off x="457200" y="221932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a question. Make one chart in Tableau.</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Give it a title that communicates your finding.</a:t>
            </a:r>
          </a:p>
        </p:txBody>
      </p:sp>
      <p:sp>
        <p:nvSpPr>
          <p:cNvPr id="5" name="">
            <a:extLst xmlns:a="http://schemas.openxmlformats.org/drawingml/2006/main">
              <a:ext uri="{FF2B5EF4-FFF2-40B4-BE49-F238E27FC236}">
                <a16:creationId xmlns:a16="http://schemas.microsoft.com/office/drawing/2014/main" id="{95E9BAD4-1906-44CB-B589-D9F6357602FA}"/>
              </a:ext>
            </a:extLst>
          </p:cNvPr>
          <p:cNvSpPr>
            <a:spLocks xmlns:a="http://schemas.openxmlformats.org/drawingml/2006/main" noGrp="1"/>
          </p:cNvSpPr>
          <p:nvPr/>
        </p:nvSpPr>
        <p:spPr>
          <a:xfrm xmlns:a="http://schemas.openxmlformats.org/drawingml/2006/main">
            <a:off x="457200" y="3124200"/>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Groups of 4  Share</a:t>
            </a:r>
          </a:p>
        </p:txBody>
      </p:sp>
      <p:sp>
        <p:nvSpPr>
          <p:cNvPr id="6" name="">
            <a:extLst xmlns:a="http://schemas.openxmlformats.org/drawingml/2006/main">
              <a:ext uri="{FF2B5EF4-FFF2-40B4-BE49-F238E27FC236}">
                <a16:creationId xmlns:a16="http://schemas.microsoft.com/office/drawing/2014/main" id="{DA4EFA99-4874-4014-B787-233FAEB276B9}"/>
              </a:ext>
            </a:extLst>
          </p:cNvPr>
          <p:cNvSpPr>
            <a:spLocks xmlns:a="http://schemas.openxmlformats.org/drawingml/2006/main" noGrp="1"/>
          </p:cNvSpPr>
          <p:nvPr/>
        </p:nvSpPr>
        <p:spPr>
          <a:xfrm xmlns:a="http://schemas.openxmlformats.org/drawingml/2006/main">
            <a:off x="457200" y="3581400"/>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Everyone explains their finding and one visual choice.</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Choose one chart for its insight and clarity.</a:t>
            </a:r>
          </a:p>
        </p:txBody>
      </p:sp>
      <p:sp>
        <p:nvSpPr>
          <p:cNvPr id="7" name="">
            <a:extLst xmlns:a="http://schemas.openxmlformats.org/drawingml/2006/main">
              <a:ext uri="{FF2B5EF4-FFF2-40B4-BE49-F238E27FC236}">
                <a16:creationId xmlns:a16="http://schemas.microsoft.com/office/drawing/2014/main" id="{C62AC0DF-DB02-41DE-B4FD-BE3948CA9A03}"/>
              </a:ext>
            </a:extLst>
          </p:cNvPr>
          <p:cNvSpPr>
            <a:spLocks xmlns:a="http://schemas.openxmlformats.org/drawingml/2006/main" noGrp="1"/>
          </p:cNvSpPr>
          <p:nvPr/>
        </p:nvSpPr>
        <p:spPr>
          <a:xfrm xmlns:a="http://schemas.openxmlformats.org/drawingml/2006/main">
            <a:off x="457200" y="4486275"/>
            <a:ext cx="11144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a:solidFill>
                  <a:srgbClr val="B23C50"/>
                </a:solidFill>
                <a:latin typeface="Ubuntu Condensed"/>
                <a:ea typeface="Ubuntu Condensed"/>
                <a:cs typeface="Ubuntu Condensed"/>
              </a:defRPr>
            </a:defPPr>
          </a:lstStyle>
          <a:p xmlns:a="http://schemas.openxmlformats.org/drawingml/2006/main">
            <a:pPr>
              <a:defRPr sz="2400">
                <a:solidFill>
                  <a:srgbClr val="B23C50"/>
                </a:solidFill>
                <a:latin typeface="Ubuntu Condensed"/>
                <a:ea typeface="Ubuntu Condensed"/>
                <a:cs typeface="Ubuntu Condensed"/>
              </a:defRPr>
            </a:pPr>
            <a:r>
              <a:rPr sz="2400">
                <a:solidFill>
                  <a:srgbClr val="B23C50"/>
                </a:solidFill>
                <a:latin typeface="Ubuntu Condensed"/>
                <a:ea typeface="Ubuntu Condensed"/>
                <a:cs typeface="Ubuntu Condensed"/>
              </a:rPr>
              <a:t>One group submission</a:t>
            </a:r>
          </a:p>
        </p:txBody>
      </p:sp>
      <p:sp>
        <p:nvSpPr>
          <p:cNvPr id="8" name="">
            <a:extLst xmlns:a="http://schemas.openxmlformats.org/drawingml/2006/main">
              <a:ext uri="{FF2B5EF4-FFF2-40B4-BE49-F238E27FC236}">
                <a16:creationId xmlns:a16="http://schemas.microsoft.com/office/drawing/2014/main" id="{2333FEC7-AD6D-4E37-B12F-7313364FD0C8}"/>
              </a:ext>
            </a:extLst>
          </p:cNvPr>
          <p:cNvSpPr>
            <a:spLocks xmlns:a="http://schemas.openxmlformats.org/drawingml/2006/main" noGrp="1"/>
          </p:cNvSpPr>
          <p:nvPr/>
        </p:nvSpPr>
        <p:spPr>
          <a:xfrm xmlns:a="http://schemas.openxmlformats.org/drawingml/2006/main">
            <a:off x="457200" y="4943475"/>
            <a:ext cx="11144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Submit names, title, finding and why you chose it.</a:t>
            </a:r>
          </a:p>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Include one screenshot. A second is optional.</a:t>
            </a:r>
          </a:p>
        </p:txBody>
      </p:sp>
      <p:sp>
        <p:nvSpPr>
          <p:cNvPr id="9" name="">
            <a:extLst xmlns:a="http://schemas.openxmlformats.org/drawingml/2006/main">
              <a:ext uri="{FF2B5EF4-FFF2-40B4-BE49-F238E27FC236}">
                <a16:creationId xmlns:a16="http://schemas.microsoft.com/office/drawing/2014/main" id="{1E22F48E-76A5-46D3-A3B4-C2224B1AB2E3}"/>
              </a:ext>
            </a:extLst>
          </p:cNvPr>
          <p:cNvSpPr>
            <a:spLocks xmlns:a="http://schemas.openxmlformats.org/drawingml/2006/main" noGrp="1"/>
          </p:cNvSpPr>
          <p:nvPr/>
        </p:nvSpPr>
        <p:spPr>
          <a:xfrm xmlns:a="http://schemas.openxmlformats.org/drawingml/2006/main">
            <a:off x="457200" y="6248400"/>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CSV + variable guide</a:t>
            </a:r>
          </a:p>
        </p:txBody>
      </p:sp>
      <p:sp>
        <p:nvSpPr>
          <p:cNvPr id="10" name="">
            <a:extLst xmlns:a="http://schemas.openxmlformats.org/drawingml/2006/main">
              <a:ext uri="{FF2B5EF4-FFF2-40B4-BE49-F238E27FC236}">
                <a16:creationId xmlns:a16="http://schemas.microsoft.com/office/drawing/2014/main" id="{E64D690C-EC5A-4E31-8081-32A46D8E8003}"/>
              </a:ext>
            </a:extLst>
          </p:cNvPr>
          <p:cNvSpPr>
            <a:spLocks xmlns:a="http://schemas.openxmlformats.org/drawingml/2006/main" noGrp="1"/>
          </p:cNvSpPr>
          <p:nvPr/>
        </p:nvSpPr>
        <p:spPr>
          <a:xfrm xmlns:a="http://schemas.openxmlformats.org/drawingml/2006/main">
            <a:off x="466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Submit group work</a:t>
            </a:r>
          </a:p>
        </p:txBody>
      </p:sp>
      <p:sp>
        <p:nvSpPr>
          <p:cNvPr id="11" name="">
            <a:extLst xmlns:a="http://schemas.openxmlformats.org/drawingml/2006/main">
              <a:ext uri="{FF2B5EF4-FFF2-40B4-BE49-F238E27FC236}">
                <a16:creationId xmlns:a16="http://schemas.microsoft.com/office/drawing/2014/main" id="{BB3441EC-757B-4EE4-B92C-414577688F96}"/>
              </a:ext>
            </a:extLst>
          </p:cNvPr>
          <p:cNvSpPr>
            <a:spLocks xmlns:a="http://schemas.openxmlformats.org/drawingml/2006/main" noGrp="1"/>
          </p:cNvSpPr>
          <p:nvPr/>
        </p:nvSpPr>
        <p:spPr>
          <a:xfrm xmlns:a="http://schemas.openxmlformats.org/drawingml/2006/main">
            <a:off x="8477250" y="62484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Results / show and tell</a:t>
            </a:r>
          </a:p>
        </p:txBody>
      </p:sp>
    </p:spTree>
    <p:extLst>
      <p:ext uri="{BB962C8B-B14F-4D97-AF65-F5344CB8AC3E}">
        <p14:creationId xmlns:p14="http://schemas.microsoft.com/office/powerpoint/2010/main" val="108697184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85D0F02B-8D44-4595-856E-368D51DF2676}"/>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A first chart with Pokémon images</a:t>
            </a:r>
          </a:p>
        </p:txBody>
      </p:sp>
      <p:sp>
        <p:nvSpPr>
          <p:cNvPr id="2" name="">
            <a:extLst xmlns:a="http://schemas.openxmlformats.org/drawingml/2006/main">
              <a:ext uri="{FF2B5EF4-FFF2-40B4-BE49-F238E27FC236}">
                <a16:creationId xmlns:a16="http://schemas.microsoft.com/office/drawing/2014/main" id="{3E7D0452-74A2-43C1-8009-F6D72B2C53D5}"/>
              </a:ext>
            </a:extLst>
          </p:cNvPr>
          <p:cNvSpPr>
            <a:spLocks xmlns:a="http://schemas.openxmlformats.org/drawingml/2006/main" noGrp="1"/>
          </p:cNvSpPr>
          <p:nvPr/>
        </p:nvSpPr>
        <p:spPr>
          <a:xfrm xmlns:a="http://schemas.openxmlformats.org/drawingml/2006/main">
            <a:off x="438150" y="990600"/>
            <a:ext cx="1133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Compare Attack for five Pokémon</a:t>
            </a:r>
          </a:p>
        </p:txBody>
      </p:sp>
      <p:sp>
        <p:nvSpPr>
          <p:cNvPr id="3" name="">
            <a:extLst xmlns:a="http://schemas.openxmlformats.org/drawingml/2006/main">
              <a:ext uri="{FF2B5EF4-FFF2-40B4-BE49-F238E27FC236}">
                <a16:creationId xmlns:a16="http://schemas.microsoft.com/office/drawing/2014/main" id="{886E40D7-ACC5-4EDE-8450-01084D764096}"/>
              </a:ext>
            </a:extLst>
          </p:cNvPr>
          <p:cNvSpPr>
            <a:spLocks xmlns:a="http://schemas.openxmlformats.org/drawingml/2006/main" noGrp="1"/>
          </p:cNvSpPr>
          <p:nvPr/>
        </p:nvSpPr>
        <p:spPr>
          <a:xfrm xmlns:a="http://schemas.openxmlformats.org/drawingml/2006/main">
            <a:off x="457200" y="15716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01</a:t>
            </a:r>
          </a:p>
        </p:txBody>
      </p:sp>
      <p:sp>
        <p:nvSpPr>
          <p:cNvPr id="4" name="">
            <a:extLst xmlns:a="http://schemas.openxmlformats.org/drawingml/2006/main">
              <a:ext uri="{FF2B5EF4-FFF2-40B4-BE49-F238E27FC236}">
                <a16:creationId xmlns:a16="http://schemas.microsoft.com/office/drawing/2014/main" id="{A8613F02-1E55-4280-A34D-EA5678931693}"/>
              </a:ext>
            </a:extLst>
          </p:cNvPr>
          <p:cNvSpPr>
            <a:spLocks xmlns:a="http://schemas.openxmlformats.org/drawingml/2006/main" noGrp="1"/>
          </p:cNvSpPr>
          <p:nvPr/>
        </p:nvSpPr>
        <p:spPr>
          <a:xfrm xmlns:a="http://schemas.openxmlformats.org/drawingml/2006/main">
            <a:off x="942975" y="15716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Open the updated CSV</a:t>
            </a:r>
          </a:p>
        </p:txBody>
      </p:sp>
      <p:sp>
        <p:nvSpPr>
          <p:cNvPr id="5" name="">
            <a:extLst xmlns:a="http://schemas.openxmlformats.org/drawingml/2006/main">
              <a:ext uri="{FF2B5EF4-FFF2-40B4-BE49-F238E27FC236}">
                <a16:creationId xmlns:a16="http://schemas.microsoft.com/office/drawing/2014/main" id="{BF6ADF24-37BB-4A76-BD53-37DE0E0C9FAB}"/>
              </a:ext>
            </a:extLst>
          </p:cNvPr>
          <p:cNvSpPr>
            <a:spLocks xmlns:a="http://schemas.openxmlformats.org/drawingml/2006/main" noGrp="1"/>
          </p:cNvSpPr>
          <p:nvPr/>
        </p:nvSpPr>
        <p:spPr>
          <a:xfrm xmlns:a="http://schemas.openxmlformats.org/drawingml/2006/main">
            <a:off x="942975" y="18669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Text file: pokemon-review.csv. Open Sheet 1.</a:t>
            </a:r>
          </a:p>
        </p:txBody>
      </p:sp>
      <p:sp>
        <p:nvSpPr>
          <p:cNvPr id="6" name="">
            <a:extLst xmlns:a="http://schemas.openxmlformats.org/drawingml/2006/main">
              <a:ext uri="{FF2B5EF4-FFF2-40B4-BE49-F238E27FC236}">
                <a16:creationId xmlns:a16="http://schemas.microsoft.com/office/drawing/2014/main" id="{C39C8BA8-DD32-446C-83EF-386D31BCF0C2}"/>
              </a:ext>
            </a:extLst>
          </p:cNvPr>
          <p:cNvSpPr>
            <a:spLocks xmlns:a="http://schemas.openxmlformats.org/drawingml/2006/main" noGrp="1"/>
          </p:cNvSpPr>
          <p:nvPr/>
        </p:nvSpPr>
        <p:spPr>
          <a:xfrm xmlns:a="http://schemas.openxmlformats.org/drawingml/2006/main">
            <a:off x="457200" y="22955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02</a:t>
            </a:r>
          </a:p>
        </p:txBody>
      </p:sp>
      <p:sp>
        <p:nvSpPr>
          <p:cNvPr id="7" name="">
            <a:extLst xmlns:a="http://schemas.openxmlformats.org/drawingml/2006/main">
              <a:ext uri="{FF2B5EF4-FFF2-40B4-BE49-F238E27FC236}">
                <a16:creationId xmlns:a16="http://schemas.microsoft.com/office/drawing/2014/main" id="{7F5E95B9-747B-4B96-9EED-9522112B3F29}"/>
              </a:ext>
            </a:extLst>
          </p:cNvPr>
          <p:cNvSpPr>
            <a:spLocks xmlns:a="http://schemas.openxmlformats.org/drawingml/2006/main" noGrp="1"/>
          </p:cNvSpPr>
          <p:nvPr/>
        </p:nvSpPr>
        <p:spPr>
          <a:xfrm xmlns:a="http://schemas.openxmlformats.org/drawingml/2006/main">
            <a:off x="942975" y="22955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Choose five Pokémon</a:t>
            </a:r>
          </a:p>
        </p:txBody>
      </p:sp>
      <p:sp>
        <p:nvSpPr>
          <p:cNvPr id="8" name="">
            <a:extLst xmlns:a="http://schemas.openxmlformats.org/drawingml/2006/main">
              <a:ext uri="{FF2B5EF4-FFF2-40B4-BE49-F238E27FC236}">
                <a16:creationId xmlns:a16="http://schemas.microsoft.com/office/drawing/2014/main" id="{40086466-FCD0-4440-82DC-42103C71AED7}"/>
              </a:ext>
            </a:extLst>
          </p:cNvPr>
          <p:cNvSpPr>
            <a:spLocks xmlns:a="http://schemas.openxmlformats.org/drawingml/2006/main" noGrp="1"/>
          </p:cNvSpPr>
          <p:nvPr/>
        </p:nvSpPr>
        <p:spPr>
          <a:xfrm xmlns:a="http://schemas.openxmlformats.org/drawingml/2006/main">
            <a:off x="942975" y="25908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Name to Filters: Bulbasaur, Charmander, Eevee,</a:t>
            </a:r>
          </a:p>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Pikachu and Squirtle.</a:t>
            </a:r>
          </a:p>
        </p:txBody>
      </p:sp>
      <p:sp>
        <p:nvSpPr>
          <p:cNvPr id="9" name="">
            <a:extLst xmlns:a="http://schemas.openxmlformats.org/drawingml/2006/main">
              <a:ext uri="{FF2B5EF4-FFF2-40B4-BE49-F238E27FC236}">
                <a16:creationId xmlns:a16="http://schemas.microsoft.com/office/drawing/2014/main" id="{45C8B533-1967-4E5E-8F2C-FA3CED4F293F}"/>
              </a:ext>
            </a:extLst>
          </p:cNvPr>
          <p:cNvSpPr>
            <a:spLocks xmlns:a="http://schemas.openxmlformats.org/drawingml/2006/main" noGrp="1"/>
          </p:cNvSpPr>
          <p:nvPr/>
        </p:nvSpPr>
        <p:spPr>
          <a:xfrm xmlns:a="http://schemas.openxmlformats.org/drawingml/2006/main">
            <a:off x="457200" y="30194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03</a:t>
            </a:r>
          </a:p>
        </p:txBody>
      </p:sp>
      <p:sp>
        <p:nvSpPr>
          <p:cNvPr id="10" name="">
            <a:extLst xmlns:a="http://schemas.openxmlformats.org/drawingml/2006/main">
              <a:ext uri="{FF2B5EF4-FFF2-40B4-BE49-F238E27FC236}">
                <a16:creationId xmlns:a16="http://schemas.microsoft.com/office/drawing/2014/main" id="{98837F7C-D5C2-445A-A5C2-8832F91F4C49}"/>
              </a:ext>
            </a:extLst>
          </p:cNvPr>
          <p:cNvSpPr>
            <a:spLocks xmlns:a="http://schemas.openxmlformats.org/drawingml/2006/main" noGrp="1"/>
          </p:cNvSpPr>
          <p:nvPr/>
        </p:nvSpPr>
        <p:spPr>
          <a:xfrm xmlns:a="http://schemas.openxmlformats.org/drawingml/2006/main">
            <a:off x="942975" y="30194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Enable image URLs</a:t>
            </a:r>
          </a:p>
        </p:txBody>
      </p:sp>
      <p:sp>
        <p:nvSpPr>
          <p:cNvPr id="11" name="">
            <a:extLst xmlns:a="http://schemas.openxmlformats.org/drawingml/2006/main">
              <a:ext uri="{FF2B5EF4-FFF2-40B4-BE49-F238E27FC236}">
                <a16:creationId xmlns:a16="http://schemas.microsoft.com/office/drawing/2014/main" id="{085E88F2-4627-4B42-A1B0-E5DF9B1CDB98}"/>
              </a:ext>
            </a:extLst>
          </p:cNvPr>
          <p:cNvSpPr>
            <a:spLocks xmlns:a="http://schemas.openxmlformats.org/drawingml/2006/main" noGrp="1"/>
          </p:cNvSpPr>
          <p:nvPr/>
        </p:nvSpPr>
        <p:spPr>
          <a:xfrm xmlns:a="http://schemas.openxmlformats.org/drawingml/2006/main">
            <a:off x="942975" y="3314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Right-click Image_URL in the Data pane.</a:t>
            </a:r>
          </a:p>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Choose Image Role &gt; URL.</a:t>
            </a:r>
          </a:p>
        </p:txBody>
      </p:sp>
      <p:sp>
        <p:nvSpPr>
          <p:cNvPr id="12" name="">
            <a:extLst xmlns:a="http://schemas.openxmlformats.org/drawingml/2006/main">
              <a:ext uri="{FF2B5EF4-FFF2-40B4-BE49-F238E27FC236}">
                <a16:creationId xmlns:a16="http://schemas.microsoft.com/office/drawing/2014/main" id="{F603F0BE-E824-4381-B47C-FE84B72EAB3F}"/>
              </a:ext>
            </a:extLst>
          </p:cNvPr>
          <p:cNvSpPr>
            <a:spLocks xmlns:a="http://schemas.openxmlformats.org/drawingml/2006/main" noGrp="1"/>
          </p:cNvSpPr>
          <p:nvPr/>
        </p:nvSpPr>
        <p:spPr>
          <a:xfrm xmlns:a="http://schemas.openxmlformats.org/drawingml/2006/main">
            <a:off x="457200" y="37433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04</a:t>
            </a:r>
          </a:p>
        </p:txBody>
      </p:sp>
      <p:sp>
        <p:nvSpPr>
          <p:cNvPr id="13" name="">
            <a:extLst xmlns:a="http://schemas.openxmlformats.org/drawingml/2006/main">
              <a:ext uri="{FF2B5EF4-FFF2-40B4-BE49-F238E27FC236}">
                <a16:creationId xmlns:a16="http://schemas.microsoft.com/office/drawing/2014/main" id="{A6FD208B-AFB8-435A-81B4-92C2F4A40C08}"/>
              </a:ext>
            </a:extLst>
          </p:cNvPr>
          <p:cNvSpPr>
            <a:spLocks xmlns:a="http://schemas.openxmlformats.org/drawingml/2006/main" noGrp="1"/>
          </p:cNvSpPr>
          <p:nvPr/>
        </p:nvSpPr>
        <p:spPr>
          <a:xfrm xmlns:a="http://schemas.openxmlformats.org/drawingml/2006/main">
            <a:off x="942975" y="37433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Build the rows</a:t>
            </a:r>
          </a:p>
        </p:txBody>
      </p:sp>
      <p:sp>
        <p:nvSpPr>
          <p:cNvPr id="14" name="">
            <a:extLst xmlns:a="http://schemas.openxmlformats.org/drawingml/2006/main">
              <a:ext uri="{FF2B5EF4-FFF2-40B4-BE49-F238E27FC236}">
                <a16:creationId xmlns:a16="http://schemas.microsoft.com/office/drawing/2014/main" id="{D91B40B4-70E3-4A3E-BAD2-62B8E2523DBA}"/>
              </a:ext>
            </a:extLst>
          </p:cNvPr>
          <p:cNvSpPr>
            <a:spLocks xmlns:a="http://schemas.openxmlformats.org/drawingml/2006/main" noGrp="1"/>
          </p:cNvSpPr>
          <p:nvPr/>
        </p:nvSpPr>
        <p:spPr>
          <a:xfrm xmlns:a="http://schemas.openxmlformats.org/drawingml/2006/main">
            <a:off x="942975" y="40386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Rows: Image_URL first, then Name to its right.</a:t>
            </a:r>
          </a:p>
        </p:txBody>
      </p:sp>
      <p:sp>
        <p:nvSpPr>
          <p:cNvPr id="15" name="">
            <a:extLst xmlns:a="http://schemas.openxmlformats.org/drawingml/2006/main">
              <a:ext uri="{FF2B5EF4-FFF2-40B4-BE49-F238E27FC236}">
                <a16:creationId xmlns:a16="http://schemas.microsoft.com/office/drawing/2014/main" id="{233A4525-E5F0-4305-A5D6-9E032E3FC4FC}"/>
              </a:ext>
            </a:extLst>
          </p:cNvPr>
          <p:cNvSpPr>
            <a:spLocks xmlns:a="http://schemas.openxmlformats.org/drawingml/2006/main" noGrp="1"/>
          </p:cNvSpPr>
          <p:nvPr/>
        </p:nvSpPr>
        <p:spPr>
          <a:xfrm xmlns:a="http://schemas.openxmlformats.org/drawingml/2006/main">
            <a:off x="457200" y="44672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05</a:t>
            </a:r>
          </a:p>
        </p:txBody>
      </p:sp>
      <p:sp>
        <p:nvSpPr>
          <p:cNvPr id="16" name="">
            <a:extLst xmlns:a="http://schemas.openxmlformats.org/drawingml/2006/main">
              <a:ext uri="{FF2B5EF4-FFF2-40B4-BE49-F238E27FC236}">
                <a16:creationId xmlns:a16="http://schemas.microsoft.com/office/drawing/2014/main" id="{CE0800E8-E3ED-46E7-A436-0EF0464E9107}"/>
              </a:ext>
            </a:extLst>
          </p:cNvPr>
          <p:cNvSpPr>
            <a:spLocks xmlns:a="http://schemas.openxmlformats.org/drawingml/2006/main" noGrp="1"/>
          </p:cNvSpPr>
          <p:nvPr/>
        </p:nvSpPr>
        <p:spPr>
          <a:xfrm xmlns:a="http://schemas.openxmlformats.org/drawingml/2006/main">
            <a:off x="942975" y="44672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Build the bars</a:t>
            </a:r>
          </a:p>
        </p:txBody>
      </p:sp>
      <p:sp>
        <p:nvSpPr>
          <p:cNvPr id="17" name="">
            <a:extLst xmlns:a="http://schemas.openxmlformats.org/drawingml/2006/main">
              <a:ext uri="{FF2B5EF4-FFF2-40B4-BE49-F238E27FC236}">
                <a16:creationId xmlns:a16="http://schemas.microsoft.com/office/drawing/2014/main" id="{D795E5B3-DE4B-4C84-A205-CC45C7129B6F}"/>
              </a:ext>
            </a:extLst>
          </p:cNvPr>
          <p:cNvSpPr>
            <a:spLocks xmlns:a="http://schemas.openxmlformats.org/drawingml/2006/main" noGrp="1"/>
          </p:cNvSpPr>
          <p:nvPr/>
        </p:nvSpPr>
        <p:spPr>
          <a:xfrm xmlns:a="http://schemas.openxmlformats.org/drawingml/2006/main">
            <a:off x="942975" y="47625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Attack to Columns. Pill menu: Measure &gt; Average.</a:t>
            </a:r>
          </a:p>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On the Marks card, choose Bar.</a:t>
            </a:r>
          </a:p>
        </p:txBody>
      </p:sp>
      <p:sp>
        <p:nvSpPr>
          <p:cNvPr id="18" name="">
            <a:extLst xmlns:a="http://schemas.openxmlformats.org/drawingml/2006/main">
              <a:ext uri="{FF2B5EF4-FFF2-40B4-BE49-F238E27FC236}">
                <a16:creationId xmlns:a16="http://schemas.microsoft.com/office/drawing/2014/main" id="{432815D9-F21C-4064-AC1C-446EECD0844F}"/>
              </a:ext>
            </a:extLst>
          </p:cNvPr>
          <p:cNvSpPr>
            <a:spLocks xmlns:a="http://schemas.openxmlformats.org/drawingml/2006/main" noGrp="1"/>
          </p:cNvSpPr>
          <p:nvPr/>
        </p:nvSpPr>
        <p:spPr>
          <a:xfrm xmlns:a="http://schemas.openxmlformats.org/drawingml/2006/main">
            <a:off x="457200" y="51911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06</a:t>
            </a:r>
          </a:p>
        </p:txBody>
      </p:sp>
      <p:sp>
        <p:nvSpPr>
          <p:cNvPr id="19" name="">
            <a:extLst xmlns:a="http://schemas.openxmlformats.org/drawingml/2006/main">
              <a:ext uri="{FF2B5EF4-FFF2-40B4-BE49-F238E27FC236}">
                <a16:creationId xmlns:a16="http://schemas.microsoft.com/office/drawing/2014/main" id="{C8DA61B2-76BA-48D3-948B-3AB9D776004D}"/>
              </a:ext>
            </a:extLst>
          </p:cNvPr>
          <p:cNvSpPr>
            <a:spLocks xmlns:a="http://schemas.openxmlformats.org/drawingml/2006/main" noGrp="1"/>
          </p:cNvSpPr>
          <p:nvPr/>
        </p:nvSpPr>
        <p:spPr>
          <a:xfrm xmlns:a="http://schemas.openxmlformats.org/drawingml/2006/main">
            <a:off x="942975" y="51911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Sort and label</a:t>
            </a:r>
          </a:p>
        </p:txBody>
      </p:sp>
      <p:sp>
        <p:nvSpPr>
          <p:cNvPr id="20" name="">
            <a:extLst xmlns:a="http://schemas.openxmlformats.org/drawingml/2006/main">
              <a:ext uri="{FF2B5EF4-FFF2-40B4-BE49-F238E27FC236}">
                <a16:creationId xmlns:a16="http://schemas.microsoft.com/office/drawing/2014/main" id="{596A10C9-B80D-413F-8932-A9050E912DCB}"/>
              </a:ext>
            </a:extLst>
          </p:cNvPr>
          <p:cNvSpPr>
            <a:spLocks xmlns:a="http://schemas.openxmlformats.org/drawingml/2006/main" noGrp="1"/>
          </p:cNvSpPr>
          <p:nvPr/>
        </p:nvSpPr>
        <p:spPr>
          <a:xfrm xmlns:a="http://schemas.openxmlformats.org/drawingml/2006/main">
            <a:off x="942975" y="54864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Image_URL &gt; Sort: Field, Attack, Average.</a:t>
            </a:r>
          </a:p>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Descending. Marks &gt; Label: show mark labels.</a:t>
            </a:r>
          </a:p>
        </p:txBody>
      </p:sp>
      <p:sp>
        <p:nvSpPr>
          <p:cNvPr id="21" name="">
            <a:extLst xmlns:a="http://schemas.openxmlformats.org/drawingml/2006/main">
              <a:ext uri="{FF2B5EF4-FFF2-40B4-BE49-F238E27FC236}">
                <a16:creationId xmlns:a16="http://schemas.microsoft.com/office/drawing/2014/main" id="{A3ABA3A7-A1EC-43F4-B9B2-7DF604C92DD8}"/>
              </a:ext>
            </a:extLst>
          </p:cNvPr>
          <p:cNvSpPr>
            <a:spLocks xmlns:a="http://schemas.openxmlformats.org/drawingml/2006/main" noGrp="1"/>
          </p:cNvSpPr>
          <p:nvPr/>
        </p:nvSpPr>
        <p:spPr>
          <a:xfrm xmlns:a="http://schemas.openxmlformats.org/drawingml/2006/main">
            <a:off x="457200" y="59150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07</a:t>
            </a:r>
          </a:p>
        </p:txBody>
      </p:sp>
      <p:sp>
        <p:nvSpPr>
          <p:cNvPr id="22" name="">
            <a:extLst xmlns:a="http://schemas.openxmlformats.org/drawingml/2006/main">
              <a:ext uri="{FF2B5EF4-FFF2-40B4-BE49-F238E27FC236}">
                <a16:creationId xmlns:a16="http://schemas.microsoft.com/office/drawing/2014/main" id="{6BD190D0-3237-48B0-B503-C9B7C1AAAE8F}"/>
              </a:ext>
            </a:extLst>
          </p:cNvPr>
          <p:cNvSpPr>
            <a:spLocks xmlns:a="http://schemas.openxmlformats.org/drawingml/2006/main" noGrp="1"/>
          </p:cNvSpPr>
          <p:nvPr/>
        </p:nvSpPr>
        <p:spPr>
          <a:xfrm xmlns:a="http://schemas.openxmlformats.org/drawingml/2006/main">
            <a:off x="942975" y="5915025"/>
            <a:ext cx="466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Make the images larger</a:t>
            </a:r>
          </a:p>
        </p:txBody>
      </p:sp>
      <p:sp>
        <p:nvSpPr>
          <p:cNvPr id="23" name="">
            <a:extLst xmlns:a="http://schemas.openxmlformats.org/drawingml/2006/main">
              <a:ext uri="{FF2B5EF4-FFF2-40B4-BE49-F238E27FC236}">
                <a16:creationId xmlns:a16="http://schemas.microsoft.com/office/drawing/2014/main" id="{2A3F6483-D283-48AB-91AB-0271FFAD708E}"/>
              </a:ext>
            </a:extLst>
          </p:cNvPr>
          <p:cNvSpPr>
            <a:spLocks xmlns:a="http://schemas.openxmlformats.org/drawingml/2006/main" noGrp="1"/>
          </p:cNvSpPr>
          <p:nvPr/>
        </p:nvSpPr>
        <p:spPr>
          <a:xfrm xmlns:a="http://schemas.openxmlformats.org/drawingml/2006/main">
            <a:off x="942975" y="62103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38332E"/>
                </a:solidFill>
                <a:latin typeface="Ubuntu Condensed"/>
                <a:ea typeface="Ubuntu Condensed"/>
                <a:cs typeface="Ubuntu Condensed"/>
              </a:defRPr>
            </a:defPPr>
          </a:lstStyle>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Widen the image column. Make rows about 80px tall.</a:t>
            </a:r>
          </a:p>
          <a:p xmlns:a="http://schemas.openxmlformats.org/drawingml/2006/main">
            <a:pPr>
              <a:defRPr sz="1575">
                <a:solidFill>
                  <a:srgbClr val="38332E"/>
                </a:solidFill>
                <a:latin typeface="Ubuntu Condensed"/>
                <a:ea typeface="Ubuntu Condensed"/>
                <a:cs typeface="Ubuntu Condensed"/>
              </a:defRPr>
            </a:pPr>
            <a:r>
              <a:rPr sz="1575">
                <a:solidFill>
                  <a:srgbClr val="38332E"/>
                </a:solidFill>
                <a:latin typeface="Ubuntu Condensed"/>
                <a:ea typeface="Ubuntu Condensed"/>
                <a:cs typeface="Ubuntu Condensed"/>
              </a:rPr>
              <a:t>View: Standard. Attack axis starts at 0.</a:t>
            </a:r>
          </a:p>
        </p:txBody>
      </p:sp>
      <p:graphicFrame>
        <p:nvGraphicFramePr>
          <p:cNvPr id="24" name="Chart">
            <a:extLst xmlns:a="http://schemas.openxmlformats.org/drawingml/2006/main">
              <a:ext uri="{FF2B5EF4-FFF2-40B4-BE49-F238E27FC236}">
                <a16:creationId xmlns:a16="http://schemas.microsoft.com/office/drawing/2014/main" id="{5266D5E8-3B73-4057-B347-21CBF9CB280D}"/>
              </a:ext>
            </a:extLst>
          </p:cNvPr>
          <p:cNvGraphicFramePr/>
          <p:nvPr/>
        </p:nvGraphicFramePr>
        <p:xfrm>
          <a:off xmlns:a="http://schemas.openxmlformats.org/drawingml/2006/main" x="7029450" y="1905000"/>
          <a:ext xmlns:a="http://schemas.openxmlformats.org/drawingml/2006/main" cx="4762500" cy="4095750"/>
        </p:xfrm>
        <a:graphic xmlns:a="http://schemas.openxmlformats.org/drawingml/2006/main">
          <a:graphicData uri="http://schemas.openxmlformats.org/drawingml/2006/chart">
            <c:chart xmlns:r="http://schemas.openxmlformats.org/officeDocument/2006/relationships" xmlns:c="http://schemas.openxmlformats.org/drawingml/2006/chart" r:id="Rbd35ded1622645bc"/>
          </a:graphicData>
        </a:graphic>
      </p:graphicFrame>
      <p:pic>
        <p:nvPicPr>
          <p:cNvPr id="25" name="">
            <a:extLst xmlns:a="http://schemas.openxmlformats.org/drawingml/2006/main">
              <a:ext uri="{FF2B5EF4-FFF2-40B4-BE49-F238E27FC236}">
                <a16:creationId xmlns:a16="http://schemas.microsoft.com/office/drawing/2014/main" id="{53744288-78C1-420D-80DF-41CF6E7B1D78}"/>
              </a:ext>
            </a:extLst>
          </p:cNvPr>
          <p:cNvPicPr>
            <a:picLocks xmlns:a="http://schemas.openxmlformats.org/drawingml/2006/main" noChangeAspect="1"/>
          </p:cNvPicPr>
          <p:nvPr/>
        </p:nvPicPr>
        <p:blipFill>
          <a:blip xmlns:r="http://schemas.openxmlformats.org/officeDocument/2006/relationships" xmlns:a="http://schemas.openxmlformats.org/drawingml/2006/main" r:embed="Ra0e3554614d44a4b"/>
          <a:stretch xmlns:a="http://schemas.openxmlformats.org/drawingml/2006/main"/>
        </p:blipFill>
        <p:spPr>
          <a:xfrm xmlns:a="http://schemas.openxmlformats.org/drawingml/2006/main">
            <a:off x="6248400" y="2143125"/>
            <a:ext cx="571500" cy="571500"/>
          </a:xfrm>
          <a:prstGeom xmlns:a="http://schemas.openxmlformats.org/drawingml/2006/main" prst="rect">
            <a:avLst/>
          </a:prstGeom>
        </p:spPr>
      </p:pic>
      <p:pic>
        <p:nvPicPr>
          <p:cNvPr id="26" name="">
            <a:extLst xmlns:a="http://schemas.openxmlformats.org/drawingml/2006/main">
              <a:ext uri="{FF2B5EF4-FFF2-40B4-BE49-F238E27FC236}">
                <a16:creationId xmlns:a16="http://schemas.microsoft.com/office/drawing/2014/main" id="{353506BB-9D6F-4423-AAF6-3091D23A0DEA}"/>
              </a:ext>
            </a:extLst>
          </p:cNvPr>
          <p:cNvPicPr>
            <a:picLocks xmlns:a="http://schemas.openxmlformats.org/drawingml/2006/main" noChangeAspect="1"/>
          </p:cNvPicPr>
          <p:nvPr/>
        </p:nvPicPr>
        <p:blipFill>
          <a:blip xmlns:r="http://schemas.openxmlformats.org/officeDocument/2006/relationships" xmlns:a="http://schemas.openxmlformats.org/drawingml/2006/main" r:embed="R2be998b2b64d445f"/>
          <a:stretch xmlns:a="http://schemas.openxmlformats.org/drawingml/2006/main"/>
        </p:blipFill>
        <p:spPr>
          <a:xfrm xmlns:a="http://schemas.openxmlformats.org/drawingml/2006/main">
            <a:off x="6248400" y="2762250"/>
            <a:ext cx="571500" cy="571500"/>
          </a:xfrm>
          <a:prstGeom xmlns:a="http://schemas.openxmlformats.org/drawingml/2006/main" prst="rect">
            <a:avLst/>
          </a:prstGeom>
        </p:spPr>
      </p:pic>
      <p:pic>
        <p:nvPicPr>
          <p:cNvPr id="27" name="">
            <a:extLst xmlns:a="http://schemas.openxmlformats.org/drawingml/2006/main">
              <a:ext uri="{FF2B5EF4-FFF2-40B4-BE49-F238E27FC236}">
                <a16:creationId xmlns:a16="http://schemas.microsoft.com/office/drawing/2014/main" id="{99F7ACFA-EF8E-4760-8AB1-A5005C56A1FF}"/>
              </a:ext>
            </a:extLst>
          </p:cNvPr>
          <p:cNvPicPr>
            <a:picLocks xmlns:a="http://schemas.openxmlformats.org/drawingml/2006/main" noChangeAspect="1"/>
          </p:cNvPicPr>
          <p:nvPr/>
        </p:nvPicPr>
        <p:blipFill>
          <a:blip xmlns:r="http://schemas.openxmlformats.org/officeDocument/2006/relationships" xmlns:a="http://schemas.openxmlformats.org/drawingml/2006/main" r:embed="Reb463f4bbf00482e"/>
          <a:stretch xmlns:a="http://schemas.openxmlformats.org/drawingml/2006/main"/>
        </p:blipFill>
        <p:spPr>
          <a:xfrm xmlns:a="http://schemas.openxmlformats.org/drawingml/2006/main">
            <a:off x="6248400" y="3381375"/>
            <a:ext cx="571500" cy="571500"/>
          </a:xfrm>
          <a:prstGeom xmlns:a="http://schemas.openxmlformats.org/drawingml/2006/main" prst="rect">
            <a:avLst/>
          </a:prstGeom>
        </p:spPr>
      </p:pic>
      <p:pic>
        <p:nvPicPr>
          <p:cNvPr id="28" name="">
            <a:extLst xmlns:a="http://schemas.openxmlformats.org/drawingml/2006/main">
              <a:ext uri="{FF2B5EF4-FFF2-40B4-BE49-F238E27FC236}">
                <a16:creationId xmlns:a16="http://schemas.microsoft.com/office/drawing/2014/main" id="{2AF28EFF-F56F-419A-8F44-050B4F6161A9}"/>
              </a:ext>
            </a:extLst>
          </p:cNvPr>
          <p:cNvPicPr>
            <a:picLocks xmlns:a="http://schemas.openxmlformats.org/drawingml/2006/main" noChangeAspect="1"/>
          </p:cNvPicPr>
          <p:nvPr/>
        </p:nvPicPr>
        <p:blipFill>
          <a:blip xmlns:r="http://schemas.openxmlformats.org/officeDocument/2006/relationships" xmlns:a="http://schemas.openxmlformats.org/drawingml/2006/main" r:embed="Rf101016f816e4b77"/>
          <a:stretch xmlns:a="http://schemas.openxmlformats.org/drawingml/2006/main"/>
        </p:blipFill>
        <p:spPr>
          <a:xfrm xmlns:a="http://schemas.openxmlformats.org/drawingml/2006/main">
            <a:off x="6248400" y="4000500"/>
            <a:ext cx="571500" cy="571500"/>
          </a:xfrm>
          <a:prstGeom xmlns:a="http://schemas.openxmlformats.org/drawingml/2006/main" prst="rect">
            <a:avLst/>
          </a:prstGeom>
        </p:spPr>
      </p:pic>
      <p:pic>
        <p:nvPicPr>
          <p:cNvPr id="29" name="">
            <a:extLst xmlns:a="http://schemas.openxmlformats.org/drawingml/2006/main">
              <a:ext uri="{FF2B5EF4-FFF2-40B4-BE49-F238E27FC236}">
                <a16:creationId xmlns:a16="http://schemas.microsoft.com/office/drawing/2014/main" id="{13E9A050-19D0-472E-A760-EAD2197AD112}"/>
              </a:ext>
            </a:extLst>
          </p:cNvPr>
          <p:cNvPicPr>
            <a:picLocks xmlns:a="http://schemas.openxmlformats.org/drawingml/2006/main" noChangeAspect="1"/>
          </p:cNvPicPr>
          <p:nvPr/>
        </p:nvPicPr>
        <p:blipFill>
          <a:blip xmlns:r="http://schemas.openxmlformats.org/officeDocument/2006/relationships" xmlns:a="http://schemas.openxmlformats.org/drawingml/2006/main" r:embed="Rfbe13734c9224428"/>
          <a:stretch xmlns:a="http://schemas.openxmlformats.org/drawingml/2006/main"/>
        </p:blipFill>
        <p:spPr>
          <a:xfrm xmlns:a="http://schemas.openxmlformats.org/drawingml/2006/main">
            <a:off x="6248400" y="4619625"/>
            <a:ext cx="571500" cy="571500"/>
          </a:xfrm>
          <a:prstGeom xmlns:a="http://schemas.openxmlformats.org/drawingml/2006/main" prst="rect">
            <a:avLst/>
          </a:prstGeom>
        </p:spPr>
      </p:pic>
      <p:sp>
        <p:nvSpPr>
          <p:cNvPr id="30" name="">
            <a:extLst xmlns:a="http://schemas.openxmlformats.org/drawingml/2006/main">
              <a:ext uri="{FF2B5EF4-FFF2-40B4-BE49-F238E27FC236}">
                <a16:creationId xmlns:a16="http://schemas.microsoft.com/office/drawing/2014/main" id="{56FFFFC0-3210-4EC2-A4A7-0FD85110E108}"/>
              </a:ext>
            </a:extLst>
          </p:cNvPr>
          <p:cNvSpPr>
            <a:spLocks xmlns:a="http://schemas.openxmlformats.org/drawingml/2006/main" noGrp="1"/>
          </p:cNvSpPr>
          <p:nvPr/>
        </p:nvSpPr>
        <p:spPr>
          <a:xfrm xmlns:a="http://schemas.openxmlformats.org/drawingml/2006/main">
            <a:off x="6124575" y="6362700"/>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Images appear in row headers. Bars show average Attack.</a:t>
            </a:r>
          </a:p>
        </p:txBody>
      </p:sp>
    </p:spTree>
    <p:extLst>
      <p:ext uri="{BB962C8B-B14F-4D97-AF65-F5344CB8AC3E}">
        <p14:creationId xmlns:p14="http://schemas.microsoft.com/office/powerpoint/2010/main" val="12796858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2026-10-15T23:52:39.0690000Z</dcterms:created>
  <dcterms:modified xsi:type="dcterms:W3CDTF">2026-10-15T23:52:39.0690000Z</dcterms:modified>
</coreProperties>
</file>