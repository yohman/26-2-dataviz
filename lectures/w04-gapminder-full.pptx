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9200d77093478c" /><Relationship Type="http://schemas.openxmlformats.org/officeDocument/2006/relationships/extended-properties" Target="/docProps/app.xml" Id="Rf1efcc820aa248fb" /><Relationship Type="http://schemas.openxmlformats.org/officeDocument/2006/relationships/officeDocument" Target="/ppt/presentation.xml" Id="R1a5db55360eb48bb" /></Relationships>
</file>

<file path=ppt/presentation.xml><?xml version="1.0" encoding="utf-8"?>
<p:presentation xmlns:p="http://schemas.openxmlformats.org/presentationml/2006/main">
  <p:sldMasterIdLst>
    <p:sldMasterId xmlns:r="http://schemas.openxmlformats.org/officeDocument/2006/relationships" id="2147483648" r:id="R6a10261355164527"/>
  </p:sldMasterIdLst>
  <p:notesMasterIdLst>
    <p:notesMasterId xmlns:r="http://schemas.openxmlformats.org/officeDocument/2006/relationships" r:id="Rce1e5101bca34631"/>
  </p:notesMasterIdLst>
  <p:sldIdLst>
    <p:sldId xmlns:r="http://schemas.openxmlformats.org/officeDocument/2006/relationships" id="256" r:id="R1d4d2881214548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ead38468674402" /><Relationship Type="http://schemas.openxmlformats.org/officeDocument/2006/relationships/slideMaster" Target="/ppt/slideMasters/slideMaster1.xml" Id="R6a10261355164527" /><Relationship Type="http://schemas.openxmlformats.org/officeDocument/2006/relationships/notesMaster" Target="/ppt/notesMasters/notesMaster1.xml" Id="Rce1e5101bca34631" /><Relationship Type="http://schemas.openxmlformats.org/officeDocument/2006/relationships/presProps" Target="/ppt/presProps.xml" Id="R781b55a105bf48f3" /><Relationship Type="http://schemas.openxmlformats.org/officeDocument/2006/relationships/tableStyles" Target="/ppt/tableStyles.xml" Id="R1c47a4137609462e" /><Relationship Type="http://schemas.openxmlformats.org/officeDocument/2006/relationships/slide" Target="/ppt/slides/slide1.xml" Id="R1d4d2881214548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fda3cf543e4c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9671bf147742d7" /><Relationship Type="http://schemas.openxmlformats.org/officeDocument/2006/relationships/notesMaster" Target="/ppt/notesMasters/notesMaster1.xml" Id="R3219270ba73447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four cumulative mark/channel slides. Course data: data/gapminder/hans.csv. Single year 2007. One point per country, X=GDP as labeled in the class file (logarithmic scale), Y=Life Expectancy in years, bubble area=Population, color=region (continent). 175 complete records from197 year records. Exclude rows with missing continent or nonpositive/missing GDP, life expectancy or population; do not invent missing populations. The GDP axis uses a base10 logarithmic scale, as in the familiar Gapminder view. Asia uses the red from the preceding conceptual slide. Color categories do not imply ranking. Ask students to identify what position, area and color communicate. A snapshot, not current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f6ecd3a04043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5e042a928a4e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bf7586fade44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253dc12dab45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42a5d4d0a944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fb9b7c730546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BE2E7F-F367-45EE-A122-EE3C649B2D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D9E697-2C68-44FF-9ADD-F7AC2602C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8EF86C-81EE-4FF4-AC19-55EDD996C2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FBFD61-E1F2-46B5-8427-8AA71BD63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0C9E22-C0EA-40A2-8A39-F6A8B94729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179ED9-C0E6-4225-923F-B5C3D08675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A68A83-5897-483E-82BC-83E1C385DF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84C3A4-25DD-4AA4-A270-B239BB2498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3FC364-BDC5-4A43-B839-F3C35A210A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A2534B-B55D-46FA-9D3A-1A4AAC15BE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a1a122b0ef46a6" /><Relationship Type="http://schemas.openxmlformats.org/officeDocument/2006/relationships/slideLayout" Target="/ppt/slideLayouts/slideLayout1.xml" Id="Rdbc04cf431c648b7" /><Relationship Type="http://schemas.openxmlformats.org/officeDocument/2006/relationships/slideLayout" Target="/ppt/slideLayouts/slideLayout2.xml" Id="Rcde1b38782b34618" /><Relationship Type="http://schemas.openxmlformats.org/officeDocument/2006/relationships/slideLayout" Target="/ppt/slideLayouts/slideLayout3.xml" Id="Rc3bf05a90d1044a3" /><Relationship Type="http://schemas.openxmlformats.org/officeDocument/2006/relationships/slideLayout" Target="/ppt/slideLayouts/slideLayout4.xml" Id="R444fc2df3ede4e19" /><Relationship Type="http://schemas.openxmlformats.org/officeDocument/2006/relationships/slideLayout" Target="/ppt/slideLayouts/slideLayout5.xml" Id="Rbcad021e743644f0" /><Relationship Type="http://schemas.openxmlformats.org/officeDocument/2006/relationships/slideLayout" Target="/ppt/slideLayouts/slideLayout6.xml" Id="R0f6524945a7a4f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c04cf431c648b7"/>
    <p:sldLayoutId xmlns:r="http://schemas.openxmlformats.org/officeDocument/2006/relationships" id="2147483650" r:id="Rcde1b38782b34618"/>
    <p:sldLayoutId xmlns:r="http://schemas.openxmlformats.org/officeDocument/2006/relationships" id="2147483651" r:id="Rc3bf05a90d1044a3"/>
    <p:sldLayoutId xmlns:r="http://schemas.openxmlformats.org/officeDocument/2006/relationships" id="2147483652" r:id="R444fc2df3ede4e19"/>
    <p:sldLayoutId xmlns:r="http://schemas.openxmlformats.org/officeDocument/2006/relationships" id="2147483653" r:id="Rbcad021e743644f0"/>
    <p:sldLayoutId xmlns:r="http://schemas.openxmlformats.org/officeDocument/2006/relationships" id="2147483654" r:id="R0f6524945a7a4f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7bfebae30c44b5" /><Relationship Type="http://schemas.openxmlformats.org/officeDocument/2006/relationships/chart" Target="/ppt/slides/charts/chart1.xml" Id="Ra9537effbe214ce8" /><Relationship Type="http://schemas.openxmlformats.org/officeDocument/2006/relationships/notesSlide" Target="/ppt/notesSlides/notesSlide1.xml" Id="Rb2d2f0b17fb84fe9" /></Relationships>
</file>

<file path=ppt/slides/charts/_rels/chart1.xml.rels><?xml version='1.0' encoding='utf-8'?>
<Relationships xmlns="http://schemas.openxmlformats.org/package/2006/relationships"><Relationship Id="rIdWorkbook" Type="http://schemas.openxmlformats.org/officeDocument/2006/relationships/package" Target="../../embeddings/gapminder-data.xlsx" /></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bubbleChart>
        <c:bubbleScale val="95"/>
        <c:varyColors val="0"/>
        <c:sizeRepresents val="area"/>
        <c:ser>
          <c:idx val="0"/>
          <c:order val="0"/>
          <c:tx>
            <c:v>Africa</c:v>
          </c:tx>
          <c:spPr>
            <ns1:solidFill>
              <ns1:srgbClr val="C18A34"/>
            </ns1:solidFill>
            <ns1:ln w="5715">
              <ns1:solidFill>
                <ns1:srgbClr val="FFFFFF"/>
              </ns1:solidFill>
            </ns1:ln>
          </c:spPr>
          <c:invertIfNegative val="0"/>
          <c:xVal>
            <c:numRef>
              <c:f>Data!$A$2:$A$53</c:f>
              <c:numCache>
                <c:formatCode>General</c:formatCode>
                <c:ptCount val="52"/>
                <c:pt idx="0">
                  <c:v>4240</c:v>
                </c:pt>
                <c:pt idx="1">
                  <c:v>9340</c:v>
                </c:pt>
                <c:pt idx="2">
                  <c:v>995</c:v>
                </c:pt>
                <c:pt idx="3">
                  <c:v>784</c:v>
                </c:pt>
                <c:pt idx="4">
                  <c:v>13200</c:v>
                </c:pt>
                <c:pt idx="5">
                  <c:v>1810</c:v>
                </c:pt>
                <c:pt idx="6">
                  <c:v>3600</c:v>
                </c:pt>
                <c:pt idx="7">
                  <c:v>10700</c:v>
                </c:pt>
                <c:pt idx="8">
                  <c:v>4900</c:v>
                </c:pt>
                <c:pt idx="9">
                  <c:v>6240</c:v>
                </c:pt>
                <c:pt idx="10">
                  <c:v>1680</c:v>
                </c:pt>
                <c:pt idx="11">
                  <c:v>3230</c:v>
                </c:pt>
                <c:pt idx="12">
                  <c:v>934</c:v>
                </c:pt>
                <c:pt idx="13">
                  <c:v>3430</c:v>
                </c:pt>
                <c:pt idx="14">
                  <c:v>7310</c:v>
                </c:pt>
                <c:pt idx="15">
                  <c:v>1600</c:v>
                </c:pt>
                <c:pt idx="16">
                  <c:v>3290</c:v>
                </c:pt>
                <c:pt idx="17">
                  <c:v>1530</c:v>
                </c:pt>
                <c:pt idx="18">
                  <c:v>956</c:v>
                </c:pt>
                <c:pt idx="19">
                  <c:v>1910</c:v>
                </c:pt>
                <c:pt idx="20">
                  <c:v>1180</c:v>
                </c:pt>
                <c:pt idx="21">
                  <c:v>1660</c:v>
                </c:pt>
                <c:pt idx="22">
                  <c:v>2600</c:v>
                </c:pt>
                <c:pt idx="23">
                  <c:v>2770</c:v>
                </c:pt>
                <c:pt idx="24">
                  <c:v>868</c:v>
                </c:pt>
                <c:pt idx="25">
                  <c:v>1590</c:v>
                </c:pt>
                <c:pt idx="26">
                  <c:v>9780</c:v>
                </c:pt>
                <c:pt idx="27">
                  <c:v>1830</c:v>
                </c:pt>
                <c:pt idx="28">
                  <c:v>1260</c:v>
                </c:pt>
                <c:pt idx="29">
                  <c:v>2600</c:v>
                </c:pt>
                <c:pt idx="30">
                  <c:v>1050</c:v>
                </c:pt>
                <c:pt idx="31">
                  <c:v>807</c:v>
                </c:pt>
                <c:pt idx="32">
                  <c:v>1530</c:v>
                </c:pt>
                <c:pt idx="33">
                  <c:v>27300</c:v>
                </c:pt>
                <c:pt idx="34">
                  <c:v>1320</c:v>
                </c:pt>
                <c:pt idx="35">
                  <c:v>1040</c:v>
                </c:pt>
                <c:pt idx="36">
                  <c:v>1290</c:v>
                </c:pt>
                <c:pt idx="37">
                  <c:v>5120</c:v>
                </c:pt>
                <c:pt idx="38">
                  <c:v>1550</c:v>
                </c:pt>
                <c:pt idx="39">
                  <c:v>8700</c:v>
                </c:pt>
                <c:pt idx="40">
                  <c:v>2210</c:v>
                </c:pt>
                <c:pt idx="41">
                  <c:v>13800</c:v>
                </c:pt>
                <c:pt idx="42">
                  <c:v>1960</c:v>
                </c:pt>
                <c:pt idx="43">
                  <c:v>14600</c:v>
                </c:pt>
                <c:pt idx="44">
                  <c:v>1510</c:v>
                </c:pt>
                <c:pt idx="45">
                  <c:v>15500</c:v>
                </c:pt>
                <c:pt idx="46">
                  <c:v>6750</c:v>
                </c:pt>
                <c:pt idx="47">
                  <c:v>31900</c:v>
                </c:pt>
                <c:pt idx="48">
                  <c:v>3030</c:v>
                </c:pt>
                <c:pt idx="49">
                  <c:v>2810</c:v>
                </c:pt>
                <c:pt idx="50">
                  <c:v>3330</c:v>
                </c:pt>
                <c:pt idx="51">
                  <c:v>21300</c:v>
                </c:pt>
              </c:numCache>
            </c:numRef>
          </c:xVal>
          <c:yVal>
            <c:numRef>
              <c:f>Data!$B$2:$B$53</c:f>
              <c:numCache>
                <c:formatCode>General</c:formatCode>
                <c:ptCount val="52"/>
                <c:pt idx="0">
                  <c:v>57</c:v>
                </c:pt>
                <c:pt idx="1">
                  <c:v>69</c:v>
                </c:pt>
                <c:pt idx="2">
                  <c:v>59</c:v>
                </c:pt>
                <c:pt idx="3">
                  <c:v>57</c:v>
                </c:pt>
                <c:pt idx="4">
                  <c:v>53</c:v>
                </c:pt>
                <c:pt idx="5">
                  <c:v>58</c:v>
                </c:pt>
                <c:pt idx="6">
                  <c:v>58</c:v>
                </c:pt>
                <c:pt idx="7">
                  <c:v>73</c:v>
                </c:pt>
                <c:pt idx="8">
                  <c:v>66</c:v>
                </c:pt>
                <c:pt idx="9">
                  <c:v>71</c:v>
                </c:pt>
                <c:pt idx="10">
                  <c:v>56</c:v>
                </c:pt>
                <c:pt idx="11">
                  <c:v>60</c:v>
                </c:pt>
                <c:pt idx="12">
                  <c:v>52</c:v>
                </c:pt>
                <c:pt idx="13">
                  <c:v>55</c:v>
                </c:pt>
                <c:pt idx="14">
                  <c:v>58</c:v>
                </c:pt>
                <c:pt idx="15">
                  <c:v>61</c:v>
                </c:pt>
                <c:pt idx="16">
                  <c:v>55</c:v>
                </c:pt>
                <c:pt idx="17">
                  <c:v>56</c:v>
                </c:pt>
                <c:pt idx="18">
                  <c:v>57</c:v>
                </c:pt>
                <c:pt idx="19">
                  <c:v>57</c:v>
                </c:pt>
                <c:pt idx="20">
                  <c:v>51</c:v>
                </c:pt>
                <c:pt idx="21">
                  <c:v>48</c:v>
                </c:pt>
                <c:pt idx="22">
                  <c:v>51</c:v>
                </c:pt>
                <c:pt idx="23">
                  <c:v>64</c:v>
                </c:pt>
                <c:pt idx="24">
                  <c:v>53</c:v>
                </c:pt>
                <c:pt idx="25">
                  <c:v>54</c:v>
                </c:pt>
                <c:pt idx="26">
                  <c:v>75</c:v>
                </c:pt>
                <c:pt idx="27">
                  <c:v>56</c:v>
                </c:pt>
                <c:pt idx="28">
                  <c:v>61</c:v>
                </c:pt>
                <c:pt idx="29">
                  <c:v>59</c:v>
                </c:pt>
                <c:pt idx="30">
                  <c:v>59</c:v>
                </c:pt>
                <c:pt idx="31">
                  <c:v>55</c:v>
                </c:pt>
                <c:pt idx="32">
                  <c:v>57</c:v>
                </c:pt>
                <c:pt idx="33">
                  <c:v>76</c:v>
                </c:pt>
                <c:pt idx="34">
                  <c:v>54</c:v>
                </c:pt>
                <c:pt idx="35">
                  <c:v>46</c:v>
                </c:pt>
                <c:pt idx="36">
                  <c:v>60</c:v>
                </c:pt>
                <c:pt idx="37">
                  <c:v>66</c:v>
                </c:pt>
                <c:pt idx="38">
                  <c:v>58</c:v>
                </c:pt>
                <c:pt idx="39">
                  <c:v>57</c:v>
                </c:pt>
                <c:pt idx="40">
                  <c:v>45</c:v>
                </c:pt>
                <c:pt idx="41">
                  <c:v>53</c:v>
                </c:pt>
                <c:pt idx="42">
                  <c:v>62</c:v>
                </c:pt>
                <c:pt idx="43">
                  <c:v>62</c:v>
                </c:pt>
                <c:pt idx="44">
                  <c:v>54</c:v>
                </c:pt>
                <c:pt idx="45">
                  <c:v>73</c:v>
                </c:pt>
                <c:pt idx="46">
                  <c:v>44</c:v>
                </c:pt>
                <c:pt idx="47">
                  <c:v>62</c:v>
                </c:pt>
                <c:pt idx="48">
                  <c:v>62</c:v>
                </c:pt>
                <c:pt idx="49">
                  <c:v>64</c:v>
                </c:pt>
                <c:pt idx="50">
                  <c:v>67</c:v>
                </c:pt>
                <c:pt idx="51">
                  <c:v>72</c:v>
                </c:pt>
              </c:numCache>
            </c:numRef>
          </c:yVal>
          <c:bubbleSize>
            <c:numRef>
              <c:f>Data!$C$2:$C$53</c:f>
              <c:numCache>
                <c:formatCode>General</c:formatCode>
                <c:ptCount val="52"/>
                <c:pt idx="0">
                  <c:v>153000000</c:v>
                </c:pt>
                <c:pt idx="1">
                  <c:v>84300000</c:v>
                </c:pt>
                <c:pt idx="2">
                  <c:v>83100000</c:v>
                </c:pt>
                <c:pt idx="3">
                  <c:v>62500000</c:v>
                </c:pt>
                <c:pt idx="4">
                  <c:v>50500000</c:v>
                </c:pt>
                <c:pt idx="5">
                  <c:v>41400000</c:v>
                </c:pt>
                <c:pt idx="6">
                  <c:v>38000000</c:v>
                </c:pt>
                <c:pt idx="7">
                  <c:v>34200000</c:v>
                </c:pt>
                <c:pt idx="8">
                  <c:v>32799999</c:v>
                </c:pt>
                <c:pt idx="9">
                  <c:v>31200000</c:v>
                </c:pt>
                <c:pt idx="10">
                  <c:v>29700000</c:v>
                </c:pt>
                <c:pt idx="11">
                  <c:v>23600000</c:v>
                </c:pt>
                <c:pt idx="12">
                  <c:v>21300000</c:v>
                </c:pt>
                <c:pt idx="13">
                  <c:v>21000000</c:v>
                </c:pt>
                <c:pt idx="14">
                  <c:v>20800000</c:v>
                </c:pt>
                <c:pt idx="15">
                  <c:v>20300000</c:v>
                </c:pt>
                <c:pt idx="16">
                  <c:v>18000000</c:v>
                </c:pt>
                <c:pt idx="17">
                  <c:v>14800000</c:v>
                </c:pt>
                <c:pt idx="18">
                  <c:v>14800000</c:v>
                </c:pt>
                <c:pt idx="19">
                  <c:v>14500000</c:v>
                </c:pt>
                <c:pt idx="20">
                  <c:v>13600000</c:v>
                </c:pt>
                <c:pt idx="21">
                  <c:v>12800000</c:v>
                </c:pt>
                <c:pt idx="22">
                  <c:v>12600000</c:v>
                </c:pt>
                <c:pt idx="23">
                  <c:v>11800000</c:v>
                </c:pt>
                <c:pt idx="24">
                  <c:v>11300000</c:v>
                </c:pt>
                <c:pt idx="25">
                  <c:v>11100000</c:v>
                </c:pt>
                <c:pt idx="26">
                  <c:v>10400000</c:v>
                </c:pt>
                <c:pt idx="27">
                  <c:v>9660000</c:v>
                </c:pt>
                <c:pt idx="28">
                  <c:v>9550000</c:v>
                </c:pt>
                <c:pt idx="29">
                  <c:v>8950000</c:v>
                </c:pt>
                <c:pt idx="30">
                  <c:v>8390000</c:v>
                </c:pt>
                <c:pt idx="31">
                  <c:v>8160000</c:v>
                </c:pt>
                <c:pt idx="32">
                  <c:v>6190000</c:v>
                </c:pt>
                <c:pt idx="33">
                  <c:v>6100000</c:v>
                </c:pt>
                <c:pt idx="34">
                  <c:v>5750000</c:v>
                </c:pt>
                <c:pt idx="35">
                  <c:v>4460000</c:v>
                </c:pt>
                <c:pt idx="36">
                  <c:v>3670000</c:v>
                </c:pt>
                <c:pt idx="37">
                  <c:v>3090000</c:v>
                </c:pt>
                <c:pt idx="38">
                  <c:v>2740000</c:v>
                </c:pt>
                <c:pt idx="39">
                  <c:v>2020000</c:v>
                </c:pt>
                <c:pt idx="40">
                  <c:v>1950000</c:v>
                </c:pt>
                <c:pt idx="41">
                  <c:v>1910000</c:v>
                </c:pt>
                <c:pt idx="42">
                  <c:v>1770000</c:v>
                </c:pt>
                <c:pt idx="43">
                  <c:v>1560000</c:v>
                </c:pt>
                <c:pt idx="44">
                  <c:v>1450000</c:v>
                </c:pt>
                <c:pt idx="45">
                  <c:v>1270000</c:v>
                </c:pt>
                <c:pt idx="46">
                  <c:v>1090000</c:v>
                </c:pt>
                <c:pt idx="47">
                  <c:v>1040000</c:v>
                </c:pt>
                <c:pt idx="48">
                  <c:v>875000</c:v>
                </c:pt>
                <c:pt idx="49">
                  <c:v>617000</c:v>
                </c:pt>
                <c:pt idx="50">
                  <c:v>170000</c:v>
                </c:pt>
                <c:pt idx="51">
                  <c:v>91500</c:v>
                </c:pt>
              </c:numCache>
            </c:numRef>
          </c:bubbleSize>
        </c:ser>
        <c:ser>
          <c:idx val="1"/>
          <c:order val="1"/>
          <c:tx>
            <c:v>Americas</c:v>
          </c:tx>
          <c:spPr>
            <ns1:solidFill>
              <ns1:srgbClr val="457985"/>
            </ns1:solidFill>
            <ns1:ln w="5715">
              <ns1:solidFill>
                <ns1:srgbClr val="FFFFFF"/>
              </ns1:solidFill>
            </ns1:ln>
          </c:spPr>
          <c:invertIfNegative val="0"/>
          <c:xVal>
            <c:numRef>
              <c:f>Data!$D$2:$D$33</c:f>
              <c:numCache>
                <c:formatCode>General</c:formatCode>
                <c:ptCount val="32"/>
                <c:pt idx="0">
                  <c:v>13600</c:v>
                </c:pt>
                <c:pt idx="1">
                  <c:v>19300</c:v>
                </c:pt>
                <c:pt idx="2">
                  <c:v>11300</c:v>
                </c:pt>
                <c:pt idx="3">
                  <c:v>22200</c:v>
                </c:pt>
                <c:pt idx="4">
                  <c:v>45900</c:v>
                </c:pt>
                <c:pt idx="5">
                  <c:v>8590</c:v>
                </c:pt>
                <c:pt idx="6">
                  <c:v>19400</c:v>
                </c:pt>
                <c:pt idx="7">
                  <c:v>20300</c:v>
                </c:pt>
                <c:pt idx="8">
                  <c:v>8770</c:v>
                </c:pt>
                <c:pt idx="9">
                  <c:v>7280</c:v>
                </c:pt>
                <c:pt idx="10">
                  <c:v>6450</c:v>
                </c:pt>
                <c:pt idx="11">
                  <c:v>11700</c:v>
                </c:pt>
                <c:pt idx="12">
                  <c:v>2930</c:v>
                </c:pt>
                <c:pt idx="13">
                  <c:v>4850</c:v>
                </c:pt>
                <c:pt idx="14">
                  <c:v>7330</c:v>
                </c:pt>
                <c:pt idx="15">
                  <c:v>9740</c:v>
                </c:pt>
                <c:pt idx="16">
                  <c:v>4570</c:v>
                </c:pt>
                <c:pt idx="17">
                  <c:v>15700</c:v>
                </c:pt>
                <c:pt idx="18">
                  <c:v>19700</c:v>
                </c:pt>
                <c:pt idx="19">
                  <c:v>16400</c:v>
                </c:pt>
                <c:pt idx="20">
                  <c:v>10400</c:v>
                </c:pt>
                <c:pt idx="21">
                  <c:v>27800</c:v>
                </c:pt>
                <c:pt idx="22">
                  <c:v>8720</c:v>
                </c:pt>
                <c:pt idx="23">
                  <c:v>16600</c:v>
                </c:pt>
                <c:pt idx="24">
                  <c:v>37300</c:v>
                </c:pt>
                <c:pt idx="25">
                  <c:v>9720</c:v>
                </c:pt>
                <c:pt idx="26">
                  <c:v>17100</c:v>
                </c:pt>
                <c:pt idx="27">
                  <c:v>14100</c:v>
                </c:pt>
                <c:pt idx="28">
                  <c:v>12100</c:v>
                </c:pt>
                <c:pt idx="29">
                  <c:v>13600</c:v>
                </c:pt>
                <c:pt idx="30">
                  <c:v>26000</c:v>
                </c:pt>
                <c:pt idx="31">
                  <c:v>11400</c:v>
                </c:pt>
              </c:numCache>
            </c:numRef>
          </c:xVal>
          <c:yVal>
            <c:numRef>
              <c:f>Data!$E$2:$E$33</c:f>
              <c:numCache>
                <c:formatCode>General</c:formatCode>
                <c:ptCount val="32"/>
                <c:pt idx="0">
                  <c:v>73</c:v>
                </c:pt>
                <c:pt idx="1">
                  <c:v>75</c:v>
                </c:pt>
                <c:pt idx="2">
                  <c:v>77</c:v>
                </c:pt>
                <c:pt idx="3">
                  <c:v>75</c:v>
                </c:pt>
                <c:pt idx="4">
                  <c:v>80</c:v>
                </c:pt>
                <c:pt idx="5">
                  <c:v>78</c:v>
                </c:pt>
                <c:pt idx="6">
                  <c:v>74</c:v>
                </c:pt>
                <c:pt idx="7">
                  <c:v>78</c:v>
                </c:pt>
                <c:pt idx="8">
                  <c:v>73</c:v>
                </c:pt>
                <c:pt idx="9">
                  <c:v>69</c:v>
                </c:pt>
                <c:pt idx="10">
                  <c:v>78</c:v>
                </c:pt>
                <c:pt idx="11">
                  <c:v>72</c:v>
                </c:pt>
                <c:pt idx="12">
                  <c:v>60</c:v>
                </c:pt>
                <c:pt idx="13">
                  <c:v>71</c:v>
                </c:pt>
                <c:pt idx="14">
                  <c:v>74</c:v>
                </c:pt>
                <c:pt idx="15">
                  <c:v>76</c:v>
                </c:pt>
                <c:pt idx="16">
                  <c:v>73</c:v>
                </c:pt>
                <c:pt idx="17">
                  <c:v>80</c:v>
                </c:pt>
                <c:pt idx="18">
                  <c:v>78</c:v>
                </c:pt>
                <c:pt idx="19">
                  <c:v>75</c:v>
                </c:pt>
                <c:pt idx="20">
                  <c:v>76</c:v>
                </c:pt>
                <c:pt idx="21">
                  <c:v>72</c:v>
                </c:pt>
                <c:pt idx="22">
                  <c:v>65</c:v>
                </c:pt>
                <c:pt idx="23">
                  <c:v>71</c:v>
                </c:pt>
                <c:pt idx="24">
                  <c:v>73</c:v>
                </c:pt>
                <c:pt idx="25">
                  <c:v>73</c:v>
                </c:pt>
                <c:pt idx="26">
                  <c:v>75</c:v>
                </c:pt>
                <c:pt idx="27">
                  <c:v>75</c:v>
                </c:pt>
                <c:pt idx="28">
                  <c:v>73</c:v>
                </c:pt>
                <c:pt idx="29">
                  <c:v>72</c:v>
                </c:pt>
                <c:pt idx="30">
                  <c:v>75</c:v>
                </c:pt>
                <c:pt idx="31">
                  <c:v>72</c:v>
                </c:pt>
              </c:numCache>
            </c:numRef>
          </c:yVal>
          <c:bubbleSize>
            <c:numRef>
              <c:f>Data!$F$2:$F$33</c:f>
              <c:numCache>
                <c:formatCode>General</c:formatCode>
                <c:ptCount val="32"/>
                <c:pt idx="0">
                  <c:v>189000000</c:v>
                </c:pt>
                <c:pt idx="1">
                  <c:v>109000000</c:v>
                </c:pt>
                <c:pt idx="2">
                  <c:v>43200000</c:v>
                </c:pt>
                <c:pt idx="3">
                  <c:v>40000000</c:v>
                </c:pt>
                <c:pt idx="4">
                  <c:v>33100000</c:v>
                </c:pt>
                <c:pt idx="5">
                  <c:v>28500000</c:v>
                </c:pt>
                <c:pt idx="6">
                  <c:v>27600000</c:v>
                </c:pt>
                <c:pt idx="7">
                  <c:v>16700000</c:v>
                </c:pt>
                <c:pt idx="8">
                  <c:v>14300000</c:v>
                </c:pt>
                <c:pt idx="9">
                  <c:v>13700000</c:v>
                </c:pt>
                <c:pt idx="10">
                  <c:v>11300000</c:v>
                </c:pt>
                <c:pt idx="11">
                  <c:v>9460000</c:v>
                </c:pt>
                <c:pt idx="12">
                  <c:v>9370000</c:v>
                </c:pt>
                <c:pt idx="13">
                  <c:v>7830000</c:v>
                </c:pt>
                <c:pt idx="14">
                  <c:v>6010000</c:v>
                </c:pt>
                <c:pt idx="15">
                  <c:v>5560000</c:v>
                </c:pt>
                <c:pt idx="16">
                  <c:v>5500000</c:v>
                </c:pt>
                <c:pt idx="17">
                  <c:v>4380000</c:v>
                </c:pt>
                <c:pt idx="18">
                  <c:v>3440000</c:v>
                </c:pt>
                <c:pt idx="19">
                  <c:v>3300000</c:v>
                </c:pt>
                <c:pt idx="20">
                  <c:v>2710000</c:v>
                </c:pt>
                <c:pt idx="21">
                  <c:v>1370000</c:v>
                </c:pt>
                <c:pt idx="22">
                  <c:v>757000</c:v>
                </c:pt>
                <c:pt idx="23">
                  <c:v>531000</c:v>
                </c:pt>
                <c:pt idx="24">
                  <c:v>353000</c:v>
                </c:pt>
                <c:pt idx="25">
                  <c:v>296000</c:v>
                </c:pt>
                <c:pt idx="26">
                  <c:v>271000</c:v>
                </c:pt>
                <c:pt idx="27">
                  <c:v>168000</c:v>
                </c:pt>
                <c:pt idx="28">
                  <c:v>112000</c:v>
                </c:pt>
                <c:pt idx="29">
                  <c:v>111000</c:v>
                </c:pt>
                <c:pt idx="30">
                  <c:v>81700</c:v>
                </c:pt>
                <c:pt idx="31">
                  <c:v>68800</c:v>
                </c:pt>
              </c:numCache>
            </c:numRef>
          </c:bubbleSize>
        </c:ser>
        <c:ser>
          <c:idx val="2"/>
          <c:order val="2"/>
          <c:tx>
            <c:v>Asia</c:v>
          </c:tx>
          <c:spPr>
            <ns1:solidFill>
              <ns1:srgbClr val="B23C50"/>
            </ns1:solidFill>
            <ns1:ln w="5715">
              <ns1:solidFill>
                <ns1:srgbClr val="FFFFFF"/>
              </ns1:solidFill>
            </ns1:ln>
          </c:spPr>
          <c:invertIfNegative val="0"/>
          <c:xVal>
            <c:numRef>
              <c:f>Data!$G$2:$G$40</c:f>
              <c:numCache>
                <c:formatCode>General</c:formatCode>
                <c:ptCount val="39"/>
                <c:pt idx="0">
                  <c:v>7280</c:v>
                </c:pt>
                <c:pt idx="1">
                  <c:v>4090</c:v>
                </c:pt>
                <c:pt idx="2">
                  <c:v>2950</c:v>
                </c:pt>
                <c:pt idx="3">
                  <c:v>39200</c:v>
                </c:pt>
                <c:pt idx="4">
                  <c:v>5480</c:v>
                </c:pt>
                <c:pt idx="5">
                  <c:v>19600</c:v>
                </c:pt>
                <c:pt idx="6">
                  <c:v>13400</c:v>
                </c:pt>
                <c:pt idx="7">
                  <c:v>31600</c:v>
                </c:pt>
                <c:pt idx="8">
                  <c:v>2370</c:v>
                </c:pt>
                <c:pt idx="9">
                  <c:v>7550</c:v>
                </c:pt>
                <c:pt idx="10">
                  <c:v>4240</c:v>
                </c:pt>
                <c:pt idx="11">
                  <c:v>19200</c:v>
                </c:pt>
                <c:pt idx="12">
                  <c:v>2340</c:v>
                </c:pt>
                <c:pt idx="13">
                  <c:v>1530</c:v>
                </c:pt>
                <c:pt idx="14">
                  <c:v>2000</c:v>
                </c:pt>
                <c:pt idx="15">
                  <c:v>4080</c:v>
                </c:pt>
                <c:pt idx="16">
                  <c:v>41000</c:v>
                </c:pt>
                <c:pt idx="17">
                  <c:v>6690</c:v>
                </c:pt>
                <c:pt idx="18">
                  <c:v>8000</c:v>
                </c:pt>
                <c:pt idx="19">
                  <c:v>2520</c:v>
                </c:pt>
                <c:pt idx="20">
                  <c:v>11800</c:v>
                </c:pt>
                <c:pt idx="21">
                  <c:v>2130</c:v>
                </c:pt>
                <c:pt idx="22">
                  <c:v>33100</c:v>
                </c:pt>
                <c:pt idx="23">
                  <c:v>10900</c:v>
                </c:pt>
                <c:pt idx="24">
                  <c:v>3900</c:v>
                </c:pt>
                <c:pt idx="25">
                  <c:v>15300</c:v>
                </c:pt>
                <c:pt idx="26">
                  <c:v>72900</c:v>
                </c:pt>
                <c:pt idx="27">
                  <c:v>8690</c:v>
                </c:pt>
                <c:pt idx="28">
                  <c:v>4760</c:v>
                </c:pt>
                <c:pt idx="29">
                  <c:v>9530</c:v>
                </c:pt>
                <c:pt idx="30">
                  <c:v>6830</c:v>
                </c:pt>
                <c:pt idx="31">
                  <c:v>38800</c:v>
                </c:pt>
                <c:pt idx="32">
                  <c:v>71500</c:v>
                </c:pt>
                <c:pt idx="33">
                  <c:v>92500</c:v>
                </c:pt>
                <c:pt idx="34">
                  <c:v>38100</c:v>
                </c:pt>
                <c:pt idx="35">
                  <c:v>46100</c:v>
                </c:pt>
                <c:pt idx="36">
                  <c:v>2470</c:v>
                </c:pt>
                <c:pt idx="37">
                  <c:v>6570</c:v>
                </c:pt>
                <c:pt idx="38">
                  <c:v>17000</c:v>
                </c:pt>
              </c:numCache>
            </c:numRef>
          </c:xVal>
          <c:yVal>
            <c:numRef>
              <c:f>Data!$H$2:$H$40</c:f>
              <c:numCache>
                <c:formatCode>General</c:formatCode>
                <c:ptCount val="39"/>
                <c:pt idx="0">
                  <c:v>68</c:v>
                </c:pt>
                <c:pt idx="1">
                  <c:v>62</c:v>
                </c:pt>
                <c:pt idx="2">
                  <c:v>68</c:v>
                </c:pt>
                <c:pt idx="3">
                  <c:v>82</c:v>
                </c:pt>
                <c:pt idx="4">
                  <c:v>70</c:v>
                </c:pt>
                <c:pt idx="5">
                  <c:v>77</c:v>
                </c:pt>
                <c:pt idx="6">
                  <c:v>76</c:v>
                </c:pt>
                <c:pt idx="7">
                  <c:v>79</c:v>
                </c:pt>
                <c:pt idx="8">
                  <c:v>62</c:v>
                </c:pt>
                <c:pt idx="9">
                  <c:v>67</c:v>
                </c:pt>
                <c:pt idx="10">
                  <c:v>65</c:v>
                </c:pt>
                <c:pt idx="11">
                  <c:v>74</c:v>
                </c:pt>
                <c:pt idx="12">
                  <c:v>68</c:v>
                </c:pt>
                <c:pt idx="13">
                  <c:v>58</c:v>
                </c:pt>
                <c:pt idx="14">
                  <c:v>70</c:v>
                </c:pt>
                <c:pt idx="15">
                  <c:v>66</c:v>
                </c:pt>
                <c:pt idx="16">
                  <c:v>71</c:v>
                </c:pt>
                <c:pt idx="17">
                  <c:v>74</c:v>
                </c:pt>
                <c:pt idx="18">
                  <c:v>74</c:v>
                </c:pt>
                <c:pt idx="19">
                  <c:v>65</c:v>
                </c:pt>
                <c:pt idx="20">
                  <c:v>68</c:v>
                </c:pt>
                <c:pt idx="21">
                  <c:v>67</c:v>
                </c:pt>
                <c:pt idx="22">
                  <c:v>80</c:v>
                </c:pt>
                <c:pt idx="23">
                  <c:v>75</c:v>
                </c:pt>
                <c:pt idx="24">
                  <c:v>67</c:v>
                </c:pt>
                <c:pt idx="25">
                  <c:v>75</c:v>
                </c:pt>
                <c:pt idx="26">
                  <c:v>81</c:v>
                </c:pt>
                <c:pt idx="27">
                  <c:v>72</c:v>
                </c:pt>
                <c:pt idx="28">
                  <c:v>71</c:v>
                </c:pt>
                <c:pt idx="29">
                  <c:v>73</c:v>
                </c:pt>
                <c:pt idx="30">
                  <c:v>64</c:v>
                </c:pt>
                <c:pt idx="31">
                  <c:v>69</c:v>
                </c:pt>
                <c:pt idx="32">
                  <c:v>79</c:v>
                </c:pt>
                <c:pt idx="33">
                  <c:v>72</c:v>
                </c:pt>
                <c:pt idx="34">
                  <c:v>78</c:v>
                </c:pt>
                <c:pt idx="35">
                  <c:v>73</c:v>
                </c:pt>
                <c:pt idx="36">
                  <c:v>69</c:v>
                </c:pt>
                <c:pt idx="37">
                  <c:v>69</c:v>
                </c:pt>
                <c:pt idx="38">
                  <c:v>76</c:v>
                </c:pt>
              </c:numCache>
            </c:numRef>
          </c:yVal>
          <c:bubbleSize>
            <c:numRef>
              <c:f>Data!$I$2:$I$40</c:f>
              <c:numCache>
                <c:formatCode>General</c:formatCode>
                <c:ptCount val="39"/>
                <c:pt idx="0">
                  <c:v>237000000</c:v>
                </c:pt>
                <c:pt idx="1">
                  <c:v>184000000</c:v>
                </c:pt>
                <c:pt idx="2">
                  <c:v>148000000</c:v>
                </c:pt>
                <c:pt idx="3">
                  <c:v>128000000</c:v>
                </c:pt>
                <c:pt idx="4">
                  <c:v>91100000</c:v>
                </c:pt>
                <c:pt idx="5">
                  <c:v>70800000</c:v>
                </c:pt>
                <c:pt idx="6">
                  <c:v>67099999</c:v>
                </c:pt>
                <c:pt idx="7">
                  <c:v>48200000</c:v>
                </c:pt>
                <c:pt idx="8">
                  <c:v>48100000</c:v>
                </c:pt>
                <c:pt idx="9">
                  <c:v>28400000</c:v>
                </c:pt>
                <c:pt idx="10">
                  <c:v>27100000</c:v>
                </c:pt>
                <c:pt idx="11">
                  <c:v>27000000</c:v>
                </c:pt>
                <c:pt idx="12">
                  <c:v>26800000</c:v>
                </c:pt>
                <c:pt idx="13">
                  <c:v>25900000</c:v>
                </c:pt>
                <c:pt idx="14">
                  <c:v>24600000</c:v>
                </c:pt>
                <c:pt idx="15">
                  <c:v>24300000</c:v>
                </c:pt>
                <c:pt idx="16">
                  <c:v>22400000</c:v>
                </c:pt>
                <c:pt idx="17">
                  <c:v>20900000</c:v>
                </c:pt>
                <c:pt idx="18">
                  <c:v>20500000</c:v>
                </c:pt>
                <c:pt idx="19">
                  <c:v>13800000</c:v>
                </c:pt>
                <c:pt idx="20">
                  <c:v>8830000</c:v>
                </c:pt>
                <c:pt idx="21">
                  <c:v>7190000</c:v>
                </c:pt>
                <c:pt idx="22">
                  <c:v>6960000</c:v>
                </c:pt>
                <c:pt idx="23">
                  <c:v>6830000</c:v>
                </c:pt>
                <c:pt idx="24">
                  <c:v>5310000</c:v>
                </c:pt>
                <c:pt idx="25">
                  <c:v>4840000</c:v>
                </c:pt>
                <c:pt idx="26">
                  <c:v>4600000</c:v>
                </c:pt>
                <c:pt idx="27">
                  <c:v>3970000</c:v>
                </c:pt>
                <c:pt idx="28">
                  <c:v>3740000</c:v>
                </c:pt>
                <c:pt idx="29">
                  <c:v>2970000</c:v>
                </c:pt>
                <c:pt idx="30">
                  <c:v>2610000</c:v>
                </c:pt>
                <c:pt idx="31">
                  <c:v>2570000</c:v>
                </c:pt>
                <c:pt idx="32">
                  <c:v>2510000</c:v>
                </c:pt>
                <c:pt idx="33">
                  <c:v>1210000</c:v>
                </c:pt>
                <c:pt idx="34">
                  <c:v>1070000</c:v>
                </c:pt>
                <c:pt idx="35">
                  <c:v>1060000</c:v>
                </c:pt>
                <c:pt idx="36">
                  <c:v>1000000</c:v>
                </c:pt>
                <c:pt idx="37">
                  <c:v>679000</c:v>
                </c:pt>
                <c:pt idx="38">
                  <c:v>324000</c:v>
                </c:pt>
              </c:numCache>
            </c:numRef>
          </c:bubbleSize>
        </c:ser>
        <c:ser>
          <c:idx val="3"/>
          <c:order val="3"/>
          <c:tx>
            <c:v>Europe</c:v>
          </c:tx>
          <c:spPr>
            <ns1:solidFill>
              <ns1:srgbClr val="647545"/>
            </ns1:solidFill>
            <ns1:ln w="5715">
              <ns1:solidFill>
                <ns1:srgbClr val="FFFFFF"/>
              </ns1:solidFill>
            </ns1:ln>
          </c:spPr>
          <c:invertIfNegative val="0"/>
          <c:xVal>
            <c:numRef>
              <c:f>Data!$J$2:$J$40</c:f>
              <c:numCache>
                <c:formatCode>General</c:formatCode>
                <c:ptCount val="39"/>
                <c:pt idx="0">
                  <c:v>23800</c:v>
                </c:pt>
                <c:pt idx="1">
                  <c:v>46800</c:v>
                </c:pt>
                <c:pt idx="2">
                  <c:v>43100</c:v>
                </c:pt>
                <c:pt idx="3">
                  <c:v>44700</c:v>
                </c:pt>
                <c:pt idx="4">
                  <c:v>13300</c:v>
                </c:pt>
                <c:pt idx="5">
                  <c:v>39000</c:v>
                </c:pt>
                <c:pt idx="6">
                  <c:v>21400</c:v>
                </c:pt>
                <c:pt idx="7">
                  <c:v>19800</c:v>
                </c:pt>
                <c:pt idx="8">
                  <c:v>52200</c:v>
                </c:pt>
                <c:pt idx="9">
                  <c:v>37300</c:v>
                </c:pt>
                <c:pt idx="10">
                  <c:v>48000</c:v>
                </c:pt>
                <c:pt idx="11">
                  <c:v>32200</c:v>
                </c:pt>
                <c:pt idx="12">
                  <c:v>33700</c:v>
                </c:pt>
                <c:pt idx="13">
                  <c:v>25400</c:v>
                </c:pt>
                <c:pt idx="14">
                  <c:v>14500</c:v>
                </c:pt>
                <c:pt idx="15">
                  <c:v>48200</c:v>
                </c:pt>
                <c:pt idx="16">
                  <c:v>52600</c:v>
                </c:pt>
                <c:pt idx="17">
                  <c:v>17000</c:v>
                </c:pt>
                <c:pt idx="18">
                  <c:v>64300</c:v>
                </c:pt>
                <c:pt idx="19">
                  <c:v>13800</c:v>
                </c:pt>
                <c:pt idx="20">
                  <c:v>52700</c:v>
                </c:pt>
                <c:pt idx="21">
                  <c:v>24200</c:v>
                </c:pt>
                <c:pt idx="22">
                  <c:v>48600</c:v>
                </c:pt>
                <c:pt idx="23">
                  <c:v>65300</c:v>
                </c:pt>
                <c:pt idx="24">
                  <c:v>59100</c:v>
                </c:pt>
                <c:pt idx="25">
                  <c:v>25900</c:v>
                </c:pt>
                <c:pt idx="26">
                  <c:v>9820</c:v>
                </c:pt>
                <c:pt idx="27">
                  <c:v>25600</c:v>
                </c:pt>
                <c:pt idx="28">
                  <c:v>9140</c:v>
                </c:pt>
                <c:pt idx="29">
                  <c:v>25600</c:v>
                </c:pt>
                <c:pt idx="30">
                  <c:v>34700</c:v>
                </c:pt>
                <c:pt idx="31">
                  <c:v>31300</c:v>
                </c:pt>
                <c:pt idx="32">
                  <c:v>16100</c:v>
                </c:pt>
                <c:pt idx="33">
                  <c:v>115000</c:v>
                </c:pt>
                <c:pt idx="34">
                  <c:v>30100</c:v>
                </c:pt>
                <c:pt idx="35">
                  <c:v>52000</c:v>
                </c:pt>
                <c:pt idx="36">
                  <c:v>66500</c:v>
                </c:pt>
                <c:pt idx="37">
                  <c:v>195000</c:v>
                </c:pt>
                <c:pt idx="38">
                  <c:v>88400</c:v>
                </c:pt>
              </c:numCache>
            </c:numRef>
          </c:xVal>
          <c:yVal>
            <c:numRef>
              <c:f>Data!$K$2:$K$40</c:f>
              <c:numCache>
                <c:formatCode>General</c:formatCode>
                <c:ptCount val="39"/>
                <c:pt idx="0">
                  <c:v>67</c:v>
                </c:pt>
                <c:pt idx="1">
                  <c:v>80</c:v>
                </c:pt>
                <c:pt idx="2">
                  <c:v>81</c:v>
                </c:pt>
                <c:pt idx="3">
                  <c:v>81</c:v>
                </c:pt>
                <c:pt idx="4">
                  <c:v>68</c:v>
                </c:pt>
                <c:pt idx="5">
                  <c:v>81</c:v>
                </c:pt>
                <c:pt idx="6">
                  <c:v>75</c:v>
                </c:pt>
                <c:pt idx="7">
                  <c:v>73</c:v>
                </c:pt>
                <c:pt idx="8">
                  <c:v>80</c:v>
                </c:pt>
                <c:pt idx="9">
                  <c:v>79</c:v>
                </c:pt>
                <c:pt idx="10">
                  <c:v>79</c:v>
                </c:pt>
                <c:pt idx="11">
                  <c:v>79</c:v>
                </c:pt>
                <c:pt idx="12">
                  <c:v>77</c:v>
                </c:pt>
                <c:pt idx="13">
                  <c:v>73</c:v>
                </c:pt>
                <c:pt idx="14">
                  <c:v>70</c:v>
                </c:pt>
                <c:pt idx="15">
                  <c:v>81</c:v>
                </c:pt>
                <c:pt idx="16">
                  <c:v>80</c:v>
                </c:pt>
                <c:pt idx="17">
                  <c:v>71</c:v>
                </c:pt>
                <c:pt idx="18">
                  <c:v>82</c:v>
                </c:pt>
                <c:pt idx="19">
                  <c:v>73</c:v>
                </c:pt>
                <c:pt idx="20">
                  <c:v>78</c:v>
                </c:pt>
                <c:pt idx="21">
                  <c:v>74</c:v>
                </c:pt>
                <c:pt idx="22">
                  <c:v>79</c:v>
                </c:pt>
                <c:pt idx="23">
                  <c:v>80</c:v>
                </c:pt>
                <c:pt idx="24">
                  <c:v>79</c:v>
                </c:pt>
                <c:pt idx="25">
                  <c:v>75</c:v>
                </c:pt>
                <c:pt idx="26">
                  <c:v>75</c:v>
                </c:pt>
                <c:pt idx="27">
                  <c:v>70</c:v>
                </c:pt>
                <c:pt idx="28">
                  <c:v>77</c:v>
                </c:pt>
                <c:pt idx="29">
                  <c:v>70</c:v>
                </c:pt>
                <c:pt idx="30">
                  <c:v>78</c:v>
                </c:pt>
                <c:pt idx="31">
                  <c:v>73</c:v>
                </c:pt>
                <c:pt idx="32">
                  <c:v>74</c:v>
                </c:pt>
                <c:pt idx="33">
                  <c:v>80</c:v>
                </c:pt>
                <c:pt idx="34">
                  <c:v>80</c:v>
                </c:pt>
                <c:pt idx="35">
                  <c:v>81</c:v>
                </c:pt>
                <c:pt idx="36">
                  <c:v>81</c:v>
                </c:pt>
                <c:pt idx="37">
                  <c:v>79</c:v>
                </c:pt>
                <c:pt idx="38">
                  <c:v>81</c:v>
                </c:pt>
              </c:numCache>
            </c:numRef>
          </c:yVal>
          <c:bubbleSize>
            <c:numRef>
              <c:f>Data!$L$2:$L$40</c:f>
              <c:numCache>
                <c:formatCode>General</c:formatCode>
                <c:ptCount val="39"/>
                <c:pt idx="0">
                  <c:v>144000000</c:v>
                </c:pt>
                <c:pt idx="1">
                  <c:v>81300000</c:v>
                </c:pt>
                <c:pt idx="2">
                  <c:v>62400000</c:v>
                </c:pt>
                <c:pt idx="3">
                  <c:v>59100000</c:v>
                </c:pt>
                <c:pt idx="4">
                  <c:v>47100000</c:v>
                </c:pt>
                <c:pt idx="5">
                  <c:v>45500000</c:v>
                </c:pt>
                <c:pt idx="6">
                  <c:v>38000000</c:v>
                </c:pt>
                <c:pt idx="7">
                  <c:v>20900000</c:v>
                </c:pt>
                <c:pt idx="8">
                  <c:v>16500000</c:v>
                </c:pt>
                <c:pt idx="9">
                  <c:v>11000000</c:v>
                </c:pt>
                <c:pt idx="10">
                  <c:v>10600000</c:v>
                </c:pt>
                <c:pt idx="11">
                  <c:v>10500000</c:v>
                </c:pt>
                <c:pt idx="12">
                  <c:v>10300000</c:v>
                </c:pt>
                <c:pt idx="13">
                  <c:v>10000000</c:v>
                </c:pt>
                <c:pt idx="14">
                  <c:v>9560000</c:v>
                </c:pt>
                <c:pt idx="15">
                  <c:v>9150000</c:v>
                </c:pt>
                <c:pt idx="16">
                  <c:v>8300000</c:v>
                </c:pt>
                <c:pt idx="17">
                  <c:v>7590000</c:v>
                </c:pt>
                <c:pt idx="18">
                  <c:v>7550000</c:v>
                </c:pt>
                <c:pt idx="19">
                  <c:v>7480000</c:v>
                </c:pt>
                <c:pt idx="20">
                  <c:v>5460000</c:v>
                </c:pt>
                <c:pt idx="21">
                  <c:v>5380000</c:v>
                </c:pt>
                <c:pt idx="22">
                  <c:v>5290000</c:v>
                </c:pt>
                <c:pt idx="23">
                  <c:v>4710000</c:v>
                </c:pt>
                <c:pt idx="24">
                  <c:v>4390000</c:v>
                </c:pt>
                <c:pt idx="25">
                  <c:v>4320000</c:v>
                </c:pt>
                <c:pt idx="26">
                  <c:v>4010000</c:v>
                </c:pt>
                <c:pt idx="27">
                  <c:v>3230000</c:v>
                </c:pt>
                <c:pt idx="28">
                  <c:v>3020000</c:v>
                </c:pt>
                <c:pt idx="29">
                  <c:v>2200000</c:v>
                </c:pt>
                <c:pt idx="30">
                  <c:v>2009999</c:v>
                </c:pt>
                <c:pt idx="31">
                  <c:v>1340000</c:v>
                </c:pt>
                <c:pt idx="32">
                  <c:v>633000</c:v>
                </c:pt>
                <c:pt idx="33">
                  <c:v>480000</c:v>
                </c:pt>
                <c:pt idx="34">
                  <c:v>417000</c:v>
                </c:pt>
                <c:pt idx="35">
                  <c:v>312000</c:v>
                </c:pt>
                <c:pt idx="36">
                  <c:v>81900</c:v>
                </c:pt>
                <c:pt idx="37">
                  <c:v>31800</c:v>
                </c:pt>
                <c:pt idx="38">
                  <c:v>29300</c:v>
                </c:pt>
              </c:numCache>
            </c:numRef>
          </c:bubbleSize>
        </c:ser>
        <c:ser>
          <c:idx val="4"/>
          <c:order val="4"/>
          <c:tx>
            <c:v>Oceania</c:v>
          </c:tx>
          <c:spPr>
            <ns1:solidFill>
              <ns1:srgbClr val="805773"/>
            </ns1:solidFill>
            <ns1:ln w="5715">
              <ns1:solidFill>
                <ns1:srgbClr val="FFFFFF"/>
              </ns1:solidFill>
            </ns1:ln>
          </c:spPr>
          <c:invertIfNegative val="0"/>
          <c:xVal>
            <c:numRef>
              <c:f>Data!$M$2:$M$14</c:f>
              <c:numCache>
                <c:formatCode>General</c:formatCode>
                <c:ptCount val="13"/>
                <c:pt idx="0">
                  <c:v>44400</c:v>
                </c:pt>
                <c:pt idx="1">
                  <c:v>3100</c:v>
                </c:pt>
                <c:pt idx="2">
                  <c:v>38800</c:v>
                </c:pt>
                <c:pt idx="3">
                  <c:v>9840</c:v>
                </c:pt>
                <c:pt idx="4">
                  <c:v>2090</c:v>
                </c:pt>
                <c:pt idx="5">
                  <c:v>2980</c:v>
                </c:pt>
                <c:pt idx="6">
                  <c:v>5470</c:v>
                </c:pt>
                <c:pt idx="7">
                  <c:v>5040</c:v>
                </c:pt>
                <c:pt idx="8">
                  <c:v>1540</c:v>
                </c:pt>
                <c:pt idx="9">
                  <c:v>3670</c:v>
                </c:pt>
                <c:pt idx="10">
                  <c:v>15800</c:v>
                </c:pt>
                <c:pt idx="11">
                  <c:v>3540</c:v>
                </c:pt>
                <c:pt idx="12">
                  <c:v>3980</c:v>
                </c:pt>
              </c:numCache>
            </c:numRef>
          </c:xVal>
          <c:yVal>
            <c:numRef>
              <c:f>Data!$N$2:$N$14</c:f>
              <c:numCache>
                <c:formatCode>General</c:formatCode>
                <c:ptCount val="13"/>
                <c:pt idx="0">
                  <c:v>81</c:v>
                </c:pt>
                <c:pt idx="1">
                  <c:v>62</c:v>
                </c:pt>
                <c:pt idx="2">
                  <c:v>80</c:v>
                </c:pt>
                <c:pt idx="3">
                  <c:v>67</c:v>
                </c:pt>
                <c:pt idx="4">
                  <c:v>56</c:v>
                </c:pt>
                <c:pt idx="5">
                  <c:v>64</c:v>
                </c:pt>
                <c:pt idx="6">
                  <c:v>69</c:v>
                </c:pt>
                <c:pt idx="7">
                  <c:v>72</c:v>
                </c:pt>
                <c:pt idx="8">
                  <c:v>58</c:v>
                </c:pt>
                <c:pt idx="9">
                  <c:v>63</c:v>
                </c:pt>
                <c:pt idx="10">
                  <c:v>67</c:v>
                </c:pt>
                <c:pt idx="11">
                  <c:v>66</c:v>
                </c:pt>
                <c:pt idx="12">
                  <c:v>59</c:v>
                </c:pt>
              </c:numCache>
            </c:numRef>
          </c:yVal>
          <c:bubbleSize>
            <c:numRef>
              <c:f>Data!$O$2:$O$14</c:f>
              <c:numCache>
                <c:formatCode>General</c:formatCode>
                <c:ptCount val="13"/>
                <c:pt idx="0">
                  <c:v>21000000</c:v>
                </c:pt>
                <c:pt idx="1">
                  <c:v>6960000</c:v>
                </c:pt>
                <c:pt idx="2">
                  <c:v>4220000</c:v>
                </c:pt>
                <c:pt idx="3">
                  <c:v>898000</c:v>
                </c:pt>
                <c:pt idx="4">
                  <c:v>500000</c:v>
                </c:pt>
                <c:pt idx="5">
                  <c:v>221000</c:v>
                </c:pt>
                <c:pt idx="6">
                  <c:v>189000</c:v>
                </c:pt>
                <c:pt idx="7">
                  <c:v>107000</c:v>
                </c:pt>
                <c:pt idx="8">
                  <c:v>102000</c:v>
                </c:pt>
                <c:pt idx="9">
                  <c:v>52000</c:v>
                </c:pt>
                <c:pt idx="10">
                  <c:v>19300</c:v>
                </c:pt>
                <c:pt idx="11">
                  <c:v>10200</c:v>
                </c:pt>
                <c:pt idx="12">
                  <c:v>10000</c:v>
                </c:pt>
              </c:numCache>
            </c:numRef>
          </c:bubbleSize>
        </c:ser>
        <c:dLbls>
          <c:txPr>
            <ns1:bodyPr anchorCtr="1"/>
            <ns1:lstStyle/>
            <ns1:p>
              <ns1:pPr>
                <ns1:defRPr>
                  <ns1:latin typeface="Ubuntu Condensed"/>
                  <ns1:ea typeface="Ubuntu Condensed"/>
                  <ns1:cs typeface="Ubuntu Condensed"/>
                </ns1:defRPr>
              </ns1:pPr>
            </ns1:p>
          </c:txPr>
          <c:showLegendKey val="0"/>
          <c:showVal val="0"/>
          <c:showCatName val="0"/>
          <c:showSerName val="0"/>
          <c:showPercent val="0"/>
          <c:showBubbleSize val="0"/>
          <c:showLeaderLines val="0"/>
        </c:dLbls>
        <c:axId val="48650112"/>
        <c:axId val="48672768"/>
      </c:bubbleChart>
      <c:valAx>
        <c:axId val="48672768"/>
        <c:scaling>
          <c:orientation val="minMax"/>
          <c:max val="90"/>
          <c:min val="30"/>
        </c:scaling>
        <c:delete val="0"/>
        <c:axPos val="l"/>
        <c:majorGridlines>
          <c:spPr>
            <ns1:ln w="9525">
              <ns1:solidFill>
                <ns1:srgbClr val="EAE7E1"/>
              </ns1:solidFill>
            </ns1:ln>
          </c:spPr>
        </c:majorGridlines>
        <c:title>
          <c:tx>
            <c:rich>
              <ns1:bodyPr/>
              <ns1:lstStyle/>
              <ns1:p>
                <ns1:r>
                  <ns1:rPr sz="1800">
                    <ns1:solidFill>
                      <ns1:srgbClr val="38332E"/>
                    </ns1:solidFill>
                    <ns1:latin typeface="Ubuntu Condensed"/>
                    <ns1:ea typeface="Ubuntu Condensed"/>
                    <ns1:cs typeface="Ubuntu Condensed"/>
                  </ns1:rPr>
                  <ns1:t>Life expectancy (years)</ns1:t>
                </ns1:r>
              </ns1:p>
            </c:rich>
          </c:tx>
          <c:overlay val="0"/>
          <c:txPr>
            <ns1:bodyPr anchorCtr="1"/>
            <ns1:lstStyle/>
            <ns1:p>
              <ns1:pPr>
                <ns1:defRPr sz="1800">
                  <ns1:solidFill>
                    <ns1:srgbClr val="38332E"/>
                  </ns1:solidFill>
                  <ns1:latin typeface="Ubuntu Condensed"/>
                  <ns1:ea typeface="Ubuntu Condensed"/>
                  <ns1:cs typeface="Ubuntu Condensed"/>
                </ns1:defRPr>
              </ns1:pPr>
            </ns1:p>
          </c:txPr>
        </c:title>
        <c:numFmt formatCode="General"/>
        <c:majorTickMark val="none"/>
        <c:minorTickMark val="none"/>
        <c:spPr>
          <ns1:ln w="9525">
            <ns1:solidFill>
              <ns1:srgbClr val="D4D4D4"/>
            </ns1:solidFill>
            <ns1:prstDash val="solid"/>
          </ns1:ln>
        </c:spPr>
        <c:txPr>
          <ns1:bodyPr anchorCtr="1"/>
          <ns1:lstStyle/>
          <ns1:p>
            <ns1:pPr>
              <ns1:defRPr sz="1350">
                <ns1:solidFill>
                  <ns1:srgbClr val="81796F"/>
                </ns1:solidFill>
                <ns1:latin typeface="Ubuntu Condensed"/>
                <ns1:ea typeface="Ubuntu Condensed"/>
                <ns1:cs typeface="Ubuntu Condensed"/>
              </ns1:defRPr>
            </ns1:pPr>
          </ns1:p>
        </c:txPr>
        <c:crossAx val="48650112"/>
        <c:majorUnit val="10"/>
      </c:valAx>
      <c:valAx>
        <c:axId val="48650112"/>
        <c:scaling>
          <c:orientation val="minMax"/>
          <c:max val="200000"/>
          <c:min val="300"/>
          <c:logBase val="10"/>
        </c:scaling>
        <c:delete val="0"/>
        <c:axPos val="b"/>
        <c:majorGridlines>
          <c:spPr>
            <ns1:ln w="9525">
              <ns1:solidFill>
                <ns1:srgbClr val="EAE7E1"/>
              </ns1:solidFill>
            </ns1:ln>
          </c:spPr>
        </c:majorGridlines>
        <c:title>
          <c:tx>
            <c:rich>
              <ns1:bodyPr/>
              <ns1:lstStyle/>
              <ns1:p>
                <ns1:r>
                  <ns1:rPr sz="1800">
                    <ns1:solidFill>
                      <ns1:srgbClr val="38332E"/>
                    </ns1:solidFill>
                    <ns1:latin typeface="Ubuntu Condensed"/>
                    <ns1:ea typeface="Ubuntu Condensed"/>
                    <ns1:cs typeface="Ubuntu Condensed"/>
                  </ns1:rPr>
                  <ns1:t>GDP (logarithmic scale)</ns1:t>
                </ns1:r>
              </ns1:p>
            </c:rich>
          </c:tx>
          <c:overlay val="0"/>
          <c:txPr>
            <ns1:bodyPr anchorCtr="1"/>
            <ns1:lstStyle/>
            <ns1:p>
              <ns1:pPr>
                <ns1:defRPr sz="1800">
                  <ns1:solidFill>
                    <ns1:srgbClr val="38332E"/>
                  </ns1:solidFill>
                  <ns1:latin typeface="Ubuntu Condensed"/>
                  <ns1:ea typeface="Ubuntu Condensed"/>
                  <ns1:cs typeface="Ubuntu Condensed"/>
                </ns1:defRPr>
              </ns1:pPr>
            </ns1:p>
          </c:txPr>
        </c:title>
        <c:numFmt formatCode="#,##0"/>
        <c:majorTickMark val="none"/>
        <c:minorTickMark val="none"/>
        <c:spPr>
          <ns1:ln w="9525">
            <ns1:solidFill>
              <ns1:srgbClr val="D4D4D4"/>
            </ns1:solidFill>
            <ns1:prstDash val="solid"/>
          </ns1:ln>
        </c:spPr>
        <c:txPr>
          <ns1:bodyPr anchorCtr="1"/>
          <ns1:lstStyle/>
          <ns1:p>
            <ns1:pPr>
              <ns1:defRPr sz="1350">
                <ns1:solidFill>
                  <ns1:srgbClr val="81796F"/>
                </ns1:solidFill>
                <ns1:latin typeface="Ubuntu Condensed"/>
                <ns1:ea typeface="Ubuntu Condensed"/>
                <ns1:cs typeface="Ubuntu Condensed"/>
              </ns1:defRPr>
            </ns1:pPr>
          </ns1:p>
        </c:txPr>
        <c:crossAx val="48672768"/>
        <c:majorUnit val="20000"/>
      </c:valAx>
      <c:spPr>
        <ns1:noFill/>
      </c:spPr>
    </c:plotArea>
    <c:plotVisOnly val="1"/>
  </c:chart>
  <c:spPr>
    <ns1:no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2F44E8-0747-4D2D-A98B-3A6FE9412651}"/>
              </a:ext>
            </a:extLst>
          </p:cNvPr>
          <p:cNvSpPr>
            <a:spLocks xmlns:a="http://schemas.openxmlformats.org/drawingml/2006/main" noGrp="1"/>
          </p:cNvSpPr>
          <p:nvPr/>
        </p:nvSpPr>
        <p:spPr>
          <a:xfrm xmlns:a="http://schemas.openxmlformats.org/drawingml/2006/main">
            <a:off x="457200" y="2667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Gapminder: the channels together</a:t>
            </a:r>
          </a:p>
        </p:txBody>
      </p:sp>
      <p:sp>
        <p:nvSpPr>
          <p:cNvPr id="2" name="">
            <a:extLst xmlns:a="http://schemas.openxmlformats.org/drawingml/2006/main">
              <a:ext uri="{FF2B5EF4-FFF2-40B4-BE49-F238E27FC236}">
                <a16:creationId xmlns:a16="http://schemas.microsoft.com/office/drawing/2014/main" id="{5F17FA27-1B94-45A0-8466-EB5EC3892C09}"/>
              </a:ext>
            </a:extLst>
          </p:cNvPr>
          <p:cNvSpPr>
            <a:spLocks xmlns:a="http://schemas.openxmlformats.org/drawingml/2006/main" noGrp="1"/>
          </p:cNvSpPr>
          <p:nvPr/>
        </p:nvSpPr>
        <p:spPr>
          <a:xfrm xmlns:a="http://schemas.openxmlformats.org/drawingml/2006/main">
            <a:off x="457200" y="952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a:solidFill>
                  <a:srgbClr val="81796F"/>
                </a:solidFill>
                <a:latin typeface="Ubuntu Condensed"/>
                <a:ea typeface="Ubuntu Condensed"/>
                <a:cs typeface="Ubuntu Condensed"/>
              </a:defRPr>
            </a:defPPr>
          </a:lstStyle>
          <a:p xmlns:a="http://schemas.openxmlformats.org/drawingml/2006/main">
            <a:pPr>
              <a:defRPr sz="2100">
                <a:solidFill>
                  <a:srgbClr val="81796F"/>
                </a:solidFill>
                <a:latin typeface="Ubuntu Condensed"/>
                <a:ea typeface="Ubuntu Condensed"/>
                <a:cs typeface="Ubuntu Condensed"/>
              </a:defRPr>
            </a:pPr>
            <a:r>
              <a:rPr sz="2100">
                <a:solidFill>
                  <a:srgbClr val="81796F"/>
                </a:solidFill>
                <a:latin typeface="Ubuntu Condensed"/>
                <a:ea typeface="Ubuntu Condensed"/>
                <a:cs typeface="Ubuntu Condensed"/>
              </a:rPr>
              <a:t>2007</a:t>
            </a:r>
          </a:p>
        </p:txBody>
      </p:sp>
      <p:graphicFrame>
        <p:nvGraphicFramePr>
          <p:cNvPr id="3" name="Chart">
            <a:extLst xmlns:a="http://schemas.openxmlformats.org/drawingml/2006/main">
              <a:ext uri="{FF2B5EF4-FFF2-40B4-BE49-F238E27FC236}">
                <a16:creationId xmlns:a16="http://schemas.microsoft.com/office/drawing/2014/main" id="{A79F0DBD-DDF5-4517-BAF7-CE7A083180A5}"/>
              </a:ext>
            </a:extLst>
          </p:cNvPr>
          <p:cNvGraphicFramePr/>
          <p:nvPr/>
        </p:nvGraphicFramePr>
        <p:xfrm>
          <a:off xmlns:a="http://schemas.openxmlformats.org/drawingml/2006/main" x="333375" y="1428750"/>
          <a:ext xmlns:a="http://schemas.openxmlformats.org/drawingml/2006/main" cx="9620250" cy="4762500"/>
        </p:xfrm>
        <a:graphic xmlns:a="http://schemas.openxmlformats.org/drawingml/2006/main">
          <a:graphicData uri="http://schemas.openxmlformats.org/drawingml/2006/chart">
            <c:chart xmlns:r="http://schemas.openxmlformats.org/officeDocument/2006/relationships" xmlns:c="http://schemas.openxmlformats.org/drawingml/2006/chart" r:id="Ra9537effbe214ce8"/>
          </a:graphicData>
        </a:graphic>
      </p:graphicFrame>
      <p:sp>
        <p:nvSpPr>
          <p:cNvPr id="4" name="">
            <a:extLst xmlns:a="http://schemas.openxmlformats.org/drawingml/2006/main">
              <a:ext uri="{FF2B5EF4-FFF2-40B4-BE49-F238E27FC236}">
                <a16:creationId xmlns:a16="http://schemas.microsoft.com/office/drawing/2014/main" id="{09CBBE7F-29D3-4C97-A854-0633EF93EB3F}"/>
              </a:ext>
            </a:extLst>
          </p:cNvPr>
          <p:cNvSpPr>
            <a:spLocks xmlns:a="http://schemas.openxmlformats.org/drawingml/2006/main" noGrp="1"/>
          </p:cNvSpPr>
          <p:nvPr/>
        </p:nvSpPr>
        <p:spPr>
          <a:xfrm xmlns:a="http://schemas.openxmlformats.org/drawingml/2006/main">
            <a:off x="10096500" y="17716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a:solidFill>
                  <a:srgbClr val="38332E"/>
                </a:solidFill>
                <a:latin typeface="Ubuntu Condensed"/>
                <a:ea typeface="Ubuntu Condensed"/>
                <a:cs typeface="Ubuntu Condensed"/>
              </a:defRPr>
            </a:defPPr>
          </a:lstStyle>
          <a:p xmlns:a="http://schemas.openxmlformats.org/drawingml/2006/main">
            <a:pPr>
              <a:defRPr sz="1950">
                <a:solidFill>
                  <a:srgbClr val="38332E"/>
                </a:solidFill>
                <a:latin typeface="Ubuntu Condensed"/>
                <a:ea typeface="Ubuntu Condensed"/>
                <a:cs typeface="Ubuntu Condensed"/>
              </a:defRPr>
            </a:pPr>
            <a:r>
              <a:rPr sz="1950">
                <a:solidFill>
                  <a:srgbClr val="38332E"/>
                </a:solidFill>
                <a:latin typeface="Ubuntu Condensed"/>
                <a:ea typeface="Ubuntu Condensed"/>
                <a:cs typeface="Ubuntu Condensed"/>
              </a:rPr>
              <a:t>Continent</a:t>
            </a:r>
          </a:p>
        </p:txBody>
      </p:sp>
      <p:sp>
        <p:nvSpPr>
          <p:cNvPr id="5" name="">
            <a:extLst xmlns:a="http://schemas.openxmlformats.org/drawingml/2006/main">
              <a:ext uri="{FF2B5EF4-FFF2-40B4-BE49-F238E27FC236}">
                <a16:creationId xmlns:a16="http://schemas.microsoft.com/office/drawing/2014/main" id="{FA5F7015-14EB-483E-8289-993744EA2263}"/>
              </a:ext>
            </a:extLst>
          </p:cNvPr>
          <p:cNvSpPr>
            <a:spLocks xmlns:a="http://schemas.openxmlformats.org/drawingml/2006/main" noGrp="1"/>
          </p:cNvSpPr>
          <p:nvPr/>
        </p:nvSpPr>
        <p:spPr>
          <a:xfrm xmlns:a="http://schemas.openxmlformats.org/drawingml/2006/main">
            <a:off x="10125075" y="2276475"/>
            <a:ext cx="133350" cy="133350"/>
          </a:xfrm>
          <a:prstGeom xmlns:a="http://schemas.openxmlformats.org/drawingml/2006/main" prst="ellipse">
            <a:avLst/>
          </a:prstGeom>
          <a:solidFill xmlns:a="http://schemas.openxmlformats.org/drawingml/2006/main">
            <a:srgbClr val="C18A3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AF5351-3479-4D2F-B17D-F2BD7650F84E}"/>
              </a:ext>
            </a:extLst>
          </p:cNvPr>
          <p:cNvSpPr>
            <a:spLocks xmlns:a="http://schemas.openxmlformats.org/drawingml/2006/main" noGrp="1"/>
          </p:cNvSpPr>
          <p:nvPr/>
        </p:nvSpPr>
        <p:spPr>
          <a:xfrm xmlns:a="http://schemas.openxmlformats.org/drawingml/2006/main">
            <a:off x="10363200" y="21907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Africa</a:t>
            </a:r>
          </a:p>
        </p:txBody>
      </p:sp>
      <p:sp>
        <p:nvSpPr>
          <p:cNvPr id="7" name="">
            <a:extLst xmlns:a="http://schemas.openxmlformats.org/drawingml/2006/main">
              <a:ext uri="{FF2B5EF4-FFF2-40B4-BE49-F238E27FC236}">
                <a16:creationId xmlns:a16="http://schemas.microsoft.com/office/drawing/2014/main" id="{2DD38D4C-8D48-4175-9831-CC461CA6E2CA}"/>
              </a:ext>
            </a:extLst>
          </p:cNvPr>
          <p:cNvSpPr>
            <a:spLocks xmlns:a="http://schemas.openxmlformats.org/drawingml/2006/main" noGrp="1"/>
          </p:cNvSpPr>
          <p:nvPr/>
        </p:nvSpPr>
        <p:spPr>
          <a:xfrm xmlns:a="http://schemas.openxmlformats.org/drawingml/2006/main">
            <a:off x="10125075" y="2686050"/>
            <a:ext cx="133350" cy="133350"/>
          </a:xfrm>
          <a:prstGeom xmlns:a="http://schemas.openxmlformats.org/drawingml/2006/main" prst="ellipse">
            <a:avLst/>
          </a:prstGeom>
          <a:solidFill xmlns:a="http://schemas.openxmlformats.org/drawingml/2006/main">
            <a:srgbClr val="4579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0C7BFB-43DD-4AAD-AC0C-4CA5C414C134}"/>
              </a:ext>
            </a:extLst>
          </p:cNvPr>
          <p:cNvSpPr>
            <a:spLocks xmlns:a="http://schemas.openxmlformats.org/drawingml/2006/main" noGrp="1"/>
          </p:cNvSpPr>
          <p:nvPr/>
        </p:nvSpPr>
        <p:spPr>
          <a:xfrm xmlns:a="http://schemas.openxmlformats.org/drawingml/2006/main">
            <a:off x="10363200" y="260032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Americas</a:t>
            </a:r>
          </a:p>
        </p:txBody>
      </p:sp>
      <p:sp>
        <p:nvSpPr>
          <p:cNvPr id="9" name="">
            <a:extLst xmlns:a="http://schemas.openxmlformats.org/drawingml/2006/main">
              <a:ext uri="{FF2B5EF4-FFF2-40B4-BE49-F238E27FC236}">
                <a16:creationId xmlns:a16="http://schemas.microsoft.com/office/drawing/2014/main" id="{189311B4-06EE-46F8-9D5B-EE32ED686196}"/>
              </a:ext>
            </a:extLst>
          </p:cNvPr>
          <p:cNvSpPr>
            <a:spLocks xmlns:a="http://schemas.openxmlformats.org/drawingml/2006/main" noGrp="1"/>
          </p:cNvSpPr>
          <p:nvPr/>
        </p:nvSpPr>
        <p:spPr>
          <a:xfrm xmlns:a="http://schemas.openxmlformats.org/drawingml/2006/main">
            <a:off x="10125075" y="3095625"/>
            <a:ext cx="133350" cy="13335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77BA38-A45D-47BF-8D75-77BE0E8E1E35}"/>
              </a:ext>
            </a:extLst>
          </p:cNvPr>
          <p:cNvSpPr>
            <a:spLocks xmlns:a="http://schemas.openxmlformats.org/drawingml/2006/main" noGrp="1"/>
          </p:cNvSpPr>
          <p:nvPr/>
        </p:nvSpPr>
        <p:spPr>
          <a:xfrm xmlns:a="http://schemas.openxmlformats.org/drawingml/2006/main">
            <a:off x="10363200" y="300990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Asia</a:t>
            </a:r>
          </a:p>
        </p:txBody>
      </p:sp>
      <p:sp>
        <p:nvSpPr>
          <p:cNvPr id="11" name="">
            <a:extLst xmlns:a="http://schemas.openxmlformats.org/drawingml/2006/main">
              <a:ext uri="{FF2B5EF4-FFF2-40B4-BE49-F238E27FC236}">
                <a16:creationId xmlns:a16="http://schemas.microsoft.com/office/drawing/2014/main" id="{98A4C3F5-7FBA-4D9A-9697-86EBFE943EB4}"/>
              </a:ext>
            </a:extLst>
          </p:cNvPr>
          <p:cNvSpPr>
            <a:spLocks xmlns:a="http://schemas.openxmlformats.org/drawingml/2006/main" noGrp="1"/>
          </p:cNvSpPr>
          <p:nvPr/>
        </p:nvSpPr>
        <p:spPr>
          <a:xfrm xmlns:a="http://schemas.openxmlformats.org/drawingml/2006/main">
            <a:off x="10125075" y="3505200"/>
            <a:ext cx="133350" cy="133350"/>
          </a:xfrm>
          <a:prstGeom xmlns:a="http://schemas.openxmlformats.org/drawingml/2006/main" prst="ellipse">
            <a:avLst/>
          </a:prstGeom>
          <a:solidFill xmlns:a="http://schemas.openxmlformats.org/drawingml/2006/main">
            <a:srgbClr val="6475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384A1C-8227-47F0-889F-C290D91F3806}"/>
              </a:ext>
            </a:extLst>
          </p:cNvPr>
          <p:cNvSpPr>
            <a:spLocks xmlns:a="http://schemas.openxmlformats.org/drawingml/2006/main" noGrp="1"/>
          </p:cNvSpPr>
          <p:nvPr/>
        </p:nvSpPr>
        <p:spPr>
          <a:xfrm xmlns:a="http://schemas.openxmlformats.org/drawingml/2006/main">
            <a:off x="10363200" y="34194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Europe</a:t>
            </a:r>
          </a:p>
        </p:txBody>
      </p:sp>
      <p:sp>
        <p:nvSpPr>
          <p:cNvPr id="13" name="">
            <a:extLst xmlns:a="http://schemas.openxmlformats.org/drawingml/2006/main">
              <a:ext uri="{FF2B5EF4-FFF2-40B4-BE49-F238E27FC236}">
                <a16:creationId xmlns:a16="http://schemas.microsoft.com/office/drawing/2014/main" id="{484B83B1-E27C-4C9B-9FF3-B1CA82477E83}"/>
              </a:ext>
            </a:extLst>
          </p:cNvPr>
          <p:cNvSpPr>
            <a:spLocks xmlns:a="http://schemas.openxmlformats.org/drawingml/2006/main" noGrp="1"/>
          </p:cNvSpPr>
          <p:nvPr/>
        </p:nvSpPr>
        <p:spPr>
          <a:xfrm xmlns:a="http://schemas.openxmlformats.org/drawingml/2006/main">
            <a:off x="10125075" y="3914775"/>
            <a:ext cx="133350" cy="133350"/>
          </a:xfrm>
          <a:prstGeom xmlns:a="http://schemas.openxmlformats.org/drawingml/2006/main" prst="ellipse">
            <a:avLst/>
          </a:prstGeom>
          <a:solidFill xmlns:a="http://schemas.openxmlformats.org/drawingml/2006/main">
            <a:srgbClr val="80577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41DFA23-CF29-4D53-9F2C-A40EF909863E}"/>
              </a:ext>
            </a:extLst>
          </p:cNvPr>
          <p:cNvSpPr>
            <a:spLocks xmlns:a="http://schemas.openxmlformats.org/drawingml/2006/main" noGrp="1"/>
          </p:cNvSpPr>
          <p:nvPr/>
        </p:nvSpPr>
        <p:spPr>
          <a:xfrm xmlns:a="http://schemas.openxmlformats.org/drawingml/2006/main">
            <a:off x="10363200" y="38290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Oceania</a:t>
            </a:r>
          </a:p>
        </p:txBody>
      </p:sp>
      <p:sp>
        <p:nvSpPr>
          <p:cNvPr id="15" name="">
            <a:extLst xmlns:a="http://schemas.openxmlformats.org/drawingml/2006/main">
              <a:ext uri="{FF2B5EF4-FFF2-40B4-BE49-F238E27FC236}">
                <a16:creationId xmlns:a16="http://schemas.microsoft.com/office/drawing/2014/main" id="{0305504A-A9C8-4E9D-AB4A-D06C182AAC85}"/>
              </a:ext>
            </a:extLst>
          </p:cNvPr>
          <p:cNvSpPr>
            <a:spLocks xmlns:a="http://schemas.openxmlformats.org/drawingml/2006/main" noGrp="1"/>
          </p:cNvSpPr>
          <p:nvPr/>
        </p:nvSpPr>
        <p:spPr>
          <a:xfrm xmlns:a="http://schemas.openxmlformats.org/drawingml/2006/main">
            <a:off x="10096500" y="4648200"/>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38332E"/>
                </a:solidFill>
                <a:latin typeface="Ubuntu Condensed"/>
                <a:ea typeface="Ubuntu Condensed"/>
                <a:cs typeface="Ubuntu Condensed"/>
              </a:defRPr>
            </a:defPPr>
          </a:lstStyle>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Circle area</a:t>
            </a:r>
          </a:p>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Population</a:t>
            </a:r>
          </a:p>
        </p:txBody>
      </p:sp>
      <p:sp>
        <p:nvSpPr>
          <p:cNvPr id="16" name="">
            <a:extLst xmlns:a="http://schemas.openxmlformats.org/drawingml/2006/main">
              <a:ext uri="{FF2B5EF4-FFF2-40B4-BE49-F238E27FC236}">
                <a16:creationId xmlns:a16="http://schemas.microsoft.com/office/drawing/2014/main" id="{1B0F71E0-4F3B-4BF9-8CA4-B33B11EF53D6}"/>
              </a:ext>
            </a:extLst>
          </p:cNvPr>
          <p:cNvSpPr>
            <a:spLocks xmlns:a="http://schemas.openxmlformats.org/drawingml/2006/main" noGrp="1"/>
          </p:cNvSpPr>
          <p:nvPr/>
        </p:nvSpPr>
        <p:spPr>
          <a:xfrm xmlns:a="http://schemas.openxmlformats.org/drawingml/2006/main">
            <a:off x="457200" y="6353175"/>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One circle = one country</a:t>
            </a:r>
          </a:p>
        </p:txBody>
      </p:sp>
      <p:sp>
        <p:nvSpPr>
          <p:cNvPr id="17" name="">
            <a:extLst xmlns:a="http://schemas.openxmlformats.org/drawingml/2006/main">
              <a:ext uri="{FF2B5EF4-FFF2-40B4-BE49-F238E27FC236}">
                <a16:creationId xmlns:a16="http://schemas.microsoft.com/office/drawing/2014/main" id="{C672C911-29E6-4C96-B7FB-1E592E0504E7}"/>
              </a:ext>
            </a:extLst>
          </p:cNvPr>
          <p:cNvSpPr>
            <a:spLocks xmlns:a="http://schemas.openxmlformats.org/drawingml/2006/main" noGrp="1"/>
          </p:cNvSpPr>
          <p:nvPr/>
        </p:nvSpPr>
        <p:spPr>
          <a:xfrm xmlns:a="http://schemas.openxmlformats.org/drawingml/2006/main">
            <a:off x="6191250" y="6419850"/>
            <a:ext cx="561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a:solidFill>
                  <a:srgbClr val="81796F"/>
                </a:solidFill>
                <a:latin typeface="Ubuntu Condensed"/>
                <a:ea typeface="Ubuntu Condensed"/>
                <a:cs typeface="Ubuntu Condensed"/>
              </a:defRPr>
            </a:defPPr>
          </a:lstStyle>
          <a:p xmlns:a="http://schemas.openxmlformats.org/drawingml/2006/main">
            <a:pPr>
              <a:defRPr sz="1275">
                <a:solidFill>
                  <a:srgbClr val="81796F"/>
                </a:solidFill>
                <a:latin typeface="Ubuntu Condensed"/>
                <a:ea typeface="Ubuntu Condensed"/>
                <a:cs typeface="Ubuntu Condensed"/>
              </a:defRPr>
            </a:pPr>
            <a:r>
              <a:rPr sz="1275">
                <a:solidFill>
                  <a:srgbClr val="81796F"/>
                </a:solidFill>
                <a:latin typeface="Ubuntu Condensed"/>
                <a:ea typeface="Ubuntu Condensed"/>
                <a:cs typeface="Ubuntu Condensed"/>
              </a:rPr>
              <a:t>175 complete records; 22 omitted for missing / invalid fields.</a:t>
            </a:r>
          </a:p>
        </p:txBody>
      </p:sp>
    </p:spTree>
    <p:extLst>
      <p:ext uri="{BB962C8B-B14F-4D97-AF65-F5344CB8AC3E}">
        <p14:creationId xmlns:p14="http://schemas.microsoft.com/office/powerpoint/2010/main" val="1999492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2026-10-16T01:36:45.5160000Z</dcterms:created>
  <dcterms:modified xsi:type="dcterms:W3CDTF">2026-10-16T01:36:45.5160000Z</dcterms:modified>
</coreProperties>
</file>