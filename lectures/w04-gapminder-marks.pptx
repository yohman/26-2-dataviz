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5fc7b6af904f2e" /><Relationship Type="http://schemas.openxmlformats.org/officeDocument/2006/relationships/extended-properties" Target="/docProps/app.xml" Id="R508aa3536b9e49f9" /><Relationship Type="http://schemas.openxmlformats.org/officeDocument/2006/relationships/officeDocument" Target="/ppt/presentation.xml" Id="Reb1ca0ff611441d2" /></Relationships>
</file>

<file path=ppt/presentation.xml><?xml version="1.0" encoding="utf-8"?>
<p:presentation xmlns:p="http://schemas.openxmlformats.org/presentationml/2006/main">
  <p:sldMasterIdLst>
    <p:sldMasterId xmlns:r="http://schemas.openxmlformats.org/officeDocument/2006/relationships" id="2147483648" r:id="Rd8de31118f6542de"/>
  </p:sldMasterIdLst>
  <p:notesMasterIdLst>
    <p:notesMasterId xmlns:r="http://schemas.openxmlformats.org/officeDocument/2006/relationships" r:id="R7efc49a2f2254648"/>
  </p:notesMasterIdLst>
  <p:sldIdLst>
    <p:sldId xmlns:r="http://schemas.openxmlformats.org/officeDocument/2006/relationships" id="256" r:id="R3493e42ae3fe48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5706a713f24db6" /><Relationship Type="http://schemas.openxmlformats.org/officeDocument/2006/relationships/slideMaster" Target="/ppt/slideMasters/slideMaster1.xml" Id="Rd8de31118f6542de" /><Relationship Type="http://schemas.openxmlformats.org/officeDocument/2006/relationships/notesMaster" Target="/ppt/notesMasters/notesMaster1.xml" Id="R7efc49a2f2254648" /><Relationship Type="http://schemas.openxmlformats.org/officeDocument/2006/relationships/presProps" Target="/ppt/presProps.xml" Id="R05e655d6d3fd43ec" /><Relationship Type="http://schemas.openxmlformats.org/officeDocument/2006/relationships/tableStyles" Target="/ppt/tableStyles.xml" Id="R30954bce4830468f" /><Relationship Type="http://schemas.openxmlformats.org/officeDocument/2006/relationships/slide" Target="/ppt/slides/slide1.xml" Id="R3493e42ae3fe48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819a0287a544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Ubuntu Condensed"/>
        <a:ea typeface=""/>
        <a:cs typeface=""/>
      </a:majorFont>
      <a:minorFont>
        <a:latin typeface="Ubuntu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84fd932eef4ce5" /><Relationship Type="http://schemas.openxmlformats.org/officeDocument/2006/relationships/notesMaster" Target="/ppt/notesMasters/notesMaster1.xml" Id="R3684678fe31d48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Placed immediately after the Channels introduction, before the Tableau Marks card. Ask: what does one circle represent in our Gapminder chart? At a selected year, one country. First circle is a plain mark with no data encoded. Then map population to circle area, continent to color, and GDP per person and life expectancy to horizontal and vertical position. Each stage retains the preceding channels. The four circles show a schematic encoding sequence, not four different countries or measured numerical values. The placement within the final axes is illustrative, with no numerical ticks. Class data: data/gapminder/hans.csv; fields Country, Year, Population, GDP, Life Expectancy, region. Population maps to area, not radius. Do not interpret the plain starting circle as zero population. Ask which information disappears if all circles share one size or one color.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73d94ebcfb487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f80af53c084a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177b8bce33148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0e7a3ea07249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0e63ceee6d944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a1f6a66fcb42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AB0FAB-8414-448D-9B71-534653E654C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2B15855-92AF-48C0-AE79-47762581167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FED0F3-628B-4CD3-92B4-35F45B3988E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016F58-61ED-47B2-B162-F9EBC5917C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6C29781-115C-4932-9007-AFD1D188C98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05641C-6EEF-48CF-BC0C-D0C453D932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C3790C-D668-429B-B822-092AC4EEEA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849701E-8484-4059-8DCA-233D91647B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253CF2-5748-4BA3-A25D-A885FAE4BC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703F6E-D4C2-40C4-9722-E84B7F02A5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b4ef0f15f84ebd" /><Relationship Type="http://schemas.openxmlformats.org/officeDocument/2006/relationships/slideLayout" Target="/ppt/slideLayouts/slideLayout1.xml" Id="Rfe6811690a7f4890" /><Relationship Type="http://schemas.openxmlformats.org/officeDocument/2006/relationships/slideLayout" Target="/ppt/slideLayouts/slideLayout2.xml" Id="R5fb1d934f5674e93" /><Relationship Type="http://schemas.openxmlformats.org/officeDocument/2006/relationships/slideLayout" Target="/ppt/slideLayouts/slideLayout3.xml" Id="Ra3023764b0d04cf6" /><Relationship Type="http://schemas.openxmlformats.org/officeDocument/2006/relationships/slideLayout" Target="/ppt/slideLayouts/slideLayout4.xml" Id="R6965899d0cf54689" /><Relationship Type="http://schemas.openxmlformats.org/officeDocument/2006/relationships/slideLayout" Target="/ppt/slideLayouts/slideLayout5.xml" Id="Rd08cc0bbe1844f0c" /><Relationship Type="http://schemas.openxmlformats.org/officeDocument/2006/relationships/slideLayout" Target="/ppt/slideLayouts/slideLayout6.xml" Id="R3b04049ff5d94d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6811690a7f4890"/>
    <p:sldLayoutId xmlns:r="http://schemas.openxmlformats.org/officeDocument/2006/relationships" id="2147483650" r:id="R5fb1d934f5674e93"/>
    <p:sldLayoutId xmlns:r="http://schemas.openxmlformats.org/officeDocument/2006/relationships" id="2147483651" r:id="Ra3023764b0d04cf6"/>
    <p:sldLayoutId xmlns:r="http://schemas.openxmlformats.org/officeDocument/2006/relationships" id="2147483652" r:id="R6965899d0cf54689"/>
    <p:sldLayoutId xmlns:r="http://schemas.openxmlformats.org/officeDocument/2006/relationships" id="2147483653" r:id="Rd08cc0bbe1844f0c"/>
    <p:sldLayoutId xmlns:r="http://schemas.openxmlformats.org/officeDocument/2006/relationships" id="2147483654" r:id="R3b04049ff5d94d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Ubuntu Condensed"/>
        <a:ea typeface=""/>
        <a:cs typeface=""/>
      </a:majorFont>
      <a:minorFont>
        <a:latin typeface="Ubuntu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bd26a75badd418e" /><Relationship Type="http://schemas.openxmlformats.org/officeDocument/2006/relationships/notesSlide" Target="/ppt/notesSlides/notesSlide1.xml" Id="R052d4fc43d66473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2BFD63C-B4DB-4F73-93B7-4B374A174658}"/>
              </a:ext>
            </a:extLst>
          </p:cNvPr>
          <p:cNvSpPr>
            <a:spLocks xmlns:a="http://schemas.openxmlformats.org/drawingml/2006/main" noGrp="1"/>
          </p:cNvSpPr>
          <p:nvPr/>
        </p:nvSpPr>
        <p:spPr>
          <a:xfrm xmlns:a="http://schemas.openxmlformats.org/drawingml/2006/main">
            <a:off x="457200" y="361950"/>
            <a:ext cx="11277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a:solidFill>
                  <a:srgbClr val="38332E"/>
                </a:solidFill>
                <a:latin typeface="Ubuntu Condensed"/>
                <a:ea typeface="Ubuntu Condensed"/>
                <a:cs typeface="Ubuntu Condensed"/>
              </a:defRPr>
            </a:defPPr>
          </a:lstStyle>
          <a:p xmlns:a="http://schemas.openxmlformats.org/drawingml/2006/main">
            <a:pPr>
              <a:defRPr sz="3600">
                <a:solidFill>
                  <a:srgbClr val="38332E"/>
                </a:solidFill>
                <a:latin typeface="Ubuntu Condensed"/>
                <a:ea typeface="Ubuntu Condensed"/>
                <a:cs typeface="Ubuntu Condensed"/>
              </a:defRPr>
            </a:pPr>
            <a:r>
              <a:rPr sz="3600">
                <a:solidFill>
                  <a:srgbClr val="38332E"/>
                </a:solidFill>
                <a:latin typeface="Ubuntu Condensed"/>
                <a:ea typeface="Ubuntu Condensed"/>
                <a:cs typeface="Ubuntu Condensed"/>
              </a:rPr>
              <a:t>What does a circle represent?</a:t>
            </a:r>
          </a:p>
        </p:txBody>
      </p:sp>
      <p:sp>
        <p:nvSpPr>
          <p:cNvPr id="2" name="">
            <a:extLst xmlns:a="http://schemas.openxmlformats.org/drawingml/2006/main">
              <a:ext uri="{FF2B5EF4-FFF2-40B4-BE49-F238E27FC236}">
                <a16:creationId xmlns:a16="http://schemas.microsoft.com/office/drawing/2014/main" id="{BDC65A3D-8EA7-4B5A-AAF8-0736494320D4}"/>
              </a:ext>
            </a:extLst>
          </p:cNvPr>
          <p:cNvSpPr>
            <a:spLocks xmlns:a="http://schemas.openxmlformats.org/drawingml/2006/main" noGrp="1"/>
          </p:cNvSpPr>
          <p:nvPr/>
        </p:nvSpPr>
        <p:spPr>
          <a:xfrm xmlns:a="http://schemas.openxmlformats.org/drawingml/2006/main">
            <a:off x="457200" y="10858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a:solidFill>
                  <a:srgbClr val="81796F"/>
                </a:solidFill>
                <a:latin typeface="Ubuntu Condensed"/>
                <a:ea typeface="Ubuntu Condensed"/>
                <a:cs typeface="Ubuntu Condensed"/>
              </a:defRPr>
            </a:defPPr>
          </a:lstStyle>
          <a:p xmlns:a="http://schemas.openxmlformats.org/drawingml/2006/main">
            <a:pPr>
              <a:defRPr sz="2025">
                <a:solidFill>
                  <a:srgbClr val="81796F"/>
                </a:solidFill>
                <a:latin typeface="Ubuntu Condensed"/>
                <a:ea typeface="Ubuntu Condensed"/>
                <a:cs typeface="Ubuntu Condensed"/>
              </a:defRPr>
            </a:pPr>
            <a:r>
              <a:rPr sz="2025">
                <a:solidFill>
                  <a:srgbClr val="81796F"/>
                </a:solidFill>
                <a:latin typeface="Ubuntu Condensed"/>
                <a:ea typeface="Ubuntu Condensed"/>
                <a:cs typeface="Ubuntu Condensed"/>
              </a:rPr>
              <a:t>Gapminder: one country, one year</a:t>
            </a:r>
          </a:p>
        </p:txBody>
      </p:sp>
      <p:sp>
        <p:nvSpPr>
          <p:cNvPr id="3" name="">
            <a:extLst xmlns:a="http://schemas.openxmlformats.org/drawingml/2006/main">
              <a:ext uri="{FF2B5EF4-FFF2-40B4-BE49-F238E27FC236}">
                <a16:creationId xmlns:a16="http://schemas.microsoft.com/office/drawing/2014/main" id="{A85D791B-07E0-44EB-9283-049045AE7684}"/>
              </a:ext>
            </a:extLst>
          </p:cNvPr>
          <p:cNvSpPr>
            <a:spLocks xmlns:a="http://schemas.openxmlformats.org/drawingml/2006/main" noGrp="1"/>
          </p:cNvSpPr>
          <p:nvPr/>
        </p:nvSpPr>
        <p:spPr>
          <a:xfrm xmlns:a="http://schemas.openxmlformats.org/drawingml/2006/main">
            <a:off x="1504950" y="3028950"/>
            <a:ext cx="419100" cy="419100"/>
          </a:xfrm>
          <a:prstGeom xmlns:a="http://schemas.openxmlformats.org/drawingml/2006/main" prst="ellipse">
            <a:avLst/>
          </a:prstGeom>
          <a:solidFill xmlns:a="http://schemas.openxmlformats.org/drawingml/2006/main">
            <a:srgbClr val="A6A29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AC20BD5-FFF7-4EE8-8D74-3C7CB178206B}"/>
              </a:ext>
            </a:extLst>
          </p:cNvPr>
          <p:cNvSpPr>
            <a:spLocks xmlns:a="http://schemas.openxmlformats.org/drawingml/2006/main" noGrp="1"/>
          </p:cNvSpPr>
          <p:nvPr/>
        </p:nvSpPr>
        <p:spPr>
          <a:xfrm xmlns:a="http://schemas.openxmlformats.org/drawingml/2006/main">
            <a:off x="4019550" y="2781300"/>
            <a:ext cx="914400" cy="914400"/>
          </a:xfrm>
          <a:prstGeom xmlns:a="http://schemas.openxmlformats.org/drawingml/2006/main" prst="ellipse">
            <a:avLst/>
          </a:prstGeom>
          <a:solidFill xmlns:a="http://schemas.openxmlformats.org/drawingml/2006/main">
            <a:srgbClr val="A6A29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4F04CC-4106-4218-BAF2-5744E9992EB4}"/>
              </a:ext>
            </a:extLst>
          </p:cNvPr>
          <p:cNvSpPr>
            <a:spLocks xmlns:a="http://schemas.openxmlformats.org/drawingml/2006/main" noGrp="1"/>
          </p:cNvSpPr>
          <p:nvPr/>
        </p:nvSpPr>
        <p:spPr>
          <a:xfrm xmlns:a="http://schemas.openxmlformats.org/drawingml/2006/main">
            <a:off x="6781800" y="2781300"/>
            <a:ext cx="914400" cy="914400"/>
          </a:xfrm>
          <a:prstGeom xmlns:a="http://schemas.openxmlformats.org/drawingml/2006/main" prst="ellipse">
            <a:avLst/>
          </a:prstGeom>
          <a:solidFill xmlns:a="http://schemas.openxmlformats.org/drawingml/2006/main">
            <a:srgbClr val="B23C5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76A71E8-AC09-4825-86C8-61B83C67870F}"/>
              </a:ext>
            </a:extLst>
          </p:cNvPr>
          <p:cNvSpPr>
            <a:spLocks xmlns:a="http://schemas.openxmlformats.org/drawingml/2006/main" noGrp="1"/>
          </p:cNvSpPr>
          <p:nvPr/>
        </p:nvSpPr>
        <p:spPr>
          <a:xfrm xmlns:a="http://schemas.openxmlformats.org/drawingml/2006/main">
            <a:off x="9115425" y="2400300"/>
            <a:ext cx="19050" cy="1905000"/>
          </a:xfrm>
          <a:prstGeom xmlns:a="http://schemas.openxmlformats.org/drawingml/2006/main" prst="rect">
            <a:avLst/>
          </a:prstGeom>
          <a:solidFill xmlns:a="http://schemas.openxmlformats.org/drawingml/2006/main">
            <a:srgbClr val="D6D1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0124902-43D4-4BD9-AE6C-4098AC686FC8}"/>
              </a:ext>
            </a:extLst>
          </p:cNvPr>
          <p:cNvSpPr>
            <a:spLocks xmlns:a="http://schemas.openxmlformats.org/drawingml/2006/main" noGrp="1"/>
          </p:cNvSpPr>
          <p:nvPr/>
        </p:nvSpPr>
        <p:spPr>
          <a:xfrm xmlns:a="http://schemas.openxmlformats.org/drawingml/2006/main">
            <a:off x="9115425" y="4286250"/>
            <a:ext cx="2476500" cy="19050"/>
          </a:xfrm>
          <a:prstGeom xmlns:a="http://schemas.openxmlformats.org/drawingml/2006/main" prst="rect">
            <a:avLst/>
          </a:prstGeom>
          <a:solidFill xmlns:a="http://schemas.openxmlformats.org/drawingml/2006/main">
            <a:srgbClr val="D6D1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9F824E4-E67B-4A3A-8716-EEBCB7C430CB}"/>
              </a:ext>
            </a:extLst>
          </p:cNvPr>
          <p:cNvSpPr>
            <a:spLocks xmlns:a="http://schemas.openxmlformats.org/drawingml/2006/main" noGrp="1"/>
          </p:cNvSpPr>
          <p:nvPr/>
        </p:nvSpPr>
        <p:spPr>
          <a:xfrm xmlns:a="http://schemas.openxmlformats.org/drawingml/2006/main">
            <a:off x="9077325" y="20002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a:solidFill>
                  <a:srgbClr val="81796F"/>
                </a:solidFill>
                <a:latin typeface="Ubuntu Condensed"/>
                <a:ea typeface="Ubuntu Condensed"/>
                <a:cs typeface="Ubuntu Condensed"/>
              </a:defRPr>
            </a:defPPr>
          </a:lstStyle>
          <a:p xmlns:a="http://schemas.openxmlformats.org/drawingml/2006/main">
            <a:pPr algn="ctr">
              <a:defRPr sz="1575">
                <a:solidFill>
                  <a:srgbClr val="81796F"/>
                </a:solidFill>
                <a:latin typeface="Ubuntu Condensed"/>
                <a:ea typeface="Ubuntu Condensed"/>
                <a:cs typeface="Ubuntu Condensed"/>
              </a:defRPr>
            </a:pPr>
            <a:r>
              <a:rPr sz="1575">
                <a:solidFill>
                  <a:srgbClr val="81796F"/>
                </a:solidFill>
                <a:latin typeface="Ubuntu Condensed"/>
                <a:ea typeface="Ubuntu Condensed"/>
                <a:cs typeface="Ubuntu Condensed"/>
              </a:rPr>
              <a:t>Life expectancy</a:t>
            </a:r>
          </a:p>
        </p:txBody>
      </p:sp>
      <p:sp>
        <p:nvSpPr>
          <p:cNvPr id="9" name="">
            <a:extLst xmlns:a="http://schemas.openxmlformats.org/drawingml/2006/main">
              <a:ext uri="{FF2B5EF4-FFF2-40B4-BE49-F238E27FC236}">
                <a16:creationId xmlns:a16="http://schemas.microsoft.com/office/drawing/2014/main" id="{F10C751B-B70F-4CA7-B8AB-1186F5F674C5}"/>
              </a:ext>
            </a:extLst>
          </p:cNvPr>
          <p:cNvSpPr>
            <a:spLocks xmlns:a="http://schemas.openxmlformats.org/drawingml/2006/main" noGrp="1"/>
          </p:cNvSpPr>
          <p:nvPr/>
        </p:nvSpPr>
        <p:spPr>
          <a:xfrm xmlns:a="http://schemas.openxmlformats.org/drawingml/2006/main">
            <a:off x="9077325" y="445770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75">
                <a:solidFill>
                  <a:srgbClr val="81796F"/>
                </a:solidFill>
                <a:latin typeface="Ubuntu Condensed"/>
                <a:ea typeface="Ubuntu Condensed"/>
                <a:cs typeface="Ubuntu Condensed"/>
              </a:defRPr>
            </a:defPPr>
          </a:lstStyle>
          <a:p xmlns:a="http://schemas.openxmlformats.org/drawingml/2006/main">
            <a:pPr algn="ctr">
              <a:defRPr sz="1575">
                <a:solidFill>
                  <a:srgbClr val="81796F"/>
                </a:solidFill>
                <a:latin typeface="Ubuntu Condensed"/>
                <a:ea typeface="Ubuntu Condensed"/>
                <a:cs typeface="Ubuntu Condensed"/>
              </a:defRPr>
            </a:pPr>
            <a:r>
              <a:rPr sz="1575">
                <a:solidFill>
                  <a:srgbClr val="81796F"/>
                </a:solidFill>
                <a:latin typeface="Ubuntu Condensed"/>
                <a:ea typeface="Ubuntu Condensed"/>
                <a:cs typeface="Ubuntu Condensed"/>
              </a:rPr>
              <a:t>GDP per person</a:t>
            </a:r>
          </a:p>
        </p:txBody>
      </p:sp>
      <p:sp>
        <p:nvSpPr>
          <p:cNvPr id="10" name="">
            <a:extLst xmlns:a="http://schemas.openxmlformats.org/drawingml/2006/main">
              <a:ext uri="{FF2B5EF4-FFF2-40B4-BE49-F238E27FC236}">
                <a16:creationId xmlns:a16="http://schemas.microsoft.com/office/drawing/2014/main" id="{7ED5B10A-1013-45DA-948F-5F9AD03D3558}"/>
              </a:ext>
            </a:extLst>
          </p:cNvPr>
          <p:cNvSpPr>
            <a:spLocks xmlns:a="http://schemas.openxmlformats.org/drawingml/2006/main" noGrp="1"/>
          </p:cNvSpPr>
          <p:nvPr/>
        </p:nvSpPr>
        <p:spPr>
          <a:xfrm xmlns:a="http://schemas.openxmlformats.org/drawingml/2006/main">
            <a:off x="10020300" y="2781300"/>
            <a:ext cx="914400" cy="914400"/>
          </a:xfrm>
          <a:prstGeom xmlns:a="http://schemas.openxmlformats.org/drawingml/2006/main" prst="ellipse">
            <a:avLst/>
          </a:prstGeom>
          <a:solidFill xmlns:a="http://schemas.openxmlformats.org/drawingml/2006/main">
            <a:srgbClr val="B23C5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BE702B6-8E3F-407B-AFE3-57469CA69498}"/>
              </a:ext>
            </a:extLst>
          </p:cNvPr>
          <p:cNvSpPr>
            <a:spLocks xmlns:a="http://schemas.openxmlformats.org/drawingml/2006/main" noGrp="1"/>
          </p:cNvSpPr>
          <p:nvPr/>
        </p:nvSpPr>
        <p:spPr>
          <a:xfrm xmlns:a="http://schemas.openxmlformats.org/drawingml/2006/main">
            <a:off x="523875" y="509587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325">
                <a:solidFill>
                  <a:srgbClr val="38332E"/>
                </a:solidFill>
                <a:latin typeface="Ubuntu Condensed"/>
                <a:ea typeface="Ubuntu Condensed"/>
                <a:cs typeface="Ubuntu Condensed"/>
              </a:defRPr>
            </a:defPPr>
          </a:lstStyle>
          <a:p xmlns:a="http://schemas.openxmlformats.org/drawingml/2006/main">
            <a:pPr algn="ctr">
              <a:defRPr sz="2325">
                <a:solidFill>
                  <a:srgbClr val="38332E"/>
                </a:solidFill>
                <a:latin typeface="Ubuntu Condensed"/>
                <a:ea typeface="Ubuntu Condensed"/>
                <a:cs typeface="Ubuntu Condensed"/>
              </a:defRPr>
            </a:pPr>
            <a:r>
              <a:rPr sz="2325">
                <a:solidFill>
                  <a:srgbClr val="38332E"/>
                </a:solidFill>
                <a:latin typeface="Ubuntu Condensed"/>
                <a:ea typeface="Ubuntu Condensed"/>
                <a:cs typeface="Ubuntu Condensed"/>
              </a:rPr>
              <a:t>Circle</a:t>
            </a:r>
          </a:p>
        </p:txBody>
      </p:sp>
      <p:sp>
        <p:nvSpPr>
          <p:cNvPr id="12" name="">
            <a:extLst xmlns:a="http://schemas.openxmlformats.org/drawingml/2006/main">
              <a:ext uri="{FF2B5EF4-FFF2-40B4-BE49-F238E27FC236}">
                <a16:creationId xmlns:a16="http://schemas.microsoft.com/office/drawing/2014/main" id="{6B8A2187-FCAA-4010-AA03-87F9EC73000A}"/>
              </a:ext>
            </a:extLst>
          </p:cNvPr>
          <p:cNvSpPr>
            <a:spLocks xmlns:a="http://schemas.openxmlformats.org/drawingml/2006/main" noGrp="1"/>
          </p:cNvSpPr>
          <p:nvPr/>
        </p:nvSpPr>
        <p:spPr>
          <a:xfrm xmlns:a="http://schemas.openxmlformats.org/drawingml/2006/main">
            <a:off x="523875" y="5534025"/>
            <a:ext cx="238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a:solidFill>
                  <a:srgbClr val="81796F"/>
                </a:solidFill>
                <a:latin typeface="Ubuntu Condensed"/>
                <a:ea typeface="Ubuntu Condensed"/>
                <a:cs typeface="Ubuntu Condensed"/>
              </a:defRPr>
            </a:defPPr>
          </a:lstStyle>
          <a:p xmlns:a="http://schemas.openxmlformats.org/drawingml/2006/main">
            <a:pPr algn="ct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A mark</a:t>
            </a:r>
          </a:p>
        </p:txBody>
      </p:sp>
      <p:sp>
        <p:nvSpPr>
          <p:cNvPr id="13" name="">
            <a:extLst xmlns:a="http://schemas.openxmlformats.org/drawingml/2006/main">
              <a:ext uri="{FF2B5EF4-FFF2-40B4-BE49-F238E27FC236}">
                <a16:creationId xmlns:a16="http://schemas.microsoft.com/office/drawing/2014/main" id="{41A1F75C-16B6-4A6A-A107-2997D8010433}"/>
              </a:ext>
            </a:extLst>
          </p:cNvPr>
          <p:cNvSpPr>
            <a:spLocks xmlns:a="http://schemas.openxmlformats.org/drawingml/2006/main" noGrp="1"/>
          </p:cNvSpPr>
          <p:nvPr/>
        </p:nvSpPr>
        <p:spPr>
          <a:xfrm xmlns:a="http://schemas.openxmlformats.org/drawingml/2006/main">
            <a:off x="3333750" y="509587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325">
                <a:solidFill>
                  <a:srgbClr val="38332E"/>
                </a:solidFill>
                <a:latin typeface="Ubuntu Condensed"/>
                <a:ea typeface="Ubuntu Condensed"/>
                <a:cs typeface="Ubuntu Condensed"/>
              </a:defRPr>
            </a:defPPr>
          </a:lstStyle>
          <a:p xmlns:a="http://schemas.openxmlformats.org/drawingml/2006/main">
            <a:pPr algn="ctr">
              <a:defRPr sz="2325">
                <a:solidFill>
                  <a:srgbClr val="38332E"/>
                </a:solidFill>
                <a:latin typeface="Ubuntu Condensed"/>
                <a:ea typeface="Ubuntu Condensed"/>
                <a:cs typeface="Ubuntu Condensed"/>
              </a:defRPr>
            </a:pPr>
            <a:r>
              <a:rPr sz="2325">
                <a:solidFill>
                  <a:srgbClr val="38332E"/>
                </a:solidFill>
                <a:latin typeface="Ubuntu Condensed"/>
                <a:ea typeface="Ubuntu Condensed"/>
                <a:cs typeface="Ubuntu Condensed"/>
              </a:rPr>
              <a:t>Area</a:t>
            </a:r>
          </a:p>
        </p:txBody>
      </p:sp>
      <p:sp>
        <p:nvSpPr>
          <p:cNvPr id="14" name="">
            <a:extLst xmlns:a="http://schemas.openxmlformats.org/drawingml/2006/main">
              <a:ext uri="{FF2B5EF4-FFF2-40B4-BE49-F238E27FC236}">
                <a16:creationId xmlns:a16="http://schemas.microsoft.com/office/drawing/2014/main" id="{6D9EF904-5ECE-4843-B5B4-9F3F31265378}"/>
              </a:ext>
            </a:extLst>
          </p:cNvPr>
          <p:cNvSpPr>
            <a:spLocks xmlns:a="http://schemas.openxmlformats.org/drawingml/2006/main" noGrp="1"/>
          </p:cNvSpPr>
          <p:nvPr/>
        </p:nvSpPr>
        <p:spPr>
          <a:xfrm xmlns:a="http://schemas.openxmlformats.org/drawingml/2006/main">
            <a:off x="3333750" y="5534025"/>
            <a:ext cx="238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a:solidFill>
                  <a:srgbClr val="81796F"/>
                </a:solidFill>
                <a:latin typeface="Ubuntu Condensed"/>
                <a:ea typeface="Ubuntu Condensed"/>
                <a:cs typeface="Ubuntu Condensed"/>
              </a:defRPr>
            </a:defPPr>
          </a:lstStyle>
          <a:p xmlns:a="http://schemas.openxmlformats.org/drawingml/2006/main">
            <a:pPr algn="ct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Population</a:t>
            </a:r>
          </a:p>
        </p:txBody>
      </p:sp>
      <p:sp>
        <p:nvSpPr>
          <p:cNvPr id="15" name="">
            <a:extLst xmlns:a="http://schemas.openxmlformats.org/drawingml/2006/main">
              <a:ext uri="{FF2B5EF4-FFF2-40B4-BE49-F238E27FC236}">
                <a16:creationId xmlns:a16="http://schemas.microsoft.com/office/drawing/2014/main" id="{9ABB4E63-D92D-48F6-9909-067EAF020A5C}"/>
              </a:ext>
            </a:extLst>
          </p:cNvPr>
          <p:cNvSpPr>
            <a:spLocks xmlns:a="http://schemas.openxmlformats.org/drawingml/2006/main" noGrp="1"/>
          </p:cNvSpPr>
          <p:nvPr/>
        </p:nvSpPr>
        <p:spPr>
          <a:xfrm xmlns:a="http://schemas.openxmlformats.org/drawingml/2006/main">
            <a:off x="6143625" y="509587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325">
                <a:solidFill>
                  <a:srgbClr val="38332E"/>
                </a:solidFill>
                <a:latin typeface="Ubuntu Condensed"/>
                <a:ea typeface="Ubuntu Condensed"/>
                <a:cs typeface="Ubuntu Condensed"/>
              </a:defRPr>
            </a:defPPr>
          </a:lstStyle>
          <a:p xmlns:a="http://schemas.openxmlformats.org/drawingml/2006/main">
            <a:pPr algn="ctr">
              <a:defRPr sz="2325">
                <a:solidFill>
                  <a:srgbClr val="38332E"/>
                </a:solidFill>
                <a:latin typeface="Ubuntu Condensed"/>
                <a:ea typeface="Ubuntu Condensed"/>
                <a:cs typeface="Ubuntu Condensed"/>
              </a:defRPr>
            </a:pPr>
            <a:r>
              <a:rPr sz="2325">
                <a:solidFill>
                  <a:srgbClr val="38332E"/>
                </a:solidFill>
                <a:latin typeface="Ubuntu Condensed"/>
                <a:ea typeface="Ubuntu Condensed"/>
                <a:cs typeface="Ubuntu Condensed"/>
              </a:rPr>
              <a:t>Color</a:t>
            </a:r>
          </a:p>
        </p:txBody>
      </p:sp>
      <p:sp>
        <p:nvSpPr>
          <p:cNvPr id="16" name="">
            <a:extLst xmlns:a="http://schemas.openxmlformats.org/drawingml/2006/main">
              <a:ext uri="{FF2B5EF4-FFF2-40B4-BE49-F238E27FC236}">
                <a16:creationId xmlns:a16="http://schemas.microsoft.com/office/drawing/2014/main" id="{C5694335-9A70-475C-89B3-159711142025}"/>
              </a:ext>
            </a:extLst>
          </p:cNvPr>
          <p:cNvSpPr>
            <a:spLocks xmlns:a="http://schemas.openxmlformats.org/drawingml/2006/main" noGrp="1"/>
          </p:cNvSpPr>
          <p:nvPr/>
        </p:nvSpPr>
        <p:spPr>
          <a:xfrm xmlns:a="http://schemas.openxmlformats.org/drawingml/2006/main">
            <a:off x="6143625" y="5534025"/>
            <a:ext cx="238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a:solidFill>
                  <a:srgbClr val="81796F"/>
                </a:solidFill>
                <a:latin typeface="Ubuntu Condensed"/>
                <a:ea typeface="Ubuntu Condensed"/>
                <a:cs typeface="Ubuntu Condensed"/>
              </a:defRPr>
            </a:defPPr>
          </a:lstStyle>
          <a:p xmlns:a="http://schemas.openxmlformats.org/drawingml/2006/main">
            <a:pPr algn="ct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Continent</a:t>
            </a:r>
          </a:p>
        </p:txBody>
      </p:sp>
      <p:sp>
        <p:nvSpPr>
          <p:cNvPr id="17" name="">
            <a:extLst xmlns:a="http://schemas.openxmlformats.org/drawingml/2006/main">
              <a:ext uri="{FF2B5EF4-FFF2-40B4-BE49-F238E27FC236}">
                <a16:creationId xmlns:a16="http://schemas.microsoft.com/office/drawing/2014/main" id="{CFE6DD74-E9A8-4063-A9BA-944915C59214}"/>
              </a:ext>
            </a:extLst>
          </p:cNvPr>
          <p:cNvSpPr>
            <a:spLocks xmlns:a="http://schemas.openxmlformats.org/drawingml/2006/main" noGrp="1"/>
          </p:cNvSpPr>
          <p:nvPr/>
        </p:nvSpPr>
        <p:spPr>
          <a:xfrm xmlns:a="http://schemas.openxmlformats.org/drawingml/2006/main">
            <a:off x="8953500" y="509587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325">
                <a:solidFill>
                  <a:srgbClr val="38332E"/>
                </a:solidFill>
                <a:latin typeface="Ubuntu Condensed"/>
                <a:ea typeface="Ubuntu Condensed"/>
                <a:cs typeface="Ubuntu Condensed"/>
              </a:defRPr>
            </a:defPPr>
          </a:lstStyle>
          <a:p xmlns:a="http://schemas.openxmlformats.org/drawingml/2006/main">
            <a:pPr algn="ctr">
              <a:defRPr sz="2325">
                <a:solidFill>
                  <a:srgbClr val="38332E"/>
                </a:solidFill>
                <a:latin typeface="Ubuntu Condensed"/>
                <a:ea typeface="Ubuntu Condensed"/>
                <a:cs typeface="Ubuntu Condensed"/>
              </a:defRPr>
            </a:pPr>
            <a:r>
              <a:rPr sz="2325">
                <a:solidFill>
                  <a:srgbClr val="38332E"/>
                </a:solidFill>
                <a:latin typeface="Ubuntu Condensed"/>
                <a:ea typeface="Ubuntu Condensed"/>
                <a:cs typeface="Ubuntu Condensed"/>
              </a:rPr>
              <a:t>Position</a:t>
            </a:r>
          </a:p>
        </p:txBody>
      </p:sp>
      <p:sp>
        <p:nvSpPr>
          <p:cNvPr id="18" name="">
            <a:extLst xmlns:a="http://schemas.openxmlformats.org/drawingml/2006/main">
              <a:ext uri="{FF2B5EF4-FFF2-40B4-BE49-F238E27FC236}">
                <a16:creationId xmlns:a16="http://schemas.microsoft.com/office/drawing/2014/main" id="{39868516-9EE9-4EA6-B39D-D83FA279FF62}"/>
              </a:ext>
            </a:extLst>
          </p:cNvPr>
          <p:cNvSpPr>
            <a:spLocks xmlns:a="http://schemas.openxmlformats.org/drawingml/2006/main" noGrp="1"/>
          </p:cNvSpPr>
          <p:nvPr/>
        </p:nvSpPr>
        <p:spPr>
          <a:xfrm xmlns:a="http://schemas.openxmlformats.org/drawingml/2006/main">
            <a:off x="8953500" y="5534025"/>
            <a:ext cx="238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a:solidFill>
                  <a:srgbClr val="81796F"/>
                </a:solidFill>
                <a:latin typeface="Ubuntu Condensed"/>
                <a:ea typeface="Ubuntu Condensed"/>
                <a:cs typeface="Ubuntu Condensed"/>
              </a:defRPr>
            </a:defPPr>
          </a:lstStyle>
          <a:p xmlns:a="http://schemas.openxmlformats.org/drawingml/2006/main">
            <a:pPr algn="ct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GDP + life expectancy</a:t>
            </a:r>
          </a:p>
        </p:txBody>
      </p:sp>
    </p:spTree>
    <p:extLst>
      <p:ext uri="{BB962C8B-B14F-4D97-AF65-F5344CB8AC3E}">
        <p14:creationId xmlns:p14="http://schemas.microsoft.com/office/powerpoint/2010/main" val="5238491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Ubuntu Condensed"/>
        <a:ea typeface=""/>
        <a:cs typeface=""/>
      </a:majorFont>
      <a:minorFont>
        <a:latin typeface="Ubuntu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2026-10-16T00:14:37.9770000Z</dcterms:created>
  <dcterms:modified xsi:type="dcterms:W3CDTF">2026-10-16T00:14:37.9770000Z</dcterms:modified>
</coreProperties>
</file>