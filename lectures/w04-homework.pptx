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4b0b40d5fb04f3c" /><Relationship Type="http://schemas.openxmlformats.org/officeDocument/2006/relationships/extended-properties" Target="/docProps/app.xml" Id="Ra69aa7f71e1a4110" /><Relationship Type="http://schemas.openxmlformats.org/officeDocument/2006/relationships/officeDocument" Target="/ppt/presentation.xml" Id="R76e72e173259411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01c32c7fee747f2"/>
  </p:sldMasterIdLst>
  <p:notesMasterIdLst>
    <p:notesMasterId xmlns:r="http://schemas.openxmlformats.org/officeDocument/2006/relationships" r:id="R5503dec9532b4633"/>
  </p:notesMasterIdLst>
  <p:sldIdLst>
    <p:sldId xmlns:r="http://schemas.openxmlformats.org/officeDocument/2006/relationships" id="256" r:id="R8ec2d373667e450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9b665171644424d" /><Relationship Type="http://schemas.openxmlformats.org/officeDocument/2006/relationships/slideMaster" Target="/ppt/slideMasters/slideMaster1.xml" Id="R301c32c7fee747f2" /><Relationship Type="http://schemas.openxmlformats.org/officeDocument/2006/relationships/notesMaster" Target="/ppt/notesMasters/notesMaster1.xml" Id="R5503dec9532b4633" /><Relationship Type="http://schemas.openxmlformats.org/officeDocument/2006/relationships/presProps" Target="/ppt/presProps.xml" Id="Rd2e26c3f4bea430c" /><Relationship Type="http://schemas.openxmlformats.org/officeDocument/2006/relationships/tableStyles" Target="/ppt/tableStyles.xml" Id="R87327c0bbf0a45d6" /><Relationship Type="http://schemas.openxmlformats.org/officeDocument/2006/relationships/slide" Target="/ppt/slides/slide1.xml" Id="R8ec2d373667e450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dca17d243bf4f5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Ubuntu Condensed"/>
        <a:ea typeface=""/>
        <a:cs typeface=""/>
      </a:majorFont>
      <a:minorFont>
        <a:latin typeface="Ubuntu Condensed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df5536c212f4d0f" /><Relationship Type="http://schemas.openxmlformats.org/officeDocument/2006/relationships/notesMaster" Target="/ppt/notesMasters/notesMaster1.xml" Id="R80fc91e75e2c438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Week 4 simplified homework. Requirements from content/weeks/04-find-the-unexpected.md. At least two worksheets in one dashboard, at least one working filter, publish to Tableau Public. Submit the direct visualization link, one required screenshot with a second optional, a short explanation of the finding and filter, and data/source URL. Existing or new data allowed. Individual submission through the usual homework form. Resubmissions allowed until the deadline shown in the agenda. Guide: https://yohman.github.io/26-2-Dataviz/agenda.html#week-4-homework-guide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79f131e2c3436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be585c4cab4be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216c2e163145a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ab5f8e9715425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ed8238d8b148d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a64bc1cc54432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93ACFCE-5167-42BF-9710-F9D9CB124D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CAFD4666-E770-4321-ADB1-DF567F501F0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32C9E82-0D09-4189-9DA9-EA7C4EA567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A9EC37D-17B9-449E-886D-451899CB80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0F2F0A7-FC7B-4E6B-B032-60D0632DB61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EA595EF-6678-4D7C-AC66-19BB93E07E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5B7B7BC-F988-4840-A39F-AB78FAE406E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5C0F7B3-32CD-45FA-9BED-E1F86190876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38666C2-B225-4003-94D3-610B5E4F2B7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A714580-C01F-4B67-B624-67AF92F1230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55dbfb2a5564612" /><Relationship Type="http://schemas.openxmlformats.org/officeDocument/2006/relationships/slideLayout" Target="/ppt/slideLayouts/slideLayout1.xml" Id="R0694ae92e13c49d3" /><Relationship Type="http://schemas.openxmlformats.org/officeDocument/2006/relationships/slideLayout" Target="/ppt/slideLayouts/slideLayout2.xml" Id="R83cc2ae40a7343b6" /><Relationship Type="http://schemas.openxmlformats.org/officeDocument/2006/relationships/slideLayout" Target="/ppt/slideLayouts/slideLayout3.xml" Id="R114e01da633f49ff" /><Relationship Type="http://schemas.openxmlformats.org/officeDocument/2006/relationships/slideLayout" Target="/ppt/slideLayouts/slideLayout4.xml" Id="R2d5446d4bb404c89" /><Relationship Type="http://schemas.openxmlformats.org/officeDocument/2006/relationships/slideLayout" Target="/ppt/slideLayouts/slideLayout5.xml" Id="R2e3fab717eeb452d" /><Relationship Type="http://schemas.openxmlformats.org/officeDocument/2006/relationships/slideLayout" Target="/ppt/slideLayouts/slideLayout6.xml" Id="Rfadf2ef6fc0d4b7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694ae92e13c49d3"/>
    <p:sldLayoutId xmlns:r="http://schemas.openxmlformats.org/officeDocument/2006/relationships" id="2147483650" r:id="R83cc2ae40a7343b6"/>
    <p:sldLayoutId xmlns:r="http://schemas.openxmlformats.org/officeDocument/2006/relationships" id="2147483651" r:id="R114e01da633f49ff"/>
    <p:sldLayoutId xmlns:r="http://schemas.openxmlformats.org/officeDocument/2006/relationships" id="2147483652" r:id="R2d5446d4bb404c89"/>
    <p:sldLayoutId xmlns:r="http://schemas.openxmlformats.org/officeDocument/2006/relationships" id="2147483653" r:id="R2e3fab717eeb452d"/>
    <p:sldLayoutId xmlns:r="http://schemas.openxmlformats.org/officeDocument/2006/relationships" id="2147483654" r:id="Rfadf2ef6fc0d4b7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Ubuntu Condensed"/>
        <a:ea typeface=""/>
        <a:cs typeface=""/>
      </a:majorFont>
      <a:minorFont>
        <a:latin typeface="Ubuntu Condensed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da1c9c32acf41eb" /><Relationship Type="http://schemas.openxmlformats.org/officeDocument/2006/relationships/hyperlink" Target="https://yohman.github.io/26-2-Dataviz/agenda.html#week-4-homework-guide" TargetMode="External" Id="Rb8016bc4898b483a" /><Relationship Type="http://schemas.openxmlformats.org/officeDocument/2006/relationships/notesSlide" Target="/ppt/notesSlides/notesSlide1.xml" Id="R40dcec9229694cb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6B930A-BBC4-486D-A71C-EFEE9CEDA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11277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600">
                <a:solidFill>
                  <a:srgbClr val="38332E"/>
                </a:solidFill>
                <a:latin typeface="Ubuntu Condensed"/>
                <a:ea typeface="Ubuntu Condensed"/>
                <a:cs typeface="Ubuntu Condensed"/>
              </a:defRPr>
            </a:defPPr>
          </a:lstStyle>
          <a:p xmlns:a="http://schemas.openxmlformats.org/drawingml/2006/main">
            <a:pPr>
              <a:defRPr sz="3600">
                <a:solidFill>
                  <a:srgbClr val="38332E"/>
                </a:solidFill>
                <a:latin typeface="Ubuntu Condensed"/>
                <a:ea typeface="Ubuntu Condensed"/>
                <a:cs typeface="Ubuntu Condensed"/>
              </a:defRPr>
            </a:pPr>
            <a:r>
              <a:rPr sz="3600">
                <a:solidFill>
                  <a:srgbClr val="38332E"/>
                </a:solidFill>
                <a:latin typeface="Ubuntu Condensed"/>
                <a:ea typeface="Ubuntu Condensed"/>
                <a:cs typeface="Ubuntu Condensed"/>
              </a:rPr>
              <a:t>Homework: a filtered dashboard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42958D-989E-4E5B-91C2-9ADD6046E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62050"/>
            <a:ext cx="11277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025">
                <a:solidFill>
                  <a:srgbClr val="81796F"/>
                </a:solidFill>
                <a:latin typeface="Ubuntu Condensed"/>
                <a:ea typeface="Ubuntu Condensed"/>
                <a:cs typeface="Ubuntu Condensed"/>
              </a:defRPr>
            </a:defPPr>
          </a:lstStyle>
          <a:p xmlns:a="http://schemas.openxmlformats.org/drawingml/2006/main">
            <a:pPr>
              <a:defRPr sz="2025">
                <a:solidFill>
                  <a:srgbClr val="81796F"/>
                </a:solidFill>
                <a:latin typeface="Ubuntu Condensed"/>
                <a:ea typeface="Ubuntu Condensed"/>
                <a:cs typeface="Ubuntu Condensed"/>
              </a:defRPr>
            </a:pPr>
            <a:r>
              <a:rPr sz="2025">
                <a:solidFill>
                  <a:srgbClr val="81796F"/>
                </a:solidFill>
                <a:latin typeface="Ubuntu Condensed"/>
                <a:ea typeface="Ubuntu Condensed"/>
                <a:cs typeface="Ubuntu Condensed"/>
              </a:rPr>
              <a:t>Your data. Existing or new.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0274CB-CC54-437C-83B3-29F60962D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38350"/>
            <a:ext cx="571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>
                <a:solidFill>
                  <a:srgbClr val="B23C50"/>
                </a:solidFill>
                <a:latin typeface="Ubuntu Condensed"/>
                <a:ea typeface="Ubuntu Condensed"/>
                <a:cs typeface="Ubuntu Condensed"/>
              </a:defRPr>
            </a:defPPr>
          </a:lstStyle>
          <a:p xmlns:a="http://schemas.openxmlformats.org/drawingml/2006/main">
            <a:pPr>
              <a:defRPr sz="2400">
                <a:solidFill>
                  <a:srgbClr val="B23C50"/>
                </a:solidFill>
                <a:latin typeface="Ubuntu Condensed"/>
                <a:ea typeface="Ubuntu Condensed"/>
                <a:cs typeface="Ubuntu Condensed"/>
              </a:defRPr>
            </a:pPr>
            <a:r>
              <a:rPr sz="2400">
                <a:solidFill>
                  <a:srgbClr val="B23C50"/>
                </a:solidFill>
                <a:latin typeface="Ubuntu Condensed"/>
                <a:ea typeface="Ubuntu Condensed"/>
                <a:cs typeface="Ubuntu Condensed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CCBDF7-E17A-41EE-B13B-3BE301500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0383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550">
                <a:solidFill>
                  <a:srgbClr val="38332E"/>
                </a:solidFill>
                <a:latin typeface="Ubuntu Condensed"/>
                <a:ea typeface="Ubuntu Condensed"/>
                <a:cs typeface="Ubuntu Condensed"/>
              </a:defRPr>
            </a:defPPr>
          </a:lstStyle>
          <a:p xmlns:a="http://schemas.openxmlformats.org/drawingml/2006/main">
            <a:pPr>
              <a:defRPr sz="2550">
                <a:solidFill>
                  <a:srgbClr val="38332E"/>
                </a:solidFill>
                <a:latin typeface="Ubuntu Condensed"/>
                <a:ea typeface="Ubuntu Condensed"/>
                <a:cs typeface="Ubuntu Condensed"/>
              </a:defRPr>
            </a:pPr>
            <a:r>
              <a:rPr sz="2550">
                <a:solidFill>
                  <a:srgbClr val="38332E"/>
                </a:solidFill>
                <a:latin typeface="Ubuntu Condensed"/>
                <a:ea typeface="Ubuntu Condensed"/>
                <a:cs typeface="Ubuntu Condensed"/>
              </a:rPr>
              <a:t>2+ sheets in one dashboard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B0756C-70B2-4F8B-A17C-E721C0B83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76550"/>
            <a:ext cx="571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>
                <a:solidFill>
                  <a:srgbClr val="B23C50"/>
                </a:solidFill>
                <a:latin typeface="Ubuntu Condensed"/>
                <a:ea typeface="Ubuntu Condensed"/>
                <a:cs typeface="Ubuntu Condensed"/>
              </a:defRPr>
            </a:defPPr>
          </a:lstStyle>
          <a:p xmlns:a="http://schemas.openxmlformats.org/drawingml/2006/main">
            <a:pPr>
              <a:defRPr sz="2400">
                <a:solidFill>
                  <a:srgbClr val="B23C50"/>
                </a:solidFill>
                <a:latin typeface="Ubuntu Condensed"/>
                <a:ea typeface="Ubuntu Condensed"/>
                <a:cs typeface="Ubuntu Condensed"/>
              </a:defRPr>
            </a:pPr>
            <a:r>
              <a:rPr sz="2400">
                <a:solidFill>
                  <a:srgbClr val="B23C50"/>
                </a:solidFill>
                <a:latin typeface="Ubuntu Condensed"/>
                <a:ea typeface="Ubuntu Condensed"/>
                <a:cs typeface="Ubuntu Condensed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8AB7EE-D5A1-40AD-9731-3BE6F56F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8765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550">
                <a:solidFill>
                  <a:srgbClr val="38332E"/>
                </a:solidFill>
                <a:latin typeface="Ubuntu Condensed"/>
                <a:ea typeface="Ubuntu Condensed"/>
                <a:cs typeface="Ubuntu Condensed"/>
              </a:defRPr>
            </a:defPPr>
          </a:lstStyle>
          <a:p xmlns:a="http://schemas.openxmlformats.org/drawingml/2006/main">
            <a:pPr>
              <a:defRPr sz="2550">
                <a:solidFill>
                  <a:srgbClr val="38332E"/>
                </a:solidFill>
                <a:latin typeface="Ubuntu Condensed"/>
                <a:ea typeface="Ubuntu Condensed"/>
                <a:cs typeface="Ubuntu Condensed"/>
              </a:defRPr>
            </a:pPr>
            <a:r>
              <a:rPr sz="2550">
                <a:solidFill>
                  <a:srgbClr val="38332E"/>
                </a:solidFill>
                <a:latin typeface="Ubuntu Condensed"/>
                <a:ea typeface="Ubuntu Condensed"/>
                <a:cs typeface="Ubuntu Condensed"/>
              </a:rPr>
              <a:t>At least one working filter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229220-FE4A-414A-82F5-997E78F73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571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>
                <a:solidFill>
                  <a:srgbClr val="B23C50"/>
                </a:solidFill>
                <a:latin typeface="Ubuntu Condensed"/>
                <a:ea typeface="Ubuntu Condensed"/>
                <a:cs typeface="Ubuntu Condensed"/>
              </a:defRPr>
            </a:defPPr>
          </a:lstStyle>
          <a:p xmlns:a="http://schemas.openxmlformats.org/drawingml/2006/main">
            <a:pPr>
              <a:defRPr sz="2400">
                <a:solidFill>
                  <a:srgbClr val="B23C50"/>
                </a:solidFill>
                <a:latin typeface="Ubuntu Condensed"/>
                <a:ea typeface="Ubuntu Condensed"/>
                <a:cs typeface="Ubuntu Condensed"/>
              </a:defRPr>
            </a:pPr>
            <a:r>
              <a:rPr sz="2400">
                <a:solidFill>
                  <a:srgbClr val="B23C50"/>
                </a:solidFill>
                <a:latin typeface="Ubuntu Condensed"/>
                <a:ea typeface="Ubuntu Condensed"/>
                <a:cs typeface="Ubuntu Condensed"/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8F46E4-2A39-4311-B62C-CD9FA6FCB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7147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550">
                <a:solidFill>
                  <a:srgbClr val="38332E"/>
                </a:solidFill>
                <a:latin typeface="Ubuntu Condensed"/>
                <a:ea typeface="Ubuntu Condensed"/>
                <a:cs typeface="Ubuntu Condensed"/>
              </a:defRPr>
            </a:defPPr>
          </a:lstStyle>
          <a:p xmlns:a="http://schemas.openxmlformats.org/drawingml/2006/main">
            <a:pPr>
              <a:defRPr sz="2550">
                <a:solidFill>
                  <a:srgbClr val="38332E"/>
                </a:solidFill>
                <a:latin typeface="Ubuntu Condensed"/>
                <a:ea typeface="Ubuntu Condensed"/>
                <a:cs typeface="Ubuntu Condensed"/>
              </a:defRPr>
            </a:pPr>
            <a:r>
              <a:rPr sz="2550">
                <a:solidFill>
                  <a:srgbClr val="38332E"/>
                </a:solidFill>
                <a:latin typeface="Ubuntu Condensed"/>
                <a:ea typeface="Ubuntu Condensed"/>
                <a:cs typeface="Ubuntu Condensed"/>
              </a:rPr>
              <a:t>Publish on Tableau Public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6FC281-A44E-4A0D-8D54-1A7AB90DF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52950"/>
            <a:ext cx="571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>
                <a:solidFill>
                  <a:srgbClr val="B23C50"/>
                </a:solidFill>
                <a:latin typeface="Ubuntu Condensed"/>
                <a:ea typeface="Ubuntu Condensed"/>
                <a:cs typeface="Ubuntu Condensed"/>
              </a:defRPr>
            </a:defPPr>
          </a:lstStyle>
          <a:p xmlns:a="http://schemas.openxmlformats.org/drawingml/2006/main">
            <a:pPr>
              <a:defRPr sz="2400">
                <a:solidFill>
                  <a:srgbClr val="B23C50"/>
                </a:solidFill>
                <a:latin typeface="Ubuntu Condensed"/>
                <a:ea typeface="Ubuntu Condensed"/>
                <a:cs typeface="Ubuntu Condensed"/>
              </a:defRPr>
            </a:pPr>
            <a:r>
              <a:rPr sz="2400">
                <a:solidFill>
                  <a:srgbClr val="B23C50"/>
                </a:solidFill>
                <a:latin typeface="Ubuntu Condensed"/>
                <a:ea typeface="Ubuntu Condensed"/>
                <a:cs typeface="Ubuntu Condensed"/>
              </a:rPr>
              <a:t>04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90E05A-B835-4CA9-9CC1-2E4E8F895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552950"/>
            <a:ext cx="1047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550">
                <a:solidFill>
                  <a:srgbClr val="38332E"/>
                </a:solidFill>
                <a:latin typeface="Ubuntu Condensed"/>
                <a:ea typeface="Ubuntu Condensed"/>
                <a:cs typeface="Ubuntu Condensed"/>
              </a:defRPr>
            </a:defPPr>
          </a:lstStyle>
          <a:p xmlns:a="http://schemas.openxmlformats.org/drawingml/2006/main">
            <a:pPr>
              <a:defRPr sz="2550">
                <a:solidFill>
                  <a:srgbClr val="38332E"/>
                </a:solidFill>
                <a:latin typeface="Ubuntu Condensed"/>
                <a:ea typeface="Ubuntu Condensed"/>
                <a:cs typeface="Ubuntu Condensed"/>
              </a:defRPr>
            </a:pPr>
            <a:r>
              <a:rPr sz="2550">
                <a:solidFill>
                  <a:srgbClr val="38332E"/>
                </a:solidFill>
                <a:latin typeface="Ubuntu Condensed"/>
                <a:ea typeface="Ubuntu Condensed"/>
                <a:cs typeface="Ubuntu Condensed"/>
              </a:rPr>
              <a:t>Submit the project link, 1 screenshot (2nd optional),</a:t>
            </a:r>
          </a:p>
          <a:p xmlns:a="http://schemas.openxmlformats.org/drawingml/2006/main">
            <a:pPr>
              <a:defRPr sz="2550">
                <a:solidFill>
                  <a:srgbClr val="38332E"/>
                </a:solidFill>
                <a:latin typeface="Ubuntu Condensed"/>
                <a:ea typeface="Ubuntu Condensed"/>
                <a:cs typeface="Ubuntu Condensed"/>
              </a:defRPr>
            </a:pPr>
            <a:r>
              <a:rPr sz="2550">
                <a:solidFill>
                  <a:srgbClr val="38332E"/>
                </a:solidFill>
                <a:latin typeface="Ubuntu Condensed"/>
                <a:ea typeface="Ubuntu Condensed"/>
                <a:cs typeface="Ubuntu Condensed"/>
              </a:rPr>
              <a:t>a short explanation, and your data/source URL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72910A-4818-4C09-B1A3-A0A348A46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53125"/>
            <a:ext cx="112776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325">
                <a:solidFill>
                  <a:srgbClr val="B23C50"/>
                </a:solidFill>
                <a:latin typeface="Ubuntu Condensed"/>
                <a:ea typeface="Ubuntu Condensed"/>
                <a:cs typeface="Ubuntu Condensed"/>
              </a:defRPr>
            </a:defPPr>
          </a:lstStyle>
          <a:p xmlns:a="http://schemas.openxmlformats.org/drawingml/2006/main">
            <a:pPr>
              <a:defRPr sz="2325">
                <a:solidFill>
                  <a:srgbClr val="B23C50"/>
                </a:solidFill>
                <a:latin typeface="Ubuntu Condensed"/>
                <a:ea typeface="Ubuntu Condensed"/>
                <a:cs typeface="Ubuntu Condensed"/>
              </a:defRPr>
            </a:pPr>
            <a:r>
              <a:rPr u="sng">
                <a:hlinkClick xmlns:r="http://schemas.openxmlformats.org/officeDocument/2006/relationships" r:id="Rb8016bc4898b483a"/>
              </a:rPr>
              <a:t>How-to guide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2DAC29-25CB-4B26-878C-143EF52AC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86525"/>
            <a:ext cx="11277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>
                <a:solidFill>
                  <a:srgbClr val="81796F"/>
                </a:solidFill>
                <a:latin typeface="Ubuntu Condensed"/>
                <a:ea typeface="Ubuntu Condensed"/>
                <a:cs typeface="Ubuntu Condensed"/>
              </a:defRPr>
            </a:defPPr>
          </a:lstStyle>
          <a:p xmlns:a="http://schemas.openxmlformats.org/drawingml/2006/main">
            <a:pPr>
              <a:defRPr sz="1500">
                <a:solidFill>
                  <a:srgbClr val="81796F"/>
                </a:solidFill>
                <a:latin typeface="Ubuntu Condensed"/>
                <a:ea typeface="Ubuntu Condensed"/>
                <a:cs typeface="Ubuntu Condensed"/>
              </a:defRPr>
            </a:pPr>
            <a:r>
              <a:rPr sz="1500">
                <a:solidFill>
                  <a:srgbClr val="81796F"/>
                </a:solidFill>
                <a:latin typeface="Ubuntu Condensed"/>
                <a:ea typeface="Ubuntu Condensed"/>
                <a:cs typeface="Ubuntu Condensed"/>
              </a:rPr>
              <a:t>Submit individually through the usual homework form.</a:t>
            </a:r>
          </a:p>
        </p:txBody>
      </p:sp>
    </p:spTree>
    <p:extLst>
      <p:ext uri="{BB962C8B-B14F-4D97-AF65-F5344CB8AC3E}">
        <p14:creationId xmlns:p14="http://schemas.microsoft.com/office/powerpoint/2010/main" val="18664839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Ubuntu Condensed"/>
        <a:ea typeface=""/>
        <a:cs typeface=""/>
      </a:majorFont>
      <a:minorFont>
        <a:latin typeface="Ubuntu Condensed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2026-10-16T01:22:19.8980000Z</dcterms:created>
  <dcterms:modified xsi:type="dcterms:W3CDTF">2026-10-16T01:22:19.8980000Z</dcterms:modified>
</coreProperties>
</file>